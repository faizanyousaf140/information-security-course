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7" r:id="rId1"/>
  </p:sldMasterIdLst>
  <p:notesMasterIdLst>
    <p:notesMasterId r:id="rId63"/>
  </p:notesMasterIdLst>
  <p:handoutMasterIdLst>
    <p:handoutMasterId r:id="rId64"/>
  </p:handoutMasterIdLst>
  <p:sldIdLst>
    <p:sldId id="258" r:id="rId2"/>
    <p:sldId id="260" r:id="rId3"/>
    <p:sldId id="731" r:id="rId4"/>
    <p:sldId id="732" r:id="rId5"/>
    <p:sldId id="733" r:id="rId6"/>
    <p:sldId id="734" r:id="rId7"/>
    <p:sldId id="735" r:id="rId8"/>
    <p:sldId id="736" r:id="rId9"/>
    <p:sldId id="737" r:id="rId10"/>
    <p:sldId id="738" r:id="rId11"/>
    <p:sldId id="671" r:id="rId12"/>
    <p:sldId id="673" r:id="rId13"/>
    <p:sldId id="739" r:id="rId14"/>
    <p:sldId id="740" r:id="rId15"/>
    <p:sldId id="741" r:id="rId16"/>
    <p:sldId id="742" r:id="rId17"/>
    <p:sldId id="743" r:id="rId18"/>
    <p:sldId id="745" r:id="rId19"/>
    <p:sldId id="744" r:id="rId20"/>
    <p:sldId id="746" r:id="rId21"/>
    <p:sldId id="747" r:id="rId22"/>
    <p:sldId id="754" r:id="rId23"/>
    <p:sldId id="753" r:id="rId24"/>
    <p:sldId id="748" r:id="rId25"/>
    <p:sldId id="749" r:id="rId26"/>
    <p:sldId id="750" r:id="rId27"/>
    <p:sldId id="751" r:id="rId28"/>
    <p:sldId id="752" r:id="rId29"/>
    <p:sldId id="755" r:id="rId30"/>
    <p:sldId id="756" r:id="rId31"/>
    <p:sldId id="757" r:id="rId32"/>
    <p:sldId id="758" r:id="rId33"/>
    <p:sldId id="759" r:id="rId34"/>
    <p:sldId id="760" r:id="rId35"/>
    <p:sldId id="761" r:id="rId36"/>
    <p:sldId id="762" r:id="rId37"/>
    <p:sldId id="763" r:id="rId38"/>
    <p:sldId id="764" r:id="rId39"/>
    <p:sldId id="765" r:id="rId40"/>
    <p:sldId id="766" r:id="rId41"/>
    <p:sldId id="767" r:id="rId42"/>
    <p:sldId id="768" r:id="rId43"/>
    <p:sldId id="769" r:id="rId44"/>
    <p:sldId id="770" r:id="rId45"/>
    <p:sldId id="771" r:id="rId46"/>
    <p:sldId id="772" r:id="rId47"/>
    <p:sldId id="773" r:id="rId48"/>
    <p:sldId id="774" r:id="rId49"/>
    <p:sldId id="775" r:id="rId50"/>
    <p:sldId id="776" r:id="rId51"/>
    <p:sldId id="777" r:id="rId52"/>
    <p:sldId id="778" r:id="rId53"/>
    <p:sldId id="779" r:id="rId54"/>
    <p:sldId id="780" r:id="rId55"/>
    <p:sldId id="782" r:id="rId56"/>
    <p:sldId id="781" r:id="rId57"/>
    <p:sldId id="783" r:id="rId58"/>
    <p:sldId id="784" r:id="rId59"/>
    <p:sldId id="785" r:id="rId60"/>
    <p:sldId id="786" r:id="rId61"/>
    <p:sldId id="317" r:id="rId62"/>
  </p:sldIdLst>
  <p:sldSz cx="12192000" cy="6858000"/>
  <p:notesSz cx="7053263" cy="93091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i Hamza" initials="AH" lastIdx="3" clrIdx="0">
    <p:extLst>
      <p:ext uri="{19B8F6BF-5375-455C-9EA6-DF929625EA0E}">
        <p15:presenceInfo xmlns:p15="http://schemas.microsoft.com/office/powerpoint/2012/main" userId="S::f179026@cfd.nu.edu.pk::fc9d8215-e733-4df3-b2ca-e28ecc6820c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56" autoAdjust="0"/>
    <p:restoredTop sz="88031" autoAdjust="0"/>
  </p:normalViewPr>
  <p:slideViewPr>
    <p:cSldViewPr snapToGrid="0">
      <p:cViewPr varScale="1">
        <p:scale>
          <a:sx n="64" d="100"/>
          <a:sy n="64" d="100"/>
        </p:scale>
        <p:origin x="114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sz="quarter" idx="1"/>
          </p:nvPr>
        </p:nvSpPr>
        <p:spPr>
          <a:xfrm>
            <a:off x="3995217" y="0"/>
            <a:ext cx="3056414" cy="467072"/>
          </a:xfrm>
          <a:prstGeom prst="rect">
            <a:avLst/>
          </a:prstGeom>
        </p:spPr>
        <p:txBody>
          <a:bodyPr vert="horz" lIns="93497" tIns="46749" rIns="93497" bIns="46749" rtlCol="0"/>
          <a:lstStyle>
            <a:lvl1pPr algn="r">
              <a:defRPr sz="1200"/>
            </a:lvl1pPr>
          </a:lstStyle>
          <a:p>
            <a:fld id="{14960B17-FD8B-4764-8C28-99523272243B}" type="datetimeFigureOut">
              <a:rPr lang="en-US" smtClean="0"/>
              <a:t>8/26/2025</a:t>
            </a:fld>
            <a:endParaRPr lang="en-US"/>
          </a:p>
        </p:txBody>
      </p:sp>
      <p:sp>
        <p:nvSpPr>
          <p:cNvPr id="4" name="Footer Placeholder 3"/>
          <p:cNvSpPr>
            <a:spLocks noGrp="1"/>
          </p:cNvSpPr>
          <p:nvPr>
            <p:ph type="ftr" sz="quarter" idx="2"/>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3995217" y="8842030"/>
            <a:ext cx="3056414" cy="467071"/>
          </a:xfrm>
          <a:prstGeom prst="rect">
            <a:avLst/>
          </a:prstGeom>
        </p:spPr>
        <p:txBody>
          <a:bodyPr vert="horz" lIns="93497" tIns="46749" rIns="93497" bIns="46749" rtlCol="0" anchor="b"/>
          <a:lstStyle>
            <a:lvl1pPr algn="r">
              <a:defRPr sz="1200"/>
            </a:lvl1pPr>
          </a:lstStyle>
          <a:p>
            <a:fld id="{BE3C136E-1DFE-4E9E-BE58-9DBEBA51CAC9}" type="slidenum">
              <a:rPr lang="en-US" smtClean="0"/>
              <a:t>‹#›</a:t>
            </a:fld>
            <a:endParaRPr lang="en-US"/>
          </a:p>
        </p:txBody>
      </p:sp>
    </p:spTree>
    <p:extLst>
      <p:ext uri="{BB962C8B-B14F-4D97-AF65-F5344CB8AC3E}">
        <p14:creationId xmlns:p14="http://schemas.microsoft.com/office/powerpoint/2010/main" val="161495464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7072"/>
          </a:xfrm>
          <a:prstGeom prst="rect">
            <a:avLst/>
          </a:prstGeom>
        </p:spPr>
        <p:txBody>
          <a:bodyPr vert="horz" lIns="93497" tIns="46749" rIns="93497" bIns="46749" rtlCol="0"/>
          <a:lstStyle>
            <a:lvl1pPr algn="r">
              <a:defRPr sz="1200"/>
            </a:lvl1pPr>
          </a:lstStyle>
          <a:p>
            <a:fld id="{705A37F7-EBDD-4C50-A4DA-D2D30EABC4EE}" type="datetimeFigureOut">
              <a:rPr lang="en-US" smtClean="0"/>
              <a:t>8/26/2025</a:t>
            </a:fld>
            <a:endParaRPr lang="en-US"/>
          </a:p>
        </p:txBody>
      </p:sp>
      <p:sp>
        <p:nvSpPr>
          <p:cNvPr id="4" name="Slide Image Placeholder 3"/>
          <p:cNvSpPr>
            <a:spLocks noGrp="1" noRot="1" noChangeAspect="1"/>
          </p:cNvSpPr>
          <p:nvPr>
            <p:ph type="sldImg" idx="2"/>
          </p:nvPr>
        </p:nvSpPr>
        <p:spPr>
          <a:xfrm>
            <a:off x="733425" y="1163638"/>
            <a:ext cx="5586413" cy="3141662"/>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80004"/>
            <a:ext cx="5642610" cy="3665458"/>
          </a:xfrm>
          <a:prstGeom prst="rect">
            <a:avLst/>
          </a:prstGeom>
        </p:spPr>
        <p:txBody>
          <a:bodyPr vert="horz" lIns="93497" tIns="46749" rIns="93497" bIns="467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30"/>
            <a:ext cx="3056414" cy="467071"/>
          </a:xfrm>
          <a:prstGeom prst="rect">
            <a:avLst/>
          </a:prstGeom>
        </p:spPr>
        <p:txBody>
          <a:bodyPr vert="horz" lIns="93497" tIns="46749" rIns="93497" bIns="46749" rtlCol="0" anchor="b"/>
          <a:lstStyle>
            <a:lvl1pPr algn="r">
              <a:defRPr sz="1200"/>
            </a:lvl1pPr>
          </a:lstStyle>
          <a:p>
            <a:fld id="{9E103808-D7BC-4AB5-B62E-2F3F4474032F}" type="slidenum">
              <a:rPr lang="en-US" smtClean="0"/>
              <a:t>‹#›</a:t>
            </a:fld>
            <a:endParaRPr lang="en-US"/>
          </a:p>
        </p:txBody>
      </p:sp>
    </p:spTree>
    <p:extLst>
      <p:ext uri="{BB962C8B-B14F-4D97-AF65-F5344CB8AC3E}">
        <p14:creationId xmlns:p14="http://schemas.microsoft.com/office/powerpoint/2010/main" val="228555533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en.wikipedia.org/wiki/Cryptocurrency" TargetMode="External"/><Relationship Id="rId3" Type="http://schemas.openxmlformats.org/officeDocument/2006/relationships/hyperlink" Target="https://en.wikipedia.org/wiki/Ransomware" TargetMode="External"/><Relationship Id="rId7" Type="http://schemas.openxmlformats.org/officeDocument/2006/relationships/hyperlink" Target="https://en.wikipedia.org/wiki/Bitcoin"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en.wikipedia.org/wiki/Operating_system" TargetMode="External"/><Relationship Id="rId5" Type="http://schemas.openxmlformats.org/officeDocument/2006/relationships/hyperlink" Target="https://en.wikipedia.org/wiki/Microsoft_Windows" TargetMode="External"/><Relationship Id="rId4" Type="http://schemas.openxmlformats.org/officeDocument/2006/relationships/hyperlink" Target="https://en.wikipedia.org/wiki/Cryptovirology"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none" dirty="0">
                <a:solidFill>
                  <a:schemeClr val="tx1"/>
                </a:solidFill>
              </a:rPr>
              <a:t>In May 2017 by the WannaCry </a:t>
            </a:r>
            <a:r>
              <a:rPr lang="en-US" u="none" dirty="0">
                <a:solidFill>
                  <a:schemeClr val="tx1"/>
                </a:solidFill>
                <a:hlinkClick r:id="rId3" tooltip="Ransomware">
                  <a:extLst>
                    <a:ext uri="{A12FA001-AC4F-418D-AE19-62706E023703}">
                      <ahyp:hlinkClr xmlns="" xmlns:ahyp="http://schemas.microsoft.com/office/drawing/2018/hyperlinkcolor" val="tx"/>
                    </a:ext>
                  </a:extLst>
                </a:hlinkClick>
              </a:rPr>
              <a:t>ransomware</a:t>
            </a:r>
            <a:r>
              <a:rPr lang="en-US" u="none" dirty="0">
                <a:solidFill>
                  <a:schemeClr val="tx1"/>
                </a:solidFill>
              </a:rPr>
              <a:t> </a:t>
            </a:r>
            <a:r>
              <a:rPr lang="en-US" u="none" dirty="0" err="1">
                <a:solidFill>
                  <a:schemeClr val="tx1"/>
                </a:solidFill>
                <a:hlinkClick r:id="rId4" tooltip="Cryptovirology">
                  <a:extLst>
                    <a:ext uri="{A12FA001-AC4F-418D-AE19-62706E023703}">
                      <ahyp:hlinkClr xmlns="" xmlns:ahyp="http://schemas.microsoft.com/office/drawing/2018/hyperlinkcolor" val="tx"/>
                    </a:ext>
                  </a:extLst>
                </a:hlinkClick>
              </a:rPr>
              <a:t>cryptoworm</a:t>
            </a:r>
            <a:r>
              <a:rPr lang="en-US" u="none" dirty="0">
                <a:solidFill>
                  <a:schemeClr val="tx1"/>
                </a:solidFill>
              </a:rPr>
              <a:t>, which targeted computers running the </a:t>
            </a:r>
            <a:r>
              <a:rPr lang="en-US" u="none" dirty="0">
                <a:solidFill>
                  <a:schemeClr val="tx1"/>
                </a:solidFill>
                <a:hlinkClick r:id="rId5" tooltip="Microsoft Windows">
                  <a:extLst>
                    <a:ext uri="{A12FA001-AC4F-418D-AE19-62706E023703}">
                      <ahyp:hlinkClr xmlns="" xmlns:ahyp="http://schemas.microsoft.com/office/drawing/2018/hyperlinkcolor" val="tx"/>
                    </a:ext>
                  </a:extLst>
                </a:hlinkClick>
              </a:rPr>
              <a:t>Microsoft Windows</a:t>
            </a:r>
            <a:r>
              <a:rPr lang="en-US" u="none" dirty="0">
                <a:solidFill>
                  <a:schemeClr val="tx1"/>
                </a:solidFill>
              </a:rPr>
              <a:t> </a:t>
            </a:r>
            <a:r>
              <a:rPr lang="en-US" u="none" dirty="0">
                <a:solidFill>
                  <a:schemeClr val="tx1"/>
                </a:solidFill>
                <a:hlinkClick r:id="rId6" tooltip="Operating system">
                  <a:extLst>
                    <a:ext uri="{A12FA001-AC4F-418D-AE19-62706E023703}">
                      <ahyp:hlinkClr xmlns="" xmlns:ahyp="http://schemas.microsoft.com/office/drawing/2018/hyperlinkcolor" val="tx"/>
                    </a:ext>
                  </a:extLst>
                </a:hlinkClick>
              </a:rPr>
              <a:t>operating system</a:t>
            </a:r>
            <a:r>
              <a:rPr lang="en-US" u="none" dirty="0">
                <a:solidFill>
                  <a:schemeClr val="tx1"/>
                </a:solidFill>
              </a:rPr>
              <a:t> by encrypting data and demanding ransom </a:t>
            </a:r>
            <a:r>
              <a:rPr lang="en-US" b="1" u="none" dirty="0">
                <a:solidFill>
                  <a:schemeClr val="tx1"/>
                </a:solidFill>
              </a:rPr>
              <a:t>payments in the </a:t>
            </a:r>
            <a:r>
              <a:rPr lang="en-US" b="1" u="none" dirty="0">
                <a:solidFill>
                  <a:schemeClr val="tx1"/>
                </a:solidFill>
                <a:hlinkClick r:id="rId7" tooltip="Bitcoin">
                  <a:extLst>
                    <a:ext uri="{A12FA001-AC4F-418D-AE19-62706E023703}">
                      <ahyp:hlinkClr xmlns="" xmlns:ahyp="http://schemas.microsoft.com/office/drawing/2018/hyperlinkcolor" val="tx"/>
                    </a:ext>
                  </a:extLst>
                </a:hlinkClick>
              </a:rPr>
              <a:t>Bitcoin</a:t>
            </a:r>
            <a:r>
              <a:rPr lang="en-US" b="1" u="none" dirty="0">
                <a:solidFill>
                  <a:schemeClr val="tx1"/>
                </a:solidFill>
              </a:rPr>
              <a:t> </a:t>
            </a:r>
            <a:r>
              <a:rPr lang="en-US" u="none" dirty="0">
                <a:solidFill>
                  <a:schemeClr val="tx1"/>
                </a:solidFill>
                <a:hlinkClick r:id="rId8" tooltip="Cryptocurrency">
                  <a:extLst>
                    <a:ext uri="{A12FA001-AC4F-418D-AE19-62706E023703}">
                      <ahyp:hlinkClr xmlns="" xmlns:ahyp="http://schemas.microsoft.com/office/drawing/2018/hyperlinkcolor" val="tx"/>
                    </a:ext>
                  </a:extLst>
                </a:hlinkClick>
              </a:rPr>
              <a:t>cryptocurrency</a:t>
            </a:r>
            <a:endParaRPr lang="en-US" u="none" dirty="0">
              <a:solidFill>
                <a:schemeClr val="tx1"/>
              </a:solidFill>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13</a:t>
            </a:fld>
            <a:endParaRPr lang="en-US"/>
          </a:p>
        </p:txBody>
      </p:sp>
    </p:spTree>
    <p:extLst>
      <p:ext uri="{BB962C8B-B14F-4D97-AF65-F5344CB8AC3E}">
        <p14:creationId xmlns:p14="http://schemas.microsoft.com/office/powerpoint/2010/main" val="1389593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t>Hey presto</a:t>
            </a:r>
            <a:r>
              <a:rPr lang="en-US" i="1" dirty="0"/>
              <a:t> : A phrase announcing the successful completion of a trick</a:t>
            </a:r>
            <a:r>
              <a:rPr lang="en-US" dirty="0"/>
              <a:t>, or to suggest that something has been done so easily that it seems to be magic</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20</a:t>
            </a:fld>
            <a:endParaRPr lang="en-US"/>
          </a:p>
        </p:txBody>
      </p:sp>
    </p:spTree>
    <p:extLst>
      <p:ext uri="{BB962C8B-B14F-4D97-AF65-F5344CB8AC3E}">
        <p14:creationId xmlns:p14="http://schemas.microsoft.com/office/powerpoint/2010/main" val="2763727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Sway (control or influence)</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35</a:t>
            </a:fld>
            <a:endParaRPr lang="en-US"/>
          </a:p>
        </p:txBody>
      </p:sp>
    </p:spTree>
    <p:extLst>
      <p:ext uri="{BB962C8B-B14F-4D97-AF65-F5344CB8AC3E}">
        <p14:creationId xmlns:p14="http://schemas.microsoft.com/office/powerpoint/2010/main" val="3912198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Impersonate (pretend to be (another person) for entertainment or fraud)</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41</a:t>
            </a:fld>
            <a:endParaRPr lang="en-US"/>
          </a:p>
        </p:txBody>
      </p:sp>
    </p:spTree>
    <p:extLst>
      <p:ext uri="{BB962C8B-B14F-4D97-AF65-F5344CB8AC3E}">
        <p14:creationId xmlns:p14="http://schemas.microsoft.com/office/powerpoint/2010/main" val="3495031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imes New Roman" panose="02020603050405020304" pitchFamily="18" charset="0"/>
                <a:cs typeface="Times New Roman" panose="02020603050405020304" pitchFamily="18" charset="0"/>
              </a:rPr>
              <a:t>Unsolicited (unwanted)</a:t>
            </a:r>
          </a:p>
          <a:p>
            <a:r>
              <a:rPr lang="en-US" sz="1200" dirty="0">
                <a:latin typeface="Times New Roman" panose="02020603050405020304" pitchFamily="18" charset="0"/>
                <a:cs typeface="Times New Roman" panose="02020603050405020304" pitchFamily="18" charset="0"/>
              </a:rPr>
              <a:t>Lucrative (profitable)</a:t>
            </a:r>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51</a:t>
            </a:fld>
            <a:endParaRPr lang="en-US"/>
          </a:p>
        </p:txBody>
      </p:sp>
    </p:spTree>
    <p:extLst>
      <p:ext uri="{BB962C8B-B14F-4D97-AF65-F5344CB8AC3E}">
        <p14:creationId xmlns:p14="http://schemas.microsoft.com/office/powerpoint/2010/main" val="375644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B6F35-1BDD-4C97-AB1B-0EF3FCD6E4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7947696-76E0-4A7D-AAFD-A0DD3F9BE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0564AE90-3DAE-4874-9530-52E8010FEA34}"/>
              </a:ext>
            </a:extLst>
          </p:cNvPr>
          <p:cNvSpPr>
            <a:spLocks noGrp="1"/>
          </p:cNvSpPr>
          <p:nvPr>
            <p:ph type="dt" sz="half" idx="10"/>
          </p:nvPr>
        </p:nvSpPr>
        <p:spPr/>
        <p:txBody>
          <a:bodyPr/>
          <a:lstStyle/>
          <a:p>
            <a:fld id="{1D90246C-6510-4698-BE5B-78345F23A6B1}" type="datetime1">
              <a:rPr lang="en-US" smtClean="0"/>
              <a:t>8/26/2025</a:t>
            </a:fld>
            <a:endParaRPr lang="en-US"/>
          </a:p>
        </p:txBody>
      </p:sp>
      <p:sp>
        <p:nvSpPr>
          <p:cNvPr id="5" name="Footer Placeholder 4">
            <a:extLst>
              <a:ext uri="{FF2B5EF4-FFF2-40B4-BE49-F238E27FC236}">
                <a16:creationId xmlns:a16="http://schemas.microsoft.com/office/drawing/2014/main" id="{988D150A-9FAA-4828-A677-51AFEF24B353}"/>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D3486D3E-B678-4E98-9CAB-2DA8A3D712BA}"/>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87966799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CBAD-3D0B-4143-9F22-FA90EA938AA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9CDE9C-1287-4D29-9B55-74AC74377D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416A329-A0DE-4C1F-9375-03747524468B}"/>
              </a:ext>
            </a:extLst>
          </p:cNvPr>
          <p:cNvSpPr>
            <a:spLocks noGrp="1"/>
          </p:cNvSpPr>
          <p:nvPr>
            <p:ph type="dt" sz="half" idx="10"/>
          </p:nvPr>
        </p:nvSpPr>
        <p:spPr/>
        <p:txBody>
          <a:bodyPr/>
          <a:lstStyle/>
          <a:p>
            <a:fld id="{5EF7DFAF-66BC-4E20-9B1D-DC0448E5323F}" type="datetime1">
              <a:rPr lang="en-US" smtClean="0"/>
              <a:t>8/26/2025</a:t>
            </a:fld>
            <a:endParaRPr lang="en-US"/>
          </a:p>
        </p:txBody>
      </p:sp>
      <p:sp>
        <p:nvSpPr>
          <p:cNvPr id="5" name="Footer Placeholder 4">
            <a:extLst>
              <a:ext uri="{FF2B5EF4-FFF2-40B4-BE49-F238E27FC236}">
                <a16:creationId xmlns:a16="http://schemas.microsoft.com/office/drawing/2014/main" id="{0FF9C9A8-FD46-4087-B413-AD97FC50AE22}"/>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EE4D4FC3-2CF7-4015-9D3D-3207E7797D2D}"/>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297060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4D9C-53F3-4A72-BE30-B6CF7FF7D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4C5710C-DCE5-4A4B-88FC-2B7596F04B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DE503A-C05D-4150-BD6B-219A063F3EBD}"/>
              </a:ext>
            </a:extLst>
          </p:cNvPr>
          <p:cNvSpPr>
            <a:spLocks noGrp="1"/>
          </p:cNvSpPr>
          <p:nvPr>
            <p:ph type="dt" sz="half" idx="10"/>
          </p:nvPr>
        </p:nvSpPr>
        <p:spPr/>
        <p:txBody>
          <a:bodyPr/>
          <a:lstStyle/>
          <a:p>
            <a:fld id="{12D4DF65-B5CB-4C2A-9DAF-8C83FF1E3012}" type="datetime1">
              <a:rPr lang="en-US" smtClean="0"/>
              <a:t>8/26/2025</a:t>
            </a:fld>
            <a:endParaRPr lang="en-US"/>
          </a:p>
        </p:txBody>
      </p:sp>
      <p:sp>
        <p:nvSpPr>
          <p:cNvPr id="5" name="Footer Placeholder 4">
            <a:extLst>
              <a:ext uri="{FF2B5EF4-FFF2-40B4-BE49-F238E27FC236}">
                <a16:creationId xmlns:a16="http://schemas.microsoft.com/office/drawing/2014/main" id="{B13D3F93-B099-4DDE-BD8C-B20714AF3555}"/>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5CC7ECDD-92DF-4EE4-ABCC-7F12BEC46EA8}"/>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32244014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D001-769F-4BA5-A19F-7FAFE741982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29A9AF7-6483-42F0-8F35-574519D093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44A1564-74CB-4E17-9893-B2015FF56B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A65936C1-0B68-40E0-860D-7865B35D1CF9}"/>
              </a:ext>
            </a:extLst>
          </p:cNvPr>
          <p:cNvSpPr>
            <a:spLocks noGrp="1"/>
          </p:cNvSpPr>
          <p:nvPr>
            <p:ph type="dt" sz="half" idx="10"/>
          </p:nvPr>
        </p:nvSpPr>
        <p:spPr/>
        <p:txBody>
          <a:bodyPr/>
          <a:lstStyle/>
          <a:p>
            <a:fld id="{56B42799-02D2-4A3E-BED6-7F1E5E9A51D9}" type="datetime1">
              <a:rPr lang="en-US" smtClean="0"/>
              <a:t>8/26/2025</a:t>
            </a:fld>
            <a:endParaRPr lang="en-US"/>
          </a:p>
        </p:txBody>
      </p:sp>
      <p:sp>
        <p:nvSpPr>
          <p:cNvPr id="6" name="Footer Placeholder 5">
            <a:extLst>
              <a:ext uri="{FF2B5EF4-FFF2-40B4-BE49-F238E27FC236}">
                <a16:creationId xmlns:a16="http://schemas.microsoft.com/office/drawing/2014/main" id="{E1518151-364F-4458-8674-792144FFFAC9}"/>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68628F02-F967-4106-A0CC-B4B85030BAD5}"/>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4171795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2CDA-1423-4123-A20C-87A750BCEDD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181C7AD-81AF-4517-BCA3-E981E39E8E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50C1FD-785A-494B-8266-BC643FB674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EBC1B3AF-BC32-4746-B151-0B007F0AF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A4EABE-E223-4C00-93C6-93A57D2CD1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0ECE82-C73C-41C3-B8AB-264E828D7C64}"/>
              </a:ext>
            </a:extLst>
          </p:cNvPr>
          <p:cNvSpPr>
            <a:spLocks noGrp="1"/>
          </p:cNvSpPr>
          <p:nvPr>
            <p:ph type="dt" sz="half" idx="10"/>
          </p:nvPr>
        </p:nvSpPr>
        <p:spPr/>
        <p:txBody>
          <a:bodyPr/>
          <a:lstStyle/>
          <a:p>
            <a:fld id="{41CB22E7-A387-44A6-BEB9-C59A7D60876D}" type="datetime1">
              <a:rPr lang="en-US" smtClean="0"/>
              <a:t>8/26/2025</a:t>
            </a:fld>
            <a:endParaRPr lang="en-US"/>
          </a:p>
        </p:txBody>
      </p:sp>
      <p:sp>
        <p:nvSpPr>
          <p:cNvPr id="8" name="Footer Placeholder 7">
            <a:extLst>
              <a:ext uri="{FF2B5EF4-FFF2-40B4-BE49-F238E27FC236}">
                <a16:creationId xmlns:a16="http://schemas.microsoft.com/office/drawing/2014/main" id="{08716326-244A-4808-B1E3-F1FDC9C10943}"/>
              </a:ext>
            </a:extLst>
          </p:cNvPr>
          <p:cNvSpPr>
            <a:spLocks noGrp="1"/>
          </p:cNvSpPr>
          <p:nvPr>
            <p:ph type="ftr" sz="quarter" idx="11"/>
          </p:nvPr>
        </p:nvSpPr>
        <p:spPr/>
        <p:txBody>
          <a:bodyPr/>
          <a:lstStyle/>
          <a:p>
            <a:r>
              <a:rPr lang="en-GB"/>
              <a:t>NATIONAL UNIVERSITY OF COMPUTER &amp; EMERGING SCIENCES</a:t>
            </a:r>
            <a:endParaRPr lang="en-US"/>
          </a:p>
        </p:txBody>
      </p:sp>
      <p:sp>
        <p:nvSpPr>
          <p:cNvPr id="9" name="Slide Number Placeholder 8">
            <a:extLst>
              <a:ext uri="{FF2B5EF4-FFF2-40B4-BE49-F238E27FC236}">
                <a16:creationId xmlns:a16="http://schemas.microsoft.com/office/drawing/2014/main" id="{CF65B595-FCF0-4FBE-9315-9E920D812597}"/>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247636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9353-08EF-475D-97F8-BE6B46520245}"/>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65C543B-33E3-48CF-B83C-C541D6CB687E}"/>
              </a:ext>
            </a:extLst>
          </p:cNvPr>
          <p:cNvSpPr>
            <a:spLocks noGrp="1"/>
          </p:cNvSpPr>
          <p:nvPr>
            <p:ph type="dt" sz="half" idx="10"/>
          </p:nvPr>
        </p:nvSpPr>
        <p:spPr/>
        <p:txBody>
          <a:bodyPr/>
          <a:lstStyle/>
          <a:p>
            <a:fld id="{EE3DE30F-1D36-4BE0-BC06-5E83DD9BE350}" type="datetime1">
              <a:rPr lang="en-US" smtClean="0"/>
              <a:t>8/26/2025</a:t>
            </a:fld>
            <a:endParaRPr lang="en-US"/>
          </a:p>
        </p:txBody>
      </p:sp>
      <p:sp>
        <p:nvSpPr>
          <p:cNvPr id="4" name="Footer Placeholder 3">
            <a:extLst>
              <a:ext uri="{FF2B5EF4-FFF2-40B4-BE49-F238E27FC236}">
                <a16:creationId xmlns:a16="http://schemas.microsoft.com/office/drawing/2014/main" id="{2EFC0699-826F-4A8E-B326-560AD252F7BD}"/>
              </a:ext>
            </a:extLst>
          </p:cNvPr>
          <p:cNvSpPr>
            <a:spLocks noGrp="1"/>
          </p:cNvSpPr>
          <p:nvPr>
            <p:ph type="ftr" sz="quarter" idx="11"/>
          </p:nvPr>
        </p:nvSpPr>
        <p:spPr/>
        <p:txBody>
          <a:bodyPr/>
          <a:lstStyle/>
          <a:p>
            <a:r>
              <a:rPr lang="en-GB"/>
              <a:t>NATIONAL UNIVERSITY OF COMPUTER &amp; EMERGING SCIENCES</a:t>
            </a:r>
            <a:endParaRPr lang="en-US"/>
          </a:p>
        </p:txBody>
      </p:sp>
      <p:sp>
        <p:nvSpPr>
          <p:cNvPr id="5" name="Slide Number Placeholder 4">
            <a:extLst>
              <a:ext uri="{FF2B5EF4-FFF2-40B4-BE49-F238E27FC236}">
                <a16:creationId xmlns:a16="http://schemas.microsoft.com/office/drawing/2014/main" id="{5368C207-1278-4153-B420-9EF4A4494729}"/>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268916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768D0D-CD9A-4D7A-A953-4B80DEFCD335}"/>
              </a:ext>
            </a:extLst>
          </p:cNvPr>
          <p:cNvSpPr>
            <a:spLocks noGrp="1"/>
          </p:cNvSpPr>
          <p:nvPr>
            <p:ph type="dt" sz="half" idx="10"/>
          </p:nvPr>
        </p:nvSpPr>
        <p:spPr/>
        <p:txBody>
          <a:bodyPr/>
          <a:lstStyle/>
          <a:p>
            <a:fld id="{ED8E4ECE-C233-447A-A174-0A57836539B8}" type="datetime1">
              <a:rPr lang="en-US" smtClean="0"/>
              <a:t>8/26/2025</a:t>
            </a:fld>
            <a:endParaRPr lang="en-US"/>
          </a:p>
        </p:txBody>
      </p:sp>
      <p:sp>
        <p:nvSpPr>
          <p:cNvPr id="3" name="Footer Placeholder 2">
            <a:extLst>
              <a:ext uri="{FF2B5EF4-FFF2-40B4-BE49-F238E27FC236}">
                <a16:creationId xmlns:a16="http://schemas.microsoft.com/office/drawing/2014/main" id="{3D9C46BD-36CF-41D8-9D61-3C0284DFABF9}"/>
              </a:ext>
            </a:extLst>
          </p:cNvPr>
          <p:cNvSpPr>
            <a:spLocks noGrp="1"/>
          </p:cNvSpPr>
          <p:nvPr>
            <p:ph type="ftr" sz="quarter" idx="11"/>
          </p:nvPr>
        </p:nvSpPr>
        <p:spPr/>
        <p:txBody>
          <a:bodyPr/>
          <a:lstStyle/>
          <a:p>
            <a:r>
              <a:rPr lang="en-GB"/>
              <a:t>NATIONAL UNIVERSITY OF COMPUTER &amp; EMERGING SCIENCES</a:t>
            </a:r>
            <a:endParaRPr lang="en-US"/>
          </a:p>
        </p:txBody>
      </p:sp>
      <p:sp>
        <p:nvSpPr>
          <p:cNvPr id="4" name="Slide Number Placeholder 3">
            <a:extLst>
              <a:ext uri="{FF2B5EF4-FFF2-40B4-BE49-F238E27FC236}">
                <a16:creationId xmlns:a16="http://schemas.microsoft.com/office/drawing/2014/main" id="{1C4CE466-759A-4047-8073-18F51B7B2941}"/>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4258603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E62C7-A5DD-4E6E-AEC8-D2596C0A6A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7D44E32-0A99-4A52-BB43-F9B356189C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0AF3BC2-6F12-4DBB-9471-4665FB534E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AC92E9-B3F9-4DC5-B04D-6429BF06A0CB}"/>
              </a:ext>
            </a:extLst>
          </p:cNvPr>
          <p:cNvSpPr>
            <a:spLocks noGrp="1"/>
          </p:cNvSpPr>
          <p:nvPr>
            <p:ph type="dt" sz="half" idx="10"/>
          </p:nvPr>
        </p:nvSpPr>
        <p:spPr/>
        <p:txBody>
          <a:bodyPr/>
          <a:lstStyle/>
          <a:p>
            <a:fld id="{40B55E21-7CF7-4D44-8F02-045551EED843}" type="datetime1">
              <a:rPr lang="en-US" smtClean="0"/>
              <a:t>8/26/2025</a:t>
            </a:fld>
            <a:endParaRPr lang="en-US"/>
          </a:p>
        </p:txBody>
      </p:sp>
      <p:sp>
        <p:nvSpPr>
          <p:cNvPr id="6" name="Footer Placeholder 5">
            <a:extLst>
              <a:ext uri="{FF2B5EF4-FFF2-40B4-BE49-F238E27FC236}">
                <a16:creationId xmlns:a16="http://schemas.microsoft.com/office/drawing/2014/main" id="{96C3CCC0-44D6-44E7-B3E2-F9508F2EEE9A}"/>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66CE6695-AA5E-44D1-9985-4427DD580AB9}"/>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88051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8D7B4-D7B9-4CD5-8BBF-261B67DBF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F94BA48-7AB5-49D9-81E8-DFFBE9AB61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13C2DDF-C490-4A6F-A58E-8725DD272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F83A0D-2DAD-49E9-B1EE-9DF052C15A15}"/>
              </a:ext>
            </a:extLst>
          </p:cNvPr>
          <p:cNvSpPr>
            <a:spLocks noGrp="1"/>
          </p:cNvSpPr>
          <p:nvPr>
            <p:ph type="dt" sz="half" idx="10"/>
          </p:nvPr>
        </p:nvSpPr>
        <p:spPr/>
        <p:txBody>
          <a:bodyPr/>
          <a:lstStyle/>
          <a:p>
            <a:fld id="{27F60839-95EF-4AEF-A139-C8CD2D92FE09}" type="datetime1">
              <a:rPr lang="en-US" smtClean="0"/>
              <a:t>8/26/2025</a:t>
            </a:fld>
            <a:endParaRPr lang="en-US"/>
          </a:p>
        </p:txBody>
      </p:sp>
      <p:sp>
        <p:nvSpPr>
          <p:cNvPr id="6" name="Footer Placeholder 5">
            <a:extLst>
              <a:ext uri="{FF2B5EF4-FFF2-40B4-BE49-F238E27FC236}">
                <a16:creationId xmlns:a16="http://schemas.microsoft.com/office/drawing/2014/main" id="{2209279F-FA38-482C-A481-C161B9DC3604}"/>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D428492A-027C-44E9-8D07-DE52AB2CBA13}"/>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234029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B1B3-8AAA-40ED-9E60-009698E2ECC0}"/>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1EA64B8-4914-4368-9D4C-2DC37C25DC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54F7E6B-9FD8-44E5-9EB9-16C15B413221}"/>
              </a:ext>
            </a:extLst>
          </p:cNvPr>
          <p:cNvSpPr>
            <a:spLocks noGrp="1"/>
          </p:cNvSpPr>
          <p:nvPr>
            <p:ph type="dt" sz="half" idx="10"/>
          </p:nvPr>
        </p:nvSpPr>
        <p:spPr/>
        <p:txBody>
          <a:bodyPr/>
          <a:lstStyle/>
          <a:p>
            <a:fld id="{15EAA120-004F-44F7-AA80-A536C410B118}" type="datetime1">
              <a:rPr lang="en-US" smtClean="0"/>
              <a:t>8/26/2025</a:t>
            </a:fld>
            <a:endParaRPr lang="en-US"/>
          </a:p>
        </p:txBody>
      </p:sp>
      <p:sp>
        <p:nvSpPr>
          <p:cNvPr id="5" name="Footer Placeholder 4">
            <a:extLst>
              <a:ext uri="{FF2B5EF4-FFF2-40B4-BE49-F238E27FC236}">
                <a16:creationId xmlns:a16="http://schemas.microsoft.com/office/drawing/2014/main" id="{BB74B6C4-C406-42D6-87B7-00D9D10E74A6}"/>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6E0E5894-C90C-431F-B702-4D6611A1E6D0}"/>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325897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951357-1906-49D4-8444-311DD8EBA0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E6B0759-AC21-48C2-9875-B1BA606A60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29DD895-74B7-4197-8E32-1C0EEA0F105A}"/>
              </a:ext>
            </a:extLst>
          </p:cNvPr>
          <p:cNvSpPr>
            <a:spLocks noGrp="1"/>
          </p:cNvSpPr>
          <p:nvPr>
            <p:ph type="dt" sz="half" idx="10"/>
          </p:nvPr>
        </p:nvSpPr>
        <p:spPr/>
        <p:txBody>
          <a:bodyPr/>
          <a:lstStyle/>
          <a:p>
            <a:fld id="{1DADFDAB-C4D1-4AEF-837D-F9115D5FE1B7}" type="datetime1">
              <a:rPr lang="en-US" smtClean="0"/>
              <a:t>8/26/2025</a:t>
            </a:fld>
            <a:endParaRPr lang="en-US"/>
          </a:p>
        </p:txBody>
      </p:sp>
      <p:sp>
        <p:nvSpPr>
          <p:cNvPr id="5" name="Footer Placeholder 4">
            <a:extLst>
              <a:ext uri="{FF2B5EF4-FFF2-40B4-BE49-F238E27FC236}">
                <a16:creationId xmlns:a16="http://schemas.microsoft.com/office/drawing/2014/main" id="{6D5364BF-7EC4-4BC8-8DE0-0AA8186F123B}"/>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B088166F-7663-4892-937D-7D4BBBAAD18C}"/>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237714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96B69C-8C9A-4525-B3FF-650112E119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EA5E67D-B9E8-4E04-989F-BD8B8B97BD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19F7E2E-A1D1-4245-BA97-6E5FEB3FE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B93555-EC39-4B3A-97B8-5F3BB501DD6F}" type="datetime1">
              <a:rPr lang="en-US" smtClean="0"/>
              <a:t>8/26/2025</a:t>
            </a:fld>
            <a:endParaRPr lang="en-US"/>
          </a:p>
        </p:txBody>
      </p:sp>
      <p:sp>
        <p:nvSpPr>
          <p:cNvPr id="5" name="Footer Placeholder 4">
            <a:extLst>
              <a:ext uri="{FF2B5EF4-FFF2-40B4-BE49-F238E27FC236}">
                <a16:creationId xmlns:a16="http://schemas.microsoft.com/office/drawing/2014/main" id="{8FBF56F8-8C74-4301-8A02-2373AA653A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A9A07F5B-BED3-4B88-9FD6-1C81D123A7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C51ED2-AC48-45BF-9843-B46461D80413}" type="slidenum">
              <a:rPr lang="en-US" smtClean="0"/>
              <a:t>‹#›</a:t>
            </a:fld>
            <a:endParaRPr lang="en-US"/>
          </a:p>
        </p:txBody>
      </p:sp>
    </p:spTree>
    <p:extLst>
      <p:ext uri="{BB962C8B-B14F-4D97-AF65-F5344CB8AC3E}">
        <p14:creationId xmlns:p14="http://schemas.microsoft.com/office/powerpoint/2010/main" val="3336057585"/>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grpSp>
        <p:nvGrpSpPr>
          <p:cNvPr id="6" name="object 6"/>
          <p:cNvGrpSpPr/>
          <p:nvPr/>
        </p:nvGrpSpPr>
        <p:grpSpPr>
          <a:xfrm>
            <a:off x="9095231" y="2054572"/>
            <a:ext cx="1193292" cy="2462783"/>
            <a:chOff x="7571231" y="2942844"/>
            <a:chExt cx="1193292" cy="2462783"/>
          </a:xfrm>
        </p:grpSpPr>
        <p:sp>
          <p:nvSpPr>
            <p:cNvPr id="7" name="object 7"/>
            <p:cNvSpPr/>
            <p:nvPr/>
          </p:nvSpPr>
          <p:spPr>
            <a:xfrm>
              <a:off x="7571231" y="2942844"/>
              <a:ext cx="1193292" cy="2462783"/>
            </a:xfrm>
            <a:prstGeom prst="rect">
              <a:avLst/>
            </a:prstGeom>
            <a:blipFill>
              <a:blip r:embed="rId2"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9" name="object 9"/>
            <p:cNvSpPr/>
            <p:nvPr/>
          </p:nvSpPr>
          <p:spPr>
            <a:xfrm>
              <a:off x="7712074" y="3136773"/>
              <a:ext cx="911225" cy="2075180"/>
            </a:xfrm>
            <a:custGeom>
              <a:avLst/>
              <a:gdLst/>
              <a:ahLst/>
              <a:cxnLst/>
              <a:rect l="l" t="t" r="r" b="b"/>
              <a:pathLst>
                <a:path w="911225" h="2075179">
                  <a:moveTo>
                    <a:pt x="0" y="2074926"/>
                  </a:moveTo>
                  <a:lnTo>
                    <a:pt x="911225" y="2074926"/>
                  </a:lnTo>
                  <a:lnTo>
                    <a:pt x="911225" y="0"/>
                  </a:lnTo>
                  <a:lnTo>
                    <a:pt x="0" y="0"/>
                  </a:lnTo>
                  <a:lnTo>
                    <a:pt x="0" y="2074926"/>
                  </a:lnTo>
                  <a:close/>
                </a:path>
              </a:pathLst>
            </a:custGeom>
            <a:ln w="6350">
              <a:solidFill>
                <a:srgbClr val="6B7C71"/>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grpSp>
        <p:nvGrpSpPr>
          <p:cNvPr id="10" name="object 10"/>
          <p:cNvGrpSpPr/>
          <p:nvPr/>
        </p:nvGrpSpPr>
        <p:grpSpPr>
          <a:xfrm>
            <a:off x="1970087" y="2128412"/>
            <a:ext cx="6946900" cy="2244725"/>
            <a:chOff x="446087" y="3055873"/>
            <a:chExt cx="6946900" cy="2244725"/>
          </a:xfrm>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solidFill>
              <a:srgbClr val="6B7C71"/>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3" name="object 13"/>
          <p:cNvSpPr txBox="1"/>
          <p:nvPr/>
        </p:nvSpPr>
        <p:spPr>
          <a:xfrm>
            <a:off x="2065337" y="3631839"/>
            <a:ext cx="6756400" cy="740587"/>
          </a:xfrm>
          <a:prstGeom prst="rect">
            <a:avLst/>
          </a:prstGeom>
          <a:solidFill>
            <a:srgbClr val="92A199"/>
          </a:solidFill>
        </p:spPr>
        <p:txBody>
          <a:bodyPr vert="horz" wrap="square" lIns="0" tIns="1905" rIns="0" bIns="0" rtlCol="0">
            <a:spAutoFit/>
          </a:bodyPr>
          <a:lstStyle/>
          <a:p>
            <a:pPr>
              <a:spcBef>
                <a:spcPts val="15"/>
              </a:spcBef>
            </a:pPr>
            <a:endParaRPr sz="2400" b="1" dirty="0">
              <a:latin typeface="Times New Roman" panose="02020603050405020304" pitchFamily="18" charset="0"/>
              <a:cs typeface="Times New Roman" panose="02020603050405020304" pitchFamily="18" charset="0"/>
            </a:endParaRPr>
          </a:p>
          <a:p>
            <a:pPr marL="121920">
              <a:tabLst>
                <a:tab pos="707390" algn="l"/>
                <a:tab pos="1868805" algn="l"/>
              </a:tabLst>
            </a:pPr>
            <a:r>
              <a:rPr sz="2400" b="1" dirty="0">
                <a:latin typeface="Times New Roman" panose="02020603050405020304" pitchFamily="18" charset="0"/>
                <a:cs typeface="Times New Roman" panose="02020603050405020304" pitchFamily="18" charset="0"/>
              </a:rPr>
              <a:t>D</a:t>
            </a:r>
            <a:r>
              <a:rPr lang="en-US" sz="2400" b="1" spc="-5" dirty="0">
                <a:latin typeface="Times New Roman" panose="02020603050405020304" pitchFamily="18" charset="0"/>
                <a:cs typeface="Times New Roman" panose="02020603050405020304" pitchFamily="18" charset="0"/>
              </a:rPr>
              <a:t>r. Muhammad Umar Aftab</a:t>
            </a:r>
            <a:endParaRPr sz="2400" b="1" dirty="0">
              <a:latin typeface="Times New Roman" panose="02020603050405020304" pitchFamily="18" charset="0"/>
              <a:cs typeface="Times New Roman" panose="02020603050405020304" pitchFamily="18" charset="0"/>
            </a:endParaRPr>
          </a:p>
        </p:txBody>
      </p:sp>
      <p:sp>
        <p:nvSpPr>
          <p:cNvPr id="14" name="object 14"/>
          <p:cNvSpPr txBox="1"/>
          <p:nvPr/>
        </p:nvSpPr>
        <p:spPr>
          <a:xfrm>
            <a:off x="2065338" y="2158383"/>
            <a:ext cx="6756400" cy="1257395"/>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INFORMATION SECURITY</a:t>
            </a:r>
          </a:p>
          <a:p>
            <a:pPr marL="12700" marR="5080" algn="ctr">
              <a:spcBef>
                <a:spcPts val="105"/>
              </a:spcBef>
            </a:pPr>
            <a:r>
              <a:rPr sz="40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LECTURE 02</a:t>
            </a:r>
            <a:endParaRPr sz="40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005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636470"/>
            <a:ext cx="10115202" cy="39188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1325217" y="2022712"/>
            <a:ext cx="8794820" cy="1374094"/>
          </a:xfrm>
          <a:prstGeom prst="rect">
            <a:avLst/>
          </a:prstGeom>
        </p:spPr>
        <p:txBody>
          <a:bodyPr vert="horz" wrap="square" lIns="0" tIns="85725" rIns="0" bIns="0" rtlCol="0">
            <a:spAutoFit/>
          </a:bodyPr>
          <a:lstStyle/>
          <a:p>
            <a:pPr marL="469900" indent="-457200">
              <a:spcBef>
                <a:spcPts val="675"/>
              </a:spcBef>
              <a:buClr>
                <a:srgbClr val="FF0000"/>
              </a:buClr>
              <a:buFont typeface="+mj-lt"/>
              <a:buAutoNum type="arabicPeriod"/>
              <a:tabLst>
                <a:tab pos="241300" algn="l"/>
              </a:tabLst>
            </a:pPr>
            <a:r>
              <a:rPr lang="en-US" sz="2400" dirty="0">
                <a:latin typeface="Times New Roman" panose="02020603050405020304" pitchFamily="18" charset="0"/>
                <a:cs typeface="Times New Roman" panose="02020603050405020304" pitchFamily="18" charset="0"/>
              </a:rPr>
              <a:t>Attacks Using Malware</a:t>
            </a:r>
          </a:p>
          <a:p>
            <a:pPr marL="469900" indent="-457200">
              <a:spcBef>
                <a:spcPts val="675"/>
              </a:spcBef>
              <a:buClr>
                <a:srgbClr val="FF0000"/>
              </a:buClr>
              <a:buFont typeface="+mj-lt"/>
              <a:buAutoNum type="arabicPeriod"/>
              <a:tabLst>
                <a:tab pos="241300" algn="l"/>
              </a:tabLst>
            </a:pPr>
            <a:r>
              <a:rPr lang="en-US" sz="2400" dirty="0">
                <a:latin typeface="Times New Roman" panose="02020603050405020304" pitchFamily="18" charset="0"/>
                <a:cs typeface="Times New Roman" panose="02020603050405020304" pitchFamily="18" charset="0"/>
              </a:rPr>
              <a:t>Malware classification</a:t>
            </a:r>
          </a:p>
          <a:p>
            <a:pPr marL="469900" indent="-457200">
              <a:spcBef>
                <a:spcPts val="675"/>
              </a:spcBef>
              <a:buClr>
                <a:srgbClr val="FF0000"/>
              </a:buClr>
              <a:buFont typeface="+mj-lt"/>
              <a:buAutoNum type="arabicPeriod"/>
              <a:tabLst>
                <a:tab pos="241300" algn="l"/>
              </a:tabLst>
            </a:pPr>
            <a:r>
              <a:rPr lang="en-US" sz="2400" dirty="0">
                <a:latin typeface="Times New Roman" panose="02020603050405020304" pitchFamily="18" charset="0"/>
                <a:cs typeface="Times New Roman" panose="02020603050405020304" pitchFamily="18" charset="0"/>
              </a:rPr>
              <a:t>Social Engineering Attacks</a:t>
            </a:r>
            <a:endParaRPr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LECTURE</a:t>
            </a:r>
            <a:r>
              <a:rPr lang="en-GB" sz="4000" b="1" spc="-10" dirty="0">
                <a:latin typeface="Times New Roman" panose="02020603050405020304" pitchFamily="18" charset="0"/>
                <a:cs typeface="Times New Roman" panose="02020603050405020304" pitchFamily="18" charset="0"/>
              </a:rPr>
              <a:t> </a:t>
            </a:r>
            <a:r>
              <a:rPr lang="en-GB" sz="4000" b="1" spc="-5" dirty="0">
                <a:latin typeface="Times New Roman" panose="02020603050405020304" pitchFamily="18" charset="0"/>
                <a:cs typeface="Times New Roman" panose="02020603050405020304" pitchFamily="18" charset="0"/>
              </a:rPr>
              <a:t>CONTENTS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6008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097281" y="1917879"/>
            <a:ext cx="9030392" cy="3085196"/>
          </a:xfrm>
          <a:prstGeom prst="rect">
            <a:avLst/>
          </a:prstGeom>
          <a:blipFill>
            <a:blip r:embed="rId2" cstate="print"/>
            <a:stretch>
              <a:fillRect/>
            </a:stretch>
          </a:blipFill>
        </p:spPr>
        <p:txBody>
          <a:bodyPr wrap="square" lIns="0" tIns="0" rIns="0" bIns="0" rtlCol="0"/>
          <a:lstStyle/>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network attack can be defined as any </a:t>
            </a:r>
            <a:r>
              <a:rPr lang="en-US" sz="2400" dirty="0">
                <a:solidFill>
                  <a:srgbClr val="FF0000"/>
                </a:solidFill>
                <a:latin typeface="Times New Roman" panose="02020603050405020304" pitchFamily="18" charset="0"/>
                <a:cs typeface="Times New Roman" panose="02020603050405020304" pitchFamily="18" charset="0"/>
              </a:rPr>
              <a:t>method, process</a:t>
            </a:r>
            <a:r>
              <a:rPr lang="en-US" sz="2400" dirty="0">
                <a:latin typeface="Times New Roman" panose="02020603050405020304" pitchFamily="18" charset="0"/>
                <a:cs typeface="Times New Roman" panose="02020603050405020304" pitchFamily="18" charset="0"/>
              </a:rPr>
              <a:t>, or means used to </a:t>
            </a:r>
            <a:r>
              <a:rPr lang="en-US" sz="2400" dirty="0">
                <a:solidFill>
                  <a:srgbClr val="FF0000"/>
                </a:solidFill>
                <a:latin typeface="Times New Roman" panose="02020603050405020304" pitchFamily="18" charset="0"/>
                <a:cs typeface="Times New Roman" panose="02020603050405020304" pitchFamily="18" charset="0"/>
              </a:rPr>
              <a:t>maliciously attempt </a:t>
            </a:r>
            <a:r>
              <a:rPr lang="en-US" sz="2400" dirty="0">
                <a:latin typeface="Times New Roman" panose="02020603050405020304" pitchFamily="18" charset="0"/>
                <a:cs typeface="Times New Roman" panose="02020603050405020304" pitchFamily="18" charset="0"/>
              </a:rPr>
              <a:t>to compromise network security. </a:t>
            </a:r>
          </a:p>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general, two types of attacks threaten the confidentiality of information:</a:t>
            </a:r>
          </a:p>
          <a:p>
            <a:pPr marL="1257300" lvl="2" indent="-342900">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Snooping</a:t>
            </a:r>
          </a:p>
          <a:p>
            <a:pPr marL="1257300" lvl="2" indent="-342900">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Traffic Analysis</a:t>
            </a:r>
            <a:endParaRPr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7"/>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12700">
              <a:spcBef>
                <a:spcPts val="675"/>
              </a:spcBef>
              <a:buClr>
                <a:srgbClr val="FF0000"/>
              </a:buClr>
              <a:tabLst>
                <a:tab pos="241300" algn="l"/>
              </a:tabLst>
            </a:pPr>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Introduction</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8703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136073" y="1970129"/>
            <a:ext cx="8908472" cy="3189699"/>
          </a:xfrm>
          <a:prstGeom prst="rect">
            <a:avLst/>
          </a:prstGeom>
          <a:blipFill>
            <a:blip r:embed="rId2" cstate="print"/>
            <a:stretch>
              <a:fillRect/>
            </a:stretch>
          </a:blipFill>
        </p:spPr>
        <p:txBody>
          <a:bodyPr wrap="square" lIns="0" tIns="0" rIns="0" bIns="0" rtlCol="0"/>
          <a:lstStyle/>
          <a:p>
            <a:pPr lvl="1">
              <a:buClr>
                <a:srgbClr val="FF0000"/>
              </a:buCl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Snooping refers to </a:t>
            </a:r>
            <a:r>
              <a:rPr lang="en-US" sz="2400" dirty="0">
                <a:solidFill>
                  <a:srgbClr val="FF0000"/>
                </a:solidFill>
                <a:latin typeface="Times New Roman" panose="02020603050405020304" pitchFamily="18" charset="0"/>
                <a:cs typeface="Times New Roman" panose="02020603050405020304" pitchFamily="18" charset="0"/>
              </a:rPr>
              <a:t>unauthorized</a:t>
            </a:r>
            <a:r>
              <a:rPr lang="en-US" sz="2400" dirty="0">
                <a:latin typeface="Times New Roman" panose="02020603050405020304" pitchFamily="18" charset="0"/>
                <a:cs typeface="Times New Roman" panose="02020603050405020304" pitchFamily="18" charset="0"/>
              </a:rPr>
              <a:t> access or </a:t>
            </a:r>
            <a:r>
              <a:rPr lang="en-US" sz="2400" dirty="0">
                <a:solidFill>
                  <a:srgbClr val="FF0000"/>
                </a:solidFill>
                <a:latin typeface="Times New Roman" panose="02020603050405020304" pitchFamily="18" charset="0"/>
                <a:cs typeface="Times New Roman" panose="02020603050405020304" pitchFamily="18" charset="0"/>
              </a:rPr>
              <a:t>interception</a:t>
            </a:r>
            <a:r>
              <a:rPr lang="en-US" sz="2400" dirty="0">
                <a:latin typeface="Times New Roman" panose="02020603050405020304" pitchFamily="18" charset="0"/>
                <a:cs typeface="Times New Roman" panose="02020603050405020304" pitchFamily="18" charset="0"/>
              </a:rPr>
              <a:t> of data. For example, a file transferred through the Internet may contain confidential information. An unauthorized entity may intercept the transmission and </a:t>
            </a:r>
            <a:r>
              <a:rPr lang="en-US" sz="2400" u="sng" dirty="0">
                <a:latin typeface="Times New Roman" panose="02020603050405020304" pitchFamily="18" charset="0"/>
                <a:cs typeface="Times New Roman" panose="02020603050405020304" pitchFamily="18" charset="0"/>
              </a:rPr>
              <a:t>use the contents for </a:t>
            </a:r>
            <a:r>
              <a:rPr lang="en-US" sz="2400" u="sng" dirty="0" smtClean="0">
                <a:latin typeface="Times New Roman" panose="02020603050405020304" pitchFamily="18" charset="0"/>
                <a:cs typeface="Times New Roman" panose="02020603050405020304" pitchFamily="18" charset="0"/>
              </a:rPr>
              <a:t>their </a:t>
            </a:r>
            <a:r>
              <a:rPr lang="en-US" sz="2400" u="sng" dirty="0">
                <a:latin typeface="Times New Roman" panose="02020603050405020304" pitchFamily="18" charset="0"/>
                <a:cs typeface="Times New Roman" panose="02020603050405020304" pitchFamily="18" charset="0"/>
              </a:rPr>
              <a:t>own benefit</a:t>
            </a:r>
            <a:r>
              <a:rPr lang="en-US" sz="240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136074" y="773607"/>
            <a:ext cx="8979328" cy="989422"/>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Snooping</a:t>
            </a:r>
            <a:endParaRPr lang="en-GB"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7643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097281" y="1970129"/>
            <a:ext cx="8908868" cy="3363871"/>
          </a:xfrm>
          <a:prstGeom prst="rect">
            <a:avLst/>
          </a:prstGeom>
          <a:blipFill>
            <a:blip r:embed="rId2" cstate="print"/>
            <a:stretch>
              <a:fillRect/>
            </a:stretch>
          </a:blipFill>
        </p:spPr>
        <p:txBody>
          <a:bodyPr wrap="square" lIns="0" tIns="0" rIns="0" bIns="0" rtlCol="0"/>
          <a:lstStyle/>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Although encipherment of data may make it no intelligible for the interceptor, she/he can obtain some other type information by </a:t>
            </a:r>
            <a:r>
              <a:rPr lang="en-US" sz="2400" dirty="0">
                <a:solidFill>
                  <a:srgbClr val="FF0000"/>
                </a:solidFill>
                <a:latin typeface="Times New Roman" panose="02020603050405020304" pitchFamily="18" charset="0"/>
                <a:cs typeface="Times New Roman" panose="02020603050405020304" pitchFamily="18" charset="0"/>
              </a:rPr>
              <a:t>monitoring online traffic</a:t>
            </a:r>
            <a:r>
              <a:rPr lang="en-US" sz="2400" dirty="0">
                <a:latin typeface="Times New Roman" panose="02020603050405020304" pitchFamily="18" charset="0"/>
                <a:cs typeface="Times New Roman" panose="02020603050405020304" pitchFamily="18" charset="0"/>
              </a:rPr>
              <a:t>. For example, she can find the electronic address (such as the e-mail address) of the sender or the receiver. She can collect pairs of requests and responses to help her guess the nature of transaction.</a:t>
            </a: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654148"/>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1">
              <a:buClr>
                <a:srgbClr val="FF0000"/>
              </a:buClr>
            </a:pPr>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Traffic Analysis</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533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097280" y="1970129"/>
            <a:ext cx="8908869" cy="3189699"/>
          </a:xfrm>
          <a:prstGeom prst="rect">
            <a:avLst/>
          </a:prstGeom>
          <a:blipFill>
            <a:blip r:embed="rId2" cstate="print"/>
            <a:stretch>
              <a:fillRect/>
            </a:stretch>
          </a:blipFill>
        </p:spPr>
        <p:txBody>
          <a:bodyPr wrap="square" lIns="0" tIns="0" rIns="0" bIns="0" rtlCol="0"/>
          <a:lstStyle/>
          <a:p>
            <a:pPr lvl="1">
              <a:buClr>
                <a:srgbClr val="FF0000"/>
              </a:buClr>
            </a:pP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buClr>
                <a:srgbClr val="FF0000"/>
              </a:buClr>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The integrity of data can be threatened by several kinds of attacks:</a:t>
            </a:r>
          </a:p>
          <a:p>
            <a:pPr marL="800100" lvl="1" indent="-342900">
              <a:buClr>
                <a:srgbClr val="FF0000"/>
              </a:buClr>
              <a:buFont typeface="Wingdings" panose="05000000000000000000" pitchFamily="2" charset="2"/>
              <a:buChar char="Ø"/>
            </a:pPr>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Modification</a:t>
            </a:r>
          </a:p>
          <a:p>
            <a:pPr marL="800100" lvl="1" indent="-342900">
              <a:buClr>
                <a:srgbClr val="FF0000"/>
              </a:buClr>
              <a:buFont typeface="Wingdings" panose="05000000000000000000" pitchFamily="2" charset="2"/>
              <a:buChar char="Ø"/>
            </a:pPr>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Masquerading</a:t>
            </a:r>
          </a:p>
          <a:p>
            <a:pPr marL="800100" lvl="1" indent="-342900">
              <a:buClr>
                <a:srgbClr val="FF0000"/>
              </a:buClr>
              <a:buFont typeface="Wingdings" panose="05000000000000000000" pitchFamily="2" charset="2"/>
              <a:buChar char="Ø"/>
            </a:pPr>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Replaying</a:t>
            </a:r>
          </a:p>
          <a:p>
            <a:pPr marL="800100" lvl="1" indent="-342900">
              <a:buClr>
                <a:srgbClr val="FF0000"/>
              </a:buClr>
              <a:buFont typeface="Wingdings" panose="05000000000000000000" pitchFamily="2" charset="2"/>
              <a:buChar char="Ø"/>
            </a:pPr>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Repudiation</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3800" y="146706"/>
            <a:ext cx="734244" cy="507442"/>
          </a:xfrm>
          <a:prstGeom prst="rect">
            <a:avLst/>
          </a:prstGeom>
        </p:spPr>
      </p:pic>
      <p:sp>
        <p:nvSpPr>
          <p:cNvPr id="9" name="Title 9"/>
          <p:cNvSpPr txBox="1">
            <a:spLocks/>
          </p:cNvSpPr>
          <p:nvPr/>
        </p:nvSpPr>
        <p:spPr>
          <a:xfrm>
            <a:off x="1097280" y="654148"/>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1">
              <a:buClr>
                <a:srgbClr val="FF0000"/>
              </a:buClr>
            </a:pPr>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Attacks Threatening Integrity</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3667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537855" y="1970129"/>
            <a:ext cx="8797636" cy="3189699"/>
          </a:xfrm>
          <a:prstGeom prst="rect">
            <a:avLst/>
          </a:prstGeom>
          <a:blipFill>
            <a:blip r:embed="rId2" cstate="print"/>
            <a:stretch>
              <a:fillRect/>
            </a:stretch>
          </a:blipFill>
        </p:spPr>
        <p:txBody>
          <a:bodyPr wrap="square" lIns="0" tIns="0" rIns="0" bIns="0" rtlCol="0"/>
          <a:lstStyle/>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After intercepting or accessing information, the attacker </a:t>
            </a:r>
            <a:r>
              <a:rPr lang="en-US" sz="2400" dirty="0">
                <a:solidFill>
                  <a:srgbClr val="FF0000"/>
                </a:solidFill>
                <a:latin typeface="Times New Roman" panose="02020603050405020304" pitchFamily="18" charset="0"/>
                <a:cs typeface="Times New Roman" panose="02020603050405020304" pitchFamily="18" charset="0"/>
              </a:rPr>
              <a:t>modifies the information</a:t>
            </a:r>
            <a:r>
              <a:rPr lang="en-US" sz="2400" dirty="0">
                <a:latin typeface="Times New Roman" panose="02020603050405020304" pitchFamily="18" charset="0"/>
                <a:cs typeface="Times New Roman" panose="02020603050405020304" pitchFamily="18" charset="0"/>
              </a:rPr>
              <a:t> to make it beneficial to herself. For example, a customer sends a message to a bank to do some transaction. The attacker intercepts the message and changes the type of transaction to benefit herself. Note that sometimes the attacker simply deletes or delays the message to harm the system or to benefit from it.</a:t>
            </a: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7"/>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1">
              <a:buClr>
                <a:srgbClr val="FF0000"/>
              </a:buClr>
            </a:pPr>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Modification</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0003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357745" y="1970129"/>
            <a:ext cx="8648404" cy="3189699"/>
          </a:xfrm>
          <a:prstGeom prst="rect">
            <a:avLst/>
          </a:prstGeom>
          <a:blipFill>
            <a:blip r:embed="rId2" cstate="print"/>
            <a:stretch>
              <a:fillRect/>
            </a:stretch>
          </a:blipFill>
        </p:spPr>
        <p:txBody>
          <a:bodyPr wrap="square" lIns="0" tIns="0" rIns="0" bIns="0" rtlCol="0"/>
          <a:lstStyle/>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Masquerading, or spoofing, happens when the </a:t>
            </a:r>
            <a:r>
              <a:rPr lang="en-US" sz="2400" dirty="0">
                <a:solidFill>
                  <a:srgbClr val="FF0000"/>
                </a:solidFill>
                <a:latin typeface="Times New Roman" panose="02020603050405020304" pitchFamily="18" charset="0"/>
                <a:cs typeface="Times New Roman" panose="02020603050405020304" pitchFamily="18" charset="0"/>
              </a:rPr>
              <a:t>attacker</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impersonates somebody else</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For example, an attacker might </a:t>
            </a:r>
            <a:r>
              <a:rPr lang="en-US" sz="2400" dirty="0">
                <a:solidFill>
                  <a:srgbClr val="FF0000"/>
                </a:solidFill>
                <a:latin typeface="Times New Roman" panose="02020603050405020304" pitchFamily="18" charset="0"/>
                <a:cs typeface="Times New Roman" panose="02020603050405020304" pitchFamily="18" charset="0"/>
              </a:rPr>
              <a:t>steal</a:t>
            </a:r>
            <a:r>
              <a:rPr lang="en-US" sz="2400" dirty="0">
                <a:latin typeface="Times New Roman" panose="02020603050405020304" pitchFamily="18" charset="0"/>
                <a:cs typeface="Times New Roman" panose="02020603050405020304" pitchFamily="18" charset="0"/>
              </a:rPr>
              <a:t> the bank card and PIN of a </a:t>
            </a:r>
            <a:r>
              <a:rPr lang="en-US" sz="2400" u="sng" dirty="0">
                <a:latin typeface="Times New Roman" panose="02020603050405020304" pitchFamily="18" charset="0"/>
                <a:cs typeface="Times New Roman" panose="02020603050405020304" pitchFamily="18" charset="0"/>
              </a:rPr>
              <a:t>bank customer</a:t>
            </a:r>
            <a:r>
              <a:rPr lang="en-US" sz="2400" dirty="0">
                <a:latin typeface="Times New Roman" panose="02020603050405020304" pitchFamily="18" charset="0"/>
                <a:cs typeface="Times New Roman" panose="02020603050405020304" pitchFamily="18" charset="0"/>
              </a:rPr>
              <a:t> and </a:t>
            </a:r>
            <a:r>
              <a:rPr lang="en-US" sz="2400" dirty="0">
                <a:solidFill>
                  <a:srgbClr val="FF0000"/>
                </a:solidFill>
                <a:latin typeface="Times New Roman" panose="02020603050405020304" pitchFamily="18" charset="0"/>
                <a:cs typeface="Times New Roman" panose="02020603050405020304" pitchFamily="18" charset="0"/>
              </a:rPr>
              <a:t>pretend that she is that customer</a:t>
            </a:r>
            <a:r>
              <a:rPr lang="en-US" sz="2400" dirty="0">
                <a:latin typeface="Times New Roman" panose="02020603050405020304" pitchFamily="18" charset="0"/>
                <a:cs typeface="Times New Roman" panose="02020603050405020304" pitchFamily="18" charset="0"/>
              </a:rPr>
              <a:t>. Sometimes the attacker pretends instead to be the receiver entity. For example, a user tries to contact a bank, but another site pretends that it is the bank and obtains some information from the user.</a:t>
            </a: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357745" y="415636"/>
            <a:ext cx="8648404" cy="1195829"/>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Masquerading</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7099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537855" y="1970129"/>
            <a:ext cx="8468293" cy="3189699"/>
          </a:xfrm>
          <a:prstGeom prst="rect">
            <a:avLst/>
          </a:prstGeom>
          <a:blipFill>
            <a:blip r:embed="rId2" cstate="print"/>
            <a:stretch>
              <a:fillRect/>
            </a:stretch>
          </a:blipFill>
        </p:spPr>
        <p:txBody>
          <a:bodyPr wrap="square" lIns="0" tIns="0" rIns="0" bIns="0" rtlCol="0"/>
          <a:lstStyle/>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Replaying is another attack. The attacker obtains a copy of a message sent by a user and later tries to replay it.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For example, a person sends a request to her bank to ask for payment to the attacker, who has done a job for her. The attacker intercepts the message and sends it again to receive another payment from the bank.</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537855" y="400427"/>
            <a:ext cx="8468294"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1">
              <a:buClr>
                <a:srgbClr val="FF0000"/>
              </a:buClr>
            </a:pPr>
            <a:r>
              <a:rPr lang="en-US" sz="4000" b="1" dirty="0">
                <a:latin typeface="Times New Roman" panose="02020603050405020304" pitchFamily="18" charset="0"/>
                <a:cs typeface="Times New Roman" panose="02020603050405020304" pitchFamily="18" charset="0"/>
              </a:rPr>
              <a:t>Replaying</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2181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69819" y="1773382"/>
            <a:ext cx="9324108" cy="4336473"/>
          </a:xfrm>
          <a:prstGeom prst="rect">
            <a:avLst/>
          </a:prstGeom>
          <a:blipFill>
            <a:blip r:embed="rId2" cstate="print"/>
            <a:stretch>
              <a:fillRect/>
            </a:stretch>
          </a:blipFill>
        </p:spPr>
        <p:txBody>
          <a:bodyPr wrap="square" lIns="0" tIns="0" rIns="0" bIns="0" rtlCol="0"/>
          <a:lstStyle/>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type of attack is different from others because it is performed by one of the two parties in the communication: the sender or the receiver. The </a:t>
            </a:r>
            <a:r>
              <a:rPr lang="en-US" sz="2400" u="sng" dirty="0">
                <a:latin typeface="Times New Roman" panose="02020603050405020304" pitchFamily="18" charset="0"/>
                <a:cs typeface="Times New Roman" panose="02020603050405020304" pitchFamily="18" charset="0"/>
              </a:rPr>
              <a:t>sender of the message might later deny </a:t>
            </a:r>
            <a:r>
              <a:rPr lang="en-US" sz="2400" dirty="0">
                <a:latin typeface="Times New Roman" panose="02020603050405020304" pitchFamily="18" charset="0"/>
                <a:cs typeface="Times New Roman" panose="02020603050405020304" pitchFamily="18" charset="0"/>
              </a:rPr>
              <a:t>that she has sent the message; the receiver of the message might later deny that he has received the message.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An example of </a:t>
            </a:r>
            <a:r>
              <a:rPr lang="en-US" sz="2400" dirty="0">
                <a:solidFill>
                  <a:srgbClr val="FF0000"/>
                </a:solidFill>
                <a:latin typeface="Times New Roman" panose="02020603050405020304" pitchFamily="18" charset="0"/>
                <a:cs typeface="Times New Roman" panose="02020603050405020304" pitchFamily="18" charset="0"/>
              </a:rPr>
              <a:t>denial by the sender </a:t>
            </a:r>
            <a:r>
              <a:rPr lang="en-US" sz="2400" dirty="0">
                <a:latin typeface="Times New Roman" panose="02020603050405020304" pitchFamily="18" charset="0"/>
                <a:cs typeface="Times New Roman" panose="02020603050405020304" pitchFamily="18" charset="0"/>
              </a:rPr>
              <a:t>would be a bank customer asking her bank to send some money to a third party but later denying that she has made such a request. An of denial by the receiver could occur when a person buys a product from a manufacturer and pays for it electronically, but the manufacturer later denies having received the payment and asks to be paid.</a:t>
            </a: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7"/>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1">
              <a:buClr>
                <a:srgbClr val="FF0000"/>
              </a:buClr>
            </a:pPr>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Repudiation</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5689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38200" y="365125"/>
            <a:ext cx="10515600" cy="1139239"/>
          </a:xfrm>
        </p:spPr>
        <p:txBody>
          <a:bodyPr/>
          <a:lstStyle/>
          <a:p>
            <a:r>
              <a:rPr lang="en-US" altLang="en-US" dirty="0">
                <a:latin typeface="Times New Roman" panose="02020603050405020304" pitchFamily="18" charset="0"/>
                <a:cs typeface="Times New Roman" panose="02020603050405020304" pitchFamily="18" charset="0"/>
              </a:rPr>
              <a:t>Passive Versus Active Attacks</a:t>
            </a:r>
            <a:endParaRPr lang="en-GB" altLang="en-US"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8" name="Slide Number Placeholder 7"/>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11</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3" name="object 2"/>
          <p:cNvSpPr/>
          <p:nvPr/>
        </p:nvSpPr>
        <p:spPr>
          <a:xfrm>
            <a:off x="929640" y="1676400"/>
            <a:ext cx="10115202" cy="4170218"/>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Content Placeholder 2">
            <a:extLst>
              <a:ext uri="{FF2B5EF4-FFF2-40B4-BE49-F238E27FC236}">
                <a16:creationId xmlns:a16="http://schemas.microsoft.com/office/drawing/2014/main" id="{B3EC8507-2AA1-4E46-86DD-A9D9E628382B}"/>
              </a:ext>
            </a:extLst>
          </p:cNvPr>
          <p:cNvSpPr>
            <a:spLocks noGrp="1"/>
          </p:cNvSpPr>
          <p:nvPr>
            <p:ph idx="1"/>
          </p:nvPr>
        </p:nvSpPr>
        <p:spPr>
          <a:xfrm>
            <a:off x="1361705" y="1869827"/>
            <a:ext cx="9036329" cy="3560580"/>
          </a:xfrm>
        </p:spPr>
        <p:txBody>
          <a:bodyPr>
            <a:normAutofit/>
          </a:bodyPr>
          <a:lstStyle/>
          <a:p>
            <a:pPr>
              <a:buClr>
                <a:srgbClr val="FF0000"/>
              </a:buClr>
              <a:buFont typeface="Wingdings" panose="05000000000000000000" pitchFamily="2" charset="2"/>
              <a:buChar char="Ø"/>
              <a:defRPr/>
            </a:pPr>
            <a:r>
              <a:rPr lang="en-US" altLang="en-US" sz="2400" dirty="0">
                <a:latin typeface="Times New Roman" panose="02020603050405020304" pitchFamily="18" charset="0"/>
                <a:cs typeface="Times New Roman" panose="02020603050405020304" pitchFamily="18" charset="0"/>
              </a:rPr>
              <a:t>Let us now categorize the attacks into two groups</a:t>
            </a:r>
          </a:p>
          <a:p>
            <a:pPr lvl="1">
              <a:buClr>
                <a:srgbClr val="FF0000"/>
              </a:buClr>
              <a:buFont typeface="Wingdings" panose="05000000000000000000" pitchFamily="2" charset="2"/>
              <a:buChar char="v"/>
              <a:defRPr/>
            </a:pPr>
            <a:r>
              <a:rPr lang="en-US" altLang="en-US" sz="2000" dirty="0">
                <a:latin typeface="Times New Roman" panose="02020603050405020304" pitchFamily="18" charset="0"/>
                <a:cs typeface="Times New Roman" panose="02020603050405020304" pitchFamily="18" charset="0"/>
              </a:rPr>
              <a:t> Passive </a:t>
            </a:r>
          </a:p>
          <a:p>
            <a:pPr lvl="1">
              <a:buClr>
                <a:srgbClr val="FF0000"/>
              </a:buClr>
              <a:buFont typeface="Wingdings" panose="05000000000000000000" pitchFamily="2" charset="2"/>
              <a:buChar char="v"/>
              <a:defRPr/>
            </a:pPr>
            <a:r>
              <a:rPr lang="en-US" altLang="en-US" sz="2000" dirty="0">
                <a:latin typeface="Times New Roman" panose="02020603050405020304" pitchFamily="18" charset="0"/>
                <a:cs typeface="Times New Roman" panose="02020603050405020304" pitchFamily="18" charset="0"/>
              </a:rPr>
              <a:t> Active.</a:t>
            </a:r>
            <a:endParaRPr lang="en-GB" altLang="en-US" sz="2000" dirty="0">
              <a:latin typeface="Times New Roman" panose="02020603050405020304" pitchFamily="18" charset="0"/>
              <a:cs typeface="Times New Roman" panose="02020603050405020304" pitchFamily="18" charset="0"/>
            </a:endParaRPr>
          </a:p>
          <a:p>
            <a:pPr marL="457200" lvl="1" indent="0">
              <a:buClr>
                <a:srgbClr val="FF0000"/>
              </a:buClr>
              <a:buNone/>
              <a:defRPr/>
            </a:pPr>
            <a:endParaRPr lang="en-GB" altLang="en-US" sz="2000" dirty="0">
              <a:latin typeface="Times New Roman" panose="02020603050405020304" pitchFamily="18" charset="0"/>
              <a:cs typeface="Times New Roman" panose="02020603050405020304" pitchFamily="18" charset="0"/>
            </a:endParaRPr>
          </a:p>
        </p:txBody>
      </p:sp>
      <p:sp>
        <p:nvSpPr>
          <p:cNvPr id="16"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Rectangle 2"/>
          <p:cNvSpPr/>
          <p:nvPr/>
        </p:nvSpPr>
        <p:spPr>
          <a:xfrm>
            <a:off x="4882341" y="2860407"/>
            <a:ext cx="1130532" cy="4369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Attacks</a:t>
            </a:r>
          </a:p>
        </p:txBody>
      </p:sp>
      <p:sp>
        <p:nvSpPr>
          <p:cNvPr id="11" name="Rectangle 10"/>
          <p:cNvSpPr/>
          <p:nvPr/>
        </p:nvSpPr>
        <p:spPr>
          <a:xfrm>
            <a:off x="2313710" y="3293216"/>
            <a:ext cx="1745672" cy="579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Passive Attacks</a:t>
            </a:r>
          </a:p>
        </p:txBody>
      </p:sp>
      <p:sp>
        <p:nvSpPr>
          <p:cNvPr id="12" name="Rectangle 11"/>
          <p:cNvSpPr/>
          <p:nvPr/>
        </p:nvSpPr>
        <p:spPr>
          <a:xfrm>
            <a:off x="2313710" y="4224370"/>
            <a:ext cx="1745672" cy="43681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Interception</a:t>
            </a:r>
          </a:p>
        </p:txBody>
      </p:sp>
      <p:sp>
        <p:nvSpPr>
          <p:cNvPr id="14" name="Rectangle 13"/>
          <p:cNvSpPr/>
          <p:nvPr/>
        </p:nvSpPr>
        <p:spPr>
          <a:xfrm>
            <a:off x="6965471" y="3299375"/>
            <a:ext cx="1496292" cy="5264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Active Attacks</a:t>
            </a:r>
          </a:p>
        </p:txBody>
      </p:sp>
      <p:cxnSp>
        <p:nvCxnSpPr>
          <p:cNvPr id="17" name="Straight Connector 16"/>
          <p:cNvCxnSpPr>
            <a:stCxn id="3" idx="1"/>
            <a:endCxn id="11" idx="0"/>
          </p:cNvCxnSpPr>
          <p:nvPr/>
        </p:nvCxnSpPr>
        <p:spPr>
          <a:xfrm flipH="1">
            <a:off x="3186546" y="3078895"/>
            <a:ext cx="1695795" cy="2143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3" idx="3"/>
            <a:endCxn id="14" idx="0"/>
          </p:cNvCxnSpPr>
          <p:nvPr/>
        </p:nvCxnSpPr>
        <p:spPr>
          <a:xfrm>
            <a:off x="6012873" y="3078895"/>
            <a:ext cx="1700744" cy="2204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1" idx="2"/>
            <a:endCxn id="12" idx="0"/>
          </p:cNvCxnSpPr>
          <p:nvPr/>
        </p:nvCxnSpPr>
        <p:spPr>
          <a:xfrm>
            <a:off x="3186546" y="3872776"/>
            <a:ext cx="0" cy="351594"/>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1215785" y="4952077"/>
            <a:ext cx="1874322" cy="6864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Reading Message Content</a:t>
            </a:r>
          </a:p>
        </p:txBody>
      </p:sp>
      <p:sp>
        <p:nvSpPr>
          <p:cNvPr id="30" name="Rectangle 29"/>
          <p:cNvSpPr/>
          <p:nvPr/>
        </p:nvSpPr>
        <p:spPr>
          <a:xfrm>
            <a:off x="3236027" y="5026644"/>
            <a:ext cx="1745672" cy="579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Traffic Analysis</a:t>
            </a:r>
          </a:p>
        </p:txBody>
      </p:sp>
      <p:sp>
        <p:nvSpPr>
          <p:cNvPr id="31" name="Rectangle 30"/>
          <p:cNvSpPr/>
          <p:nvPr/>
        </p:nvSpPr>
        <p:spPr>
          <a:xfrm>
            <a:off x="5705102" y="4386984"/>
            <a:ext cx="1410592" cy="579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Fabrication</a:t>
            </a:r>
          </a:p>
        </p:txBody>
      </p:sp>
      <p:sp>
        <p:nvSpPr>
          <p:cNvPr id="32" name="Rectangle 31"/>
          <p:cNvSpPr/>
          <p:nvPr/>
        </p:nvSpPr>
        <p:spPr>
          <a:xfrm>
            <a:off x="6580120" y="5161978"/>
            <a:ext cx="1561406" cy="579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Message Replay</a:t>
            </a:r>
          </a:p>
        </p:txBody>
      </p:sp>
      <p:sp>
        <p:nvSpPr>
          <p:cNvPr id="33" name="Rectangle 32"/>
          <p:cNvSpPr/>
          <p:nvPr/>
        </p:nvSpPr>
        <p:spPr>
          <a:xfrm>
            <a:off x="9110800" y="4319462"/>
            <a:ext cx="1745672" cy="579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Denial of service</a:t>
            </a:r>
          </a:p>
        </p:txBody>
      </p:sp>
      <p:sp>
        <p:nvSpPr>
          <p:cNvPr id="34" name="Rectangle 33"/>
          <p:cNvSpPr/>
          <p:nvPr/>
        </p:nvSpPr>
        <p:spPr>
          <a:xfrm>
            <a:off x="8447425" y="5161978"/>
            <a:ext cx="1745672" cy="579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Message Modification</a:t>
            </a:r>
          </a:p>
        </p:txBody>
      </p:sp>
      <p:cxnSp>
        <p:nvCxnSpPr>
          <p:cNvPr id="40" name="Straight Connector 39"/>
          <p:cNvCxnSpPr>
            <a:stCxn id="12" idx="2"/>
            <a:endCxn id="29" idx="0"/>
          </p:cNvCxnSpPr>
          <p:nvPr/>
        </p:nvCxnSpPr>
        <p:spPr>
          <a:xfrm flipH="1">
            <a:off x="2152946" y="4661181"/>
            <a:ext cx="1033600" cy="290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2" idx="2"/>
            <a:endCxn id="30" idx="0"/>
          </p:cNvCxnSpPr>
          <p:nvPr/>
        </p:nvCxnSpPr>
        <p:spPr>
          <a:xfrm>
            <a:off x="3186546" y="4661181"/>
            <a:ext cx="922317" cy="365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4" idx="2"/>
            <a:endCxn id="31" idx="0"/>
          </p:cNvCxnSpPr>
          <p:nvPr/>
        </p:nvCxnSpPr>
        <p:spPr>
          <a:xfrm flipH="1">
            <a:off x="6410398" y="3825848"/>
            <a:ext cx="1303219" cy="561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14" idx="2"/>
            <a:endCxn id="32" idx="0"/>
          </p:cNvCxnSpPr>
          <p:nvPr/>
        </p:nvCxnSpPr>
        <p:spPr>
          <a:xfrm flipH="1">
            <a:off x="7360823" y="3825848"/>
            <a:ext cx="352794" cy="1336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14" idx="2"/>
            <a:endCxn id="33" idx="0"/>
          </p:cNvCxnSpPr>
          <p:nvPr/>
        </p:nvCxnSpPr>
        <p:spPr>
          <a:xfrm>
            <a:off x="7713617" y="3825848"/>
            <a:ext cx="2270019" cy="4936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14" idx="2"/>
            <a:endCxn id="34" idx="0"/>
          </p:cNvCxnSpPr>
          <p:nvPr/>
        </p:nvCxnSpPr>
        <p:spPr>
          <a:xfrm>
            <a:off x="7713617" y="3825848"/>
            <a:ext cx="1606644" cy="133613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12</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1080654" y="1991134"/>
            <a:ext cx="10273145" cy="3038066"/>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malware attack is a common cyberattack where </a:t>
            </a:r>
            <a:r>
              <a:rPr lang="en-US" sz="2400" dirty="0">
                <a:solidFill>
                  <a:srgbClr val="FF0000"/>
                </a:solidFill>
                <a:latin typeface="Times New Roman" panose="02020603050405020304" pitchFamily="18" charset="0"/>
                <a:cs typeface="Times New Roman" panose="02020603050405020304" pitchFamily="18" charset="0"/>
              </a:rPr>
              <a:t>malware</a:t>
            </a:r>
            <a:r>
              <a:rPr lang="en-US" sz="2400" dirty="0">
                <a:latin typeface="Times New Roman" panose="02020603050405020304" pitchFamily="18" charset="0"/>
                <a:cs typeface="Times New Roman" panose="02020603050405020304" pitchFamily="18" charset="0"/>
              </a:rPr>
              <a:t> (normally malicious software) </a:t>
            </a:r>
            <a:r>
              <a:rPr lang="en-US" sz="2400" u="sng" dirty="0">
                <a:latin typeface="Times New Roman" panose="02020603050405020304" pitchFamily="18" charset="0"/>
                <a:cs typeface="Times New Roman" panose="02020603050405020304" pitchFamily="18" charset="0"/>
              </a:rPr>
              <a:t>executes unauthorized actions on the victim’s system</a:t>
            </a:r>
            <a:r>
              <a:rPr lang="en-US" sz="2400" dirty="0">
                <a:latin typeface="Times New Roman" panose="02020603050405020304" pitchFamily="18" charset="0"/>
                <a:cs typeface="Times New Roman" panose="02020603050405020304" pitchFamily="18" charset="0"/>
              </a:rPr>
              <a:t>. The malicious software (a.k.a. virus) encompasses many specific types of attacks such as</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Ransomware</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Spyware </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Command and control</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and more</a:t>
            </a:r>
            <a:r>
              <a:rPr lang="en-US" sz="2400" dirty="0">
                <a:latin typeface="Times New Roman" panose="02020603050405020304" pitchFamily="18" charset="0"/>
                <a:cs typeface="Times New Roman" panose="02020603050405020304" pitchFamily="18" charset="0"/>
              </a:rPr>
              <a:t>.</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69818" y="498764"/>
            <a:ext cx="10383982" cy="1191924"/>
          </a:xfrm>
        </p:spPr>
        <p:txBody>
          <a:bodyPr>
            <a:normAutofit/>
          </a:bodyPr>
          <a:lstStyle/>
          <a:p>
            <a:r>
              <a:rPr lang="en-US" sz="4000" b="1" dirty="0">
                <a:latin typeface="Times New Roman" panose="02020603050405020304" pitchFamily="18" charset="0"/>
                <a:cs typeface="Times New Roman" panose="02020603050405020304" pitchFamily="18" charset="0"/>
              </a:rPr>
              <a:t>Malware attack</a:t>
            </a:r>
            <a:endParaRPr lang="en-GB" alt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13</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1080654" y="1991134"/>
            <a:ext cx="10273145" cy="3038066"/>
          </a:xfrm>
          <a:prstGeom prst="rect">
            <a:avLst/>
          </a:prstGeom>
          <a:blipFill>
            <a:blip r:embed="rId4"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Criminal organizations, state actors, and even well-known businesses have been accused of (and, in some cases, caught) deploying malware. Like other types of cyber attacks, some malware attacks end up with mainstream news coverage due to their severe impact.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example of a famous malware attack is the WannaCry ransomware attack.</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69818" y="498764"/>
            <a:ext cx="10383982" cy="1191924"/>
          </a:xfrm>
        </p:spPr>
        <p:txBody>
          <a:bodyPr>
            <a:normAutofit/>
          </a:bodyPr>
          <a:lstStyle/>
          <a:p>
            <a:r>
              <a:rPr lang="en-US" sz="4000" b="1" dirty="0">
                <a:latin typeface="Times New Roman" panose="02020603050405020304" pitchFamily="18" charset="0"/>
                <a:cs typeface="Times New Roman" panose="02020603050405020304" pitchFamily="18" charset="0"/>
              </a:rPr>
              <a:t>Malware attack</a:t>
            </a:r>
            <a:endParaRPr lang="en-GB" alt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8921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14</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1080654" y="1991133"/>
            <a:ext cx="10273145" cy="3412139"/>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many different types of malware e.g..</a:t>
            </a:r>
          </a:p>
          <a:p>
            <a:pPr marL="342900"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Worms</a:t>
            </a:r>
          </a:p>
          <a:p>
            <a:pPr marL="342900"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Viruses</a:t>
            </a:r>
          </a:p>
          <a:p>
            <a:pPr marL="342900"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Bots &amp; Botnets</a:t>
            </a:r>
          </a:p>
          <a:p>
            <a:pPr marL="342900"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Trojan Horses</a:t>
            </a:r>
          </a:p>
          <a:p>
            <a:pPr marL="342900"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Ransomware</a:t>
            </a:r>
          </a:p>
          <a:p>
            <a:pPr marL="342900"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Adware &amp; Scams</a:t>
            </a:r>
          </a:p>
          <a:p>
            <a:pPr marL="342900"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Spyware</a:t>
            </a:r>
          </a:p>
          <a:p>
            <a:pPr marL="342900"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Spam &amp; Phishing</a:t>
            </a:r>
          </a:p>
          <a:p>
            <a:pPr marL="342900" indent="-342900">
              <a:buClr>
                <a:srgbClr val="FF0000"/>
              </a:buClr>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69818" y="498764"/>
            <a:ext cx="10383982" cy="1191924"/>
          </a:xfrm>
        </p:spPr>
        <p:txBody>
          <a:bodyPr>
            <a:normAutofit/>
          </a:bodyPr>
          <a:lstStyle/>
          <a:p>
            <a:r>
              <a:rPr lang="en-US" sz="4000" b="1" dirty="0">
                <a:latin typeface="Times New Roman" panose="02020603050405020304" pitchFamily="18" charset="0"/>
                <a:cs typeface="Times New Roman" panose="02020603050405020304" pitchFamily="18" charset="0"/>
              </a:rPr>
              <a:t>Malware Types</a:t>
            </a:r>
            <a:endParaRPr lang="en-GB" alt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4985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15</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03564" y="1496290"/>
            <a:ext cx="10550236" cy="4599709"/>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Worms are </a:t>
            </a:r>
            <a:r>
              <a:rPr lang="en-US" sz="2400" u="sng" dirty="0">
                <a:latin typeface="Times New Roman" panose="02020603050405020304" pitchFamily="18" charset="0"/>
                <a:cs typeface="Times New Roman" panose="02020603050405020304" pitchFamily="18" charset="0"/>
              </a:rPr>
              <a:t>spread via software vulnerabilities </a:t>
            </a:r>
            <a:r>
              <a:rPr lang="en-US" sz="2400" dirty="0">
                <a:latin typeface="Times New Roman" panose="02020603050405020304" pitchFamily="18" charset="0"/>
                <a:cs typeface="Times New Roman" panose="02020603050405020304" pitchFamily="18" charset="0"/>
              </a:rPr>
              <a:t>or phishing attacks. Once a worm has </a:t>
            </a:r>
            <a:r>
              <a:rPr lang="en-US" sz="2400" dirty="0">
                <a:solidFill>
                  <a:srgbClr val="FF0000"/>
                </a:solidFill>
                <a:latin typeface="Times New Roman" panose="02020603050405020304" pitchFamily="18" charset="0"/>
                <a:cs typeface="Times New Roman" panose="02020603050405020304" pitchFamily="18" charset="0"/>
              </a:rPr>
              <a:t>installed itself into your computer’s memory</a:t>
            </a:r>
            <a:r>
              <a:rPr lang="en-US" sz="2400" dirty="0">
                <a:latin typeface="Times New Roman" panose="02020603050405020304" pitchFamily="18" charset="0"/>
                <a:cs typeface="Times New Roman" panose="02020603050405020304" pitchFamily="18" charset="0"/>
              </a:rPr>
              <a:t>, it starts to infect the whole machine and in some cases… your whole network.</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Depending on the type of worm and your security measures, they </a:t>
            </a:r>
            <a:r>
              <a:rPr lang="en-US" sz="2200" u="sng" dirty="0">
                <a:latin typeface="Times New Roman" panose="02020603050405020304" pitchFamily="18" charset="0"/>
                <a:cs typeface="Times New Roman" panose="02020603050405020304" pitchFamily="18" charset="0"/>
              </a:rPr>
              <a:t>can do serious damage</a:t>
            </a:r>
            <a:r>
              <a:rPr lang="en-US" sz="2200" dirty="0">
                <a:latin typeface="Times New Roman" panose="02020603050405020304" pitchFamily="18" charset="0"/>
                <a:cs typeface="Times New Roman" panose="02020603050405020304" pitchFamily="18" charset="0"/>
              </a:rPr>
              <a:t>. These parasitic nasties can…</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Modify and </a:t>
            </a:r>
            <a:r>
              <a:rPr lang="en-US" sz="2200" dirty="0">
                <a:solidFill>
                  <a:srgbClr val="FF0000"/>
                </a:solidFill>
                <a:latin typeface="Times New Roman" panose="02020603050405020304" pitchFamily="18" charset="0"/>
                <a:cs typeface="Times New Roman" panose="02020603050405020304" pitchFamily="18" charset="0"/>
              </a:rPr>
              <a:t>delete files</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Inject malicious software onto computers</a:t>
            </a:r>
          </a:p>
          <a:p>
            <a:pPr marL="914400" lvl="1" indent="-457200">
              <a:buClr>
                <a:srgbClr val="FF0000"/>
              </a:buClr>
              <a:buFont typeface="Wingdings" panose="05000000000000000000" pitchFamily="2" charset="2"/>
              <a:buChar char="v"/>
            </a:pPr>
            <a:r>
              <a:rPr lang="en-US" sz="2200" dirty="0">
                <a:solidFill>
                  <a:srgbClr val="FF0000"/>
                </a:solidFill>
                <a:latin typeface="Times New Roman" panose="02020603050405020304" pitchFamily="18" charset="0"/>
                <a:cs typeface="Times New Roman" panose="02020603050405020304" pitchFamily="18" charset="0"/>
              </a:rPr>
              <a:t>Replicate themselves </a:t>
            </a:r>
            <a:r>
              <a:rPr lang="en-US" sz="2200" dirty="0">
                <a:latin typeface="Times New Roman" panose="02020603050405020304" pitchFamily="18" charset="0"/>
                <a:cs typeface="Times New Roman" panose="02020603050405020304" pitchFamily="18" charset="0"/>
              </a:rPr>
              <a:t>over and over to deplete system resources</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Steal your data</a:t>
            </a:r>
          </a:p>
          <a:p>
            <a:pPr marL="914400" lvl="1" indent="-457200">
              <a:buClr>
                <a:srgbClr val="FF0000"/>
              </a:buClr>
              <a:buFont typeface="Wingdings" panose="05000000000000000000" pitchFamily="2" charset="2"/>
              <a:buChar char="v"/>
            </a:pPr>
            <a:r>
              <a:rPr lang="en-US" sz="2200" u="sng" dirty="0">
                <a:latin typeface="Times New Roman" panose="02020603050405020304" pitchFamily="18" charset="0"/>
                <a:cs typeface="Times New Roman" panose="02020603050405020304" pitchFamily="18" charset="0"/>
              </a:rPr>
              <a:t>Install a convenient backdoor </a:t>
            </a:r>
            <a:r>
              <a:rPr lang="en-US" sz="2200" dirty="0">
                <a:latin typeface="Times New Roman" panose="02020603050405020304" pitchFamily="18" charset="0"/>
                <a:cs typeface="Times New Roman" panose="02020603050405020304" pitchFamily="18" charset="0"/>
              </a:rPr>
              <a:t>for hackers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can infect large numbers of computers fast, consuming bandwidth and overloading your web server as they go.</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69818" y="498764"/>
            <a:ext cx="10383982" cy="1191924"/>
          </a:xfrm>
        </p:spPr>
        <p:txBody>
          <a:bodyPr>
            <a:normAutofit/>
          </a:body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Worms</a:t>
            </a:r>
          </a:p>
        </p:txBody>
      </p:sp>
    </p:spTree>
    <p:extLst>
      <p:ext uri="{BB962C8B-B14F-4D97-AF65-F5344CB8AC3E}">
        <p14:creationId xmlns:p14="http://schemas.microsoft.com/office/powerpoint/2010/main" val="1050862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16</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743673" y="1524001"/>
            <a:ext cx="10460181" cy="3906982"/>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Unlike worms, viruses need an already-infected active operating system or program to work. Viruses are typically </a:t>
            </a:r>
            <a:r>
              <a:rPr lang="en-US" sz="2400" dirty="0">
                <a:solidFill>
                  <a:srgbClr val="FF0000"/>
                </a:solidFill>
                <a:latin typeface="Times New Roman" panose="02020603050405020304" pitchFamily="18" charset="0"/>
                <a:cs typeface="Times New Roman" panose="02020603050405020304" pitchFamily="18" charset="0"/>
              </a:rPr>
              <a:t>attached to an executable file </a:t>
            </a:r>
            <a:r>
              <a:rPr lang="en-US" sz="2400" dirty="0">
                <a:latin typeface="Times New Roman" panose="02020603050405020304" pitchFamily="18" charset="0"/>
                <a:cs typeface="Times New Roman" panose="02020603050405020304" pitchFamily="18" charset="0"/>
              </a:rPr>
              <a:t>or a word document.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Most people are probably aware that a .exe file extension could lead to issues if it’s not from a trusted source. But there are </a:t>
            </a:r>
            <a:r>
              <a:rPr lang="en-US" sz="2400" dirty="0">
                <a:solidFill>
                  <a:srgbClr val="FF0000"/>
                </a:solidFill>
                <a:latin typeface="Times New Roman" panose="02020603050405020304" pitchFamily="18" charset="0"/>
                <a:cs typeface="Times New Roman" panose="02020603050405020304" pitchFamily="18" charset="0"/>
              </a:rPr>
              <a:t>hundreds of other file extensions </a:t>
            </a:r>
            <a:r>
              <a:rPr lang="en-US" sz="2400" dirty="0">
                <a:latin typeface="Times New Roman" panose="02020603050405020304" pitchFamily="18" charset="0"/>
                <a:cs typeface="Times New Roman" panose="02020603050405020304" pitchFamily="18" charset="0"/>
              </a:rPr>
              <a:t>that denote an executable file.</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Usually </a:t>
            </a:r>
            <a:r>
              <a:rPr lang="en-US" sz="2400" u="sng" dirty="0">
                <a:latin typeface="Times New Roman" panose="02020603050405020304" pitchFamily="18" charset="0"/>
                <a:cs typeface="Times New Roman" panose="02020603050405020304" pitchFamily="18" charset="0"/>
              </a:rPr>
              <a:t>spread via infected websites</a:t>
            </a:r>
            <a:r>
              <a:rPr lang="en-US" sz="2400" dirty="0">
                <a:latin typeface="Times New Roman" panose="02020603050405020304" pitchFamily="18" charset="0"/>
                <a:cs typeface="Times New Roman" panose="02020603050405020304" pitchFamily="18" charset="0"/>
              </a:rPr>
              <a:t>, file sharing, or email attachment downloads, a virus will lie dormant until the infected host file or program is activated. Once that happens, the virus is able to replicate itself and spread through your systems.</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Viruses</a:t>
            </a:r>
          </a:p>
        </p:txBody>
      </p:sp>
    </p:spTree>
    <p:extLst>
      <p:ext uri="{BB962C8B-B14F-4D97-AF65-F5344CB8AC3E}">
        <p14:creationId xmlns:p14="http://schemas.microsoft.com/office/powerpoint/2010/main" val="2088965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17</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743673" y="1524001"/>
            <a:ext cx="10460181" cy="3906982"/>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For computer viruses, your contact list is the equivalent of a packed train for the common cold. It hijacks your applications and uses your own apps to sneeze all over everyone… sending out </a:t>
            </a:r>
            <a:r>
              <a:rPr lang="en-US" sz="2400" dirty="0">
                <a:solidFill>
                  <a:srgbClr val="FF0000"/>
                </a:solidFill>
                <a:latin typeface="Times New Roman" panose="02020603050405020304" pitchFamily="18" charset="0"/>
                <a:cs typeface="Times New Roman" panose="02020603050405020304" pitchFamily="18" charset="0"/>
              </a:rPr>
              <a:t>infected files to your colleagues</a:t>
            </a:r>
            <a:r>
              <a:rPr lang="en-US" sz="2400" dirty="0">
                <a:latin typeface="Times New Roman" panose="02020603050405020304" pitchFamily="18" charset="0"/>
                <a:cs typeface="Times New Roman" panose="02020603050405020304" pitchFamily="18" charset="0"/>
              </a:rPr>
              <a:t>, friends and clients. Because it looks like it’s coming from a trustworthy source (you!), it has a much higher chance of spreading.</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Viruses</a:t>
            </a:r>
          </a:p>
        </p:txBody>
      </p:sp>
    </p:spTree>
    <p:extLst>
      <p:ext uri="{BB962C8B-B14F-4D97-AF65-F5344CB8AC3E}">
        <p14:creationId xmlns:p14="http://schemas.microsoft.com/office/powerpoint/2010/main" val="2081366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18</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743674" y="1524001"/>
            <a:ext cx="10312254" cy="3532908"/>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a:t>
            </a:r>
            <a:r>
              <a:rPr lang="en-US" sz="2400" u="sng" dirty="0">
                <a:latin typeface="Times New Roman" panose="02020603050405020304" pitchFamily="18" charset="0"/>
                <a:cs typeface="Times New Roman" panose="02020603050405020304" pitchFamily="18" charset="0"/>
              </a:rPr>
              <a:t>bot is a computer that’s been infected with malware </a:t>
            </a:r>
            <a:r>
              <a:rPr lang="en-US" sz="2400" dirty="0">
                <a:latin typeface="Times New Roman" panose="02020603050405020304" pitchFamily="18" charset="0"/>
                <a:cs typeface="Times New Roman" panose="02020603050405020304" pitchFamily="18" charset="0"/>
              </a:rPr>
              <a:t>so it can be controlled </a:t>
            </a:r>
            <a:r>
              <a:rPr lang="en-US" sz="2400" dirty="0">
                <a:solidFill>
                  <a:srgbClr val="FF0000"/>
                </a:solidFill>
                <a:latin typeface="Times New Roman" panose="02020603050405020304" pitchFamily="18" charset="0"/>
                <a:cs typeface="Times New Roman" panose="02020603050405020304" pitchFamily="18" charset="0"/>
              </a:rPr>
              <a:t>remotely</a:t>
            </a:r>
            <a:r>
              <a:rPr lang="en-US" sz="2400" dirty="0">
                <a:latin typeface="Times New Roman" panose="02020603050405020304" pitchFamily="18" charset="0"/>
                <a:cs typeface="Times New Roman" panose="02020603050405020304" pitchFamily="18" charset="0"/>
              </a:rPr>
              <a:t> by a hacker.</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That bot (aka a zombie computer), can then be used to launch more attacks or to </a:t>
            </a:r>
            <a:r>
              <a:rPr lang="en-US" sz="2400" u="sng" dirty="0">
                <a:latin typeface="Times New Roman" panose="02020603050405020304" pitchFamily="18" charset="0"/>
                <a:cs typeface="Times New Roman" panose="02020603050405020304" pitchFamily="18" charset="0"/>
              </a:rPr>
              <a:t>become part of a collection of bots </a:t>
            </a:r>
            <a:r>
              <a:rPr lang="en-US" sz="2400" dirty="0">
                <a:latin typeface="Times New Roman" panose="02020603050405020304" pitchFamily="18" charset="0"/>
                <a:cs typeface="Times New Roman" panose="02020603050405020304" pitchFamily="18" charset="0"/>
              </a:rPr>
              <a:t>(aka a botnet).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Botnets are popular with hacker show-offs (the more bots you collect, the mightier a hacker you are) and cyber criminals spreading ransomware. Botnets can include millions of devices as they spread undetected.</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Bots &amp; Botnets</a:t>
            </a:r>
          </a:p>
        </p:txBody>
      </p:sp>
    </p:spTree>
    <p:extLst>
      <p:ext uri="{BB962C8B-B14F-4D97-AF65-F5344CB8AC3E}">
        <p14:creationId xmlns:p14="http://schemas.microsoft.com/office/powerpoint/2010/main" val="903030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19</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524001"/>
            <a:ext cx="10383982" cy="2812471"/>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Botnets help hackers with all manner of malicious activities, including:</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DDoS attacks</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Keylogging, screenshots and webcam access</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Spreading other types of malware</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Sending spam and phishing messages</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Bots &amp; Botnets</a:t>
            </a:r>
          </a:p>
        </p:txBody>
      </p:sp>
    </p:spTree>
    <p:extLst>
      <p:ext uri="{BB962C8B-B14F-4D97-AF65-F5344CB8AC3E}">
        <p14:creationId xmlns:p14="http://schemas.microsoft.com/office/powerpoint/2010/main" val="1113590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20</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524001"/>
            <a:ext cx="10383982" cy="3491344"/>
          </a:xfrm>
          <a:prstGeom prst="rect">
            <a:avLst/>
          </a:prstGeom>
          <a:blipFill>
            <a:blip r:embed="rId4"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Just as it sounds, a </a:t>
            </a:r>
            <a:r>
              <a:rPr lang="en-US" sz="2400" u="sng" dirty="0">
                <a:latin typeface="Times New Roman" panose="02020603050405020304" pitchFamily="18" charset="0"/>
                <a:cs typeface="Times New Roman" panose="02020603050405020304" pitchFamily="18" charset="0"/>
              </a:rPr>
              <a:t>Trojan Horse is a malicious program </a:t>
            </a:r>
            <a:r>
              <a:rPr lang="en-US" sz="2400" dirty="0">
                <a:latin typeface="Times New Roman" panose="02020603050405020304" pitchFamily="18" charset="0"/>
                <a:cs typeface="Times New Roman" panose="02020603050405020304" pitchFamily="18" charset="0"/>
              </a:rPr>
              <a:t>that </a:t>
            </a:r>
            <a:r>
              <a:rPr lang="en-US" sz="2400" dirty="0">
                <a:solidFill>
                  <a:srgbClr val="FF0000"/>
                </a:solidFill>
                <a:latin typeface="Times New Roman" panose="02020603050405020304" pitchFamily="18" charset="0"/>
                <a:cs typeface="Times New Roman" panose="02020603050405020304" pitchFamily="18" charset="0"/>
              </a:rPr>
              <a:t>disguises itself as a legitimate file</a:t>
            </a:r>
            <a:r>
              <a:rPr lang="en-US" sz="2400" dirty="0">
                <a:latin typeface="Times New Roman" panose="02020603050405020304" pitchFamily="18" charset="0"/>
                <a:cs typeface="Times New Roman" panose="02020603050405020304" pitchFamily="18" charset="0"/>
              </a:rPr>
              <a:t>. Because it looks trustworthy, users download it and… hey presto, in storms the enemy.</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Trojans themselves are a doorway. Unlike a worm, they </a:t>
            </a:r>
            <a:r>
              <a:rPr lang="en-US" sz="2400" u="sng" dirty="0">
                <a:latin typeface="Times New Roman" panose="02020603050405020304" pitchFamily="18" charset="0"/>
                <a:cs typeface="Times New Roman" panose="02020603050405020304" pitchFamily="18" charset="0"/>
              </a:rPr>
              <a:t>need a host to work</a:t>
            </a:r>
            <a:r>
              <a:rPr lang="en-US" sz="2400" dirty="0">
                <a:latin typeface="Times New Roman" panose="02020603050405020304" pitchFamily="18" charset="0"/>
                <a:cs typeface="Times New Roman" panose="02020603050405020304" pitchFamily="18" charset="0"/>
              </a:rPr>
              <a: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Once you’ve got the Trojan on your device, hackers can use it to…</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Delete, modify and capture data</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Harvest your device as part of a botnet</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Spy on your device</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Gain access to your network</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Trojan Horses</a:t>
            </a:r>
          </a:p>
        </p:txBody>
      </p:sp>
    </p:spTree>
    <p:extLst>
      <p:ext uri="{BB962C8B-B14F-4D97-AF65-F5344CB8AC3E}">
        <p14:creationId xmlns:p14="http://schemas.microsoft.com/office/powerpoint/2010/main" val="1232990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21</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19"/>
            <a:ext cx="10263764" cy="3297381"/>
          </a:xfrm>
          <a:prstGeom prst="rect">
            <a:avLst/>
          </a:prstGeom>
          <a:blipFill>
            <a:blip r:embed="rId3" cstate="print"/>
            <a:stretch>
              <a:fillRect/>
            </a:stretch>
          </a:blipFill>
        </p:spPr>
        <p:txBody>
          <a:bodyPr wrap="square" lIns="0" tIns="0" rIns="0" bIns="0" rtlCol="0"/>
          <a:lstStyle/>
          <a:p>
            <a:pPr marL="457200" indent="-457200">
              <a:buClr>
                <a:srgbClr val="FF0000"/>
              </a:buClr>
              <a:buFont typeface="Wingdings" panose="05000000000000000000" pitchFamily="2" charset="2"/>
              <a:buChar char="Ø"/>
            </a:pPr>
            <a:r>
              <a:rPr lang="en-US" sz="2400" u="sng" dirty="0">
                <a:latin typeface="Times New Roman" panose="02020603050405020304" pitchFamily="18" charset="0"/>
                <a:cs typeface="Times New Roman" panose="02020603050405020304" pitchFamily="18" charset="0"/>
              </a:rPr>
              <a:t>Ransomware denies or restricts access to your own files</a:t>
            </a:r>
            <a:r>
              <a:rPr lang="en-US" sz="2400" dirty="0">
                <a:latin typeface="Times New Roman" panose="02020603050405020304" pitchFamily="18" charset="0"/>
                <a:cs typeface="Times New Roman" panose="02020603050405020304" pitchFamily="18" charset="0"/>
              </a:rPr>
              <a:t>. Then it </a:t>
            </a:r>
            <a:r>
              <a:rPr lang="en-US" sz="2400" dirty="0">
                <a:solidFill>
                  <a:srgbClr val="FF0000"/>
                </a:solidFill>
                <a:latin typeface="Times New Roman" panose="02020603050405020304" pitchFamily="18" charset="0"/>
                <a:cs typeface="Times New Roman" panose="02020603050405020304" pitchFamily="18" charset="0"/>
              </a:rPr>
              <a:t>demands payment</a:t>
            </a:r>
            <a:r>
              <a:rPr lang="en-US" sz="2400" dirty="0">
                <a:latin typeface="Times New Roman" panose="02020603050405020304" pitchFamily="18" charset="0"/>
                <a:cs typeface="Times New Roman" panose="02020603050405020304" pitchFamily="18" charset="0"/>
              </a:rPr>
              <a:t> (usually with crypto-currencies) in return for letting you back in.</a:t>
            </a:r>
          </a:p>
          <a:p>
            <a:pPr marL="457200" indent="-4572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May 2017, a ransomware attack spread across 150 countries and compromised over 200k computers within just one day. Aptly named WannaCry, the attack caused damage estimated in the hundreds of millions to billions of dollars.</a:t>
            </a:r>
          </a:p>
          <a:p>
            <a:pPr marL="457200" indent="-4572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WannaCry affected MS Operating systems that did not have the latest patch installed for a known vulnerability</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Ransomware</a:t>
            </a:r>
          </a:p>
        </p:txBody>
      </p:sp>
    </p:spTree>
    <p:extLst>
      <p:ext uri="{BB962C8B-B14F-4D97-AF65-F5344CB8AC3E}">
        <p14:creationId xmlns:p14="http://schemas.microsoft.com/office/powerpoint/2010/main" val="310869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22</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19"/>
            <a:ext cx="10263764" cy="3047999"/>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Variation of this type of ransomware </a:t>
            </a:r>
            <a:r>
              <a:rPr lang="en-US" sz="2400" u="sng" dirty="0">
                <a:latin typeface="Times New Roman" panose="02020603050405020304" pitchFamily="18" charset="0"/>
                <a:cs typeface="Times New Roman" panose="02020603050405020304" pitchFamily="18" charset="0"/>
              </a:rPr>
              <a:t>pretends to come from a software vendor and displays a fictitious warning that a software license has expired </a:t>
            </a:r>
            <a:r>
              <a:rPr lang="en-US" sz="2400" dirty="0">
                <a:latin typeface="Times New Roman" panose="02020603050405020304" pitchFamily="18" charset="0"/>
                <a:cs typeface="Times New Roman" panose="02020603050405020304" pitchFamily="18" charset="0"/>
              </a:rPr>
              <a:t>or there is a problem with the computer such as imminent hard drive failure or—in a touch of irony—a malware infection.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ransomware variation tells users that they must </a:t>
            </a:r>
            <a:r>
              <a:rPr lang="en-US" sz="2400" dirty="0">
                <a:solidFill>
                  <a:srgbClr val="FF0000"/>
                </a:solidFill>
                <a:latin typeface="Times New Roman" panose="02020603050405020304" pitchFamily="18" charset="0"/>
                <a:cs typeface="Times New Roman" panose="02020603050405020304" pitchFamily="18" charset="0"/>
              </a:rPr>
              <a:t>immediately renew </a:t>
            </a:r>
            <a:r>
              <a:rPr lang="en-US" sz="2400" dirty="0">
                <a:latin typeface="Times New Roman" panose="02020603050405020304" pitchFamily="18" charset="0"/>
                <a:cs typeface="Times New Roman" panose="02020603050405020304" pitchFamily="18" charset="0"/>
              </a:rPr>
              <a:t>their license or purchase additional software online to fix a nonexistent problem</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Ransomware</a:t>
            </a:r>
          </a:p>
        </p:txBody>
      </p:sp>
    </p:spTree>
    <p:extLst>
      <p:ext uri="{BB962C8B-B14F-4D97-AF65-F5344CB8AC3E}">
        <p14:creationId xmlns:p14="http://schemas.microsoft.com/office/powerpoint/2010/main" val="2158249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23</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Ransomware</a:t>
            </a:r>
          </a:p>
        </p:txBody>
      </p:sp>
      <p:pic>
        <p:nvPicPr>
          <p:cNvPr id="3" name="Picture 2"/>
          <p:cNvPicPr>
            <a:picLocks noChangeAspect="1"/>
          </p:cNvPicPr>
          <p:nvPr/>
        </p:nvPicPr>
        <p:blipFill>
          <a:blip r:embed="rId3"/>
          <a:stretch>
            <a:fillRect/>
          </a:stretch>
        </p:blipFill>
        <p:spPr>
          <a:xfrm>
            <a:off x="3413126" y="1845128"/>
            <a:ext cx="5610676" cy="3915364"/>
          </a:xfrm>
          <a:prstGeom prst="rect">
            <a:avLst/>
          </a:prstGeom>
        </p:spPr>
      </p:pic>
    </p:spTree>
    <p:extLst>
      <p:ext uri="{BB962C8B-B14F-4D97-AF65-F5344CB8AC3E}">
        <p14:creationId xmlns:p14="http://schemas.microsoft.com/office/powerpoint/2010/main" val="1146149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24</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20"/>
            <a:ext cx="9903546" cy="2867889"/>
          </a:xfrm>
          <a:prstGeom prst="rect">
            <a:avLst/>
          </a:prstGeom>
          <a:blipFill>
            <a:blip r:embed="rId3" cstate="print"/>
            <a:stretch>
              <a:fillRect/>
            </a:stretch>
          </a:blipFill>
        </p:spPr>
        <p:txBody>
          <a:bodyPr wrap="square" lIns="0" tIns="0" rIns="0" bIns="0" rtlCol="0"/>
          <a:lstStyle/>
          <a:p>
            <a:pPr marL="457200" indent="-4572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reduce the risk of ransomware attacks…</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Always keep your Operating System up to date</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Keep your Anti-Virus software up to date</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Back-up your most important files</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Don’t open attachments from unknown sources (WannaCry was spread via a .</a:t>
            </a:r>
            <a:r>
              <a:rPr lang="en-US" sz="2200" dirty="0" err="1">
                <a:latin typeface="Times New Roman" panose="02020603050405020304" pitchFamily="18" charset="0"/>
                <a:cs typeface="Times New Roman" panose="02020603050405020304" pitchFamily="18" charset="0"/>
              </a:rPr>
              <a:t>js</a:t>
            </a:r>
            <a:r>
              <a:rPr lang="en-US" sz="2200" dirty="0">
                <a:latin typeface="Times New Roman" panose="02020603050405020304" pitchFamily="18" charset="0"/>
                <a:cs typeface="Times New Roman" panose="02020603050405020304" pitchFamily="18" charset="0"/>
              </a:rPr>
              <a:t> attachment</a:t>
            </a:r>
            <a:r>
              <a:rPr lang="en-US" sz="2400" dirty="0">
                <a:latin typeface="Times New Roman" panose="02020603050405020304" pitchFamily="18" charset="0"/>
                <a:cs typeface="Times New Roman" panose="02020603050405020304" pitchFamily="18" charset="0"/>
              </a:rPr>
              <a:t>)</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Ransomware</a:t>
            </a:r>
          </a:p>
        </p:txBody>
      </p:sp>
    </p:spTree>
    <p:extLst>
      <p:ext uri="{BB962C8B-B14F-4D97-AF65-F5344CB8AC3E}">
        <p14:creationId xmlns:p14="http://schemas.microsoft.com/office/powerpoint/2010/main" val="3454286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25</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20"/>
            <a:ext cx="9903546" cy="3505198"/>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Adware is one of the better-known types of malware. It </a:t>
            </a:r>
            <a:r>
              <a:rPr lang="en-US" sz="2400" u="sng" dirty="0">
                <a:latin typeface="Times New Roman" panose="02020603050405020304" pitchFamily="18" charset="0"/>
                <a:cs typeface="Times New Roman" panose="02020603050405020304" pitchFamily="18" charset="0"/>
              </a:rPr>
              <a:t>serves </a:t>
            </a:r>
            <a:r>
              <a:rPr lang="en-US" sz="2400" u="sng" dirty="0">
                <a:solidFill>
                  <a:srgbClr val="FF0000"/>
                </a:solidFill>
                <a:latin typeface="Times New Roman" panose="02020603050405020304" pitchFamily="18" charset="0"/>
                <a:cs typeface="Times New Roman" panose="02020603050405020304" pitchFamily="18" charset="0"/>
              </a:rPr>
              <a:t>pop-ups</a:t>
            </a:r>
            <a:r>
              <a:rPr lang="en-US" sz="2400" u="sng"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display ads that often have </a:t>
            </a:r>
            <a:r>
              <a:rPr lang="en-US" sz="2400" dirty="0">
                <a:solidFill>
                  <a:srgbClr val="FF0000"/>
                </a:solidFill>
                <a:latin typeface="Times New Roman" panose="02020603050405020304" pitchFamily="18" charset="0"/>
                <a:cs typeface="Times New Roman" panose="02020603050405020304" pitchFamily="18" charset="0"/>
              </a:rPr>
              <a:t>no relevance to you</a:t>
            </a:r>
            <a:r>
              <a:rPr lang="en-US" sz="2400" dirty="0">
                <a:latin typeface="Times New Roman" panose="02020603050405020304" pitchFamily="18" charset="0"/>
                <a:cs typeface="Times New Roman" panose="02020603050405020304" pitchFamily="18" charset="0"/>
              </a:rPr>
              <a: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Some users will put up with certain types of adware in return for free software (games for example). But not all adware is equal.</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At best, it’s </a:t>
            </a:r>
            <a:r>
              <a:rPr lang="en-US" sz="2200" u="sng" dirty="0">
                <a:latin typeface="Times New Roman" panose="02020603050405020304" pitchFamily="18" charset="0"/>
                <a:cs typeface="Times New Roman" panose="02020603050405020304" pitchFamily="18" charset="0"/>
              </a:rPr>
              <a:t>annoying</a:t>
            </a:r>
            <a:r>
              <a:rPr lang="en-US" sz="2200" dirty="0">
                <a:latin typeface="Times New Roman" panose="02020603050405020304" pitchFamily="18" charset="0"/>
                <a:cs typeface="Times New Roman" panose="02020603050405020304" pitchFamily="18" charset="0"/>
              </a:rPr>
              <a:t> and </a:t>
            </a:r>
            <a:r>
              <a:rPr lang="en-US" sz="2200" dirty="0">
                <a:solidFill>
                  <a:srgbClr val="FF0000"/>
                </a:solidFill>
                <a:latin typeface="Times New Roman" panose="02020603050405020304" pitchFamily="18" charset="0"/>
                <a:cs typeface="Times New Roman" panose="02020603050405020304" pitchFamily="18" charset="0"/>
              </a:rPr>
              <a:t>slows down your machine</a:t>
            </a:r>
            <a:r>
              <a:rPr lang="en-US" sz="2200" dirty="0">
                <a:latin typeface="Times New Roman" panose="02020603050405020304" pitchFamily="18" charset="0"/>
                <a:cs typeface="Times New Roman" panose="02020603050405020304" pitchFamily="18" charset="0"/>
              </a:rPr>
              <a:t>. </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At worst, the ads link to sites where </a:t>
            </a:r>
            <a:r>
              <a:rPr lang="en-US" sz="2200" dirty="0">
                <a:solidFill>
                  <a:srgbClr val="FF0000"/>
                </a:solidFill>
                <a:latin typeface="Times New Roman" panose="02020603050405020304" pitchFamily="18" charset="0"/>
                <a:cs typeface="Times New Roman" panose="02020603050405020304" pitchFamily="18" charset="0"/>
              </a:rPr>
              <a:t>malicious downloads </a:t>
            </a:r>
            <a:r>
              <a:rPr lang="en-US" sz="2200" dirty="0">
                <a:latin typeface="Times New Roman" panose="02020603050405020304" pitchFamily="18" charset="0"/>
                <a:cs typeface="Times New Roman" panose="02020603050405020304" pitchFamily="18" charset="0"/>
              </a:rPr>
              <a:t>await unsuspecting users.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Adware can also deliver Spyware and is often easily hacked, making devices that have it installed a soft target for hackers, phishers and scammers.</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Adware &amp; Scams</a:t>
            </a:r>
          </a:p>
        </p:txBody>
      </p:sp>
    </p:spTree>
    <p:extLst>
      <p:ext uri="{BB962C8B-B14F-4D97-AF65-F5344CB8AC3E}">
        <p14:creationId xmlns:p14="http://schemas.microsoft.com/office/powerpoint/2010/main" val="26267389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26</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20"/>
            <a:ext cx="9903546" cy="3906980"/>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Spyware </a:t>
            </a:r>
            <a:r>
              <a:rPr lang="en-US" sz="2400" dirty="0">
                <a:solidFill>
                  <a:srgbClr val="FF0000"/>
                </a:solidFill>
                <a:latin typeface="Times New Roman" panose="02020603050405020304" pitchFamily="18" charset="0"/>
                <a:cs typeface="Times New Roman" panose="02020603050405020304" pitchFamily="18" charset="0"/>
              </a:rPr>
              <a:t>secretly records your online activity</a:t>
            </a:r>
            <a:r>
              <a:rPr lang="en-US" sz="2400" dirty="0">
                <a:latin typeface="Times New Roman" panose="02020603050405020304" pitchFamily="18" charset="0"/>
                <a:cs typeface="Times New Roman" panose="02020603050405020304" pitchFamily="18" charset="0"/>
              </a:rPr>
              <a:t>, harvesting your data and </a:t>
            </a:r>
            <a:r>
              <a:rPr lang="en-US" sz="2400" b="1" dirty="0">
                <a:latin typeface="Times New Roman" panose="02020603050405020304" pitchFamily="18" charset="0"/>
                <a:cs typeface="Times New Roman" panose="02020603050405020304" pitchFamily="18" charset="0"/>
              </a:rPr>
              <a:t>collecting</a:t>
            </a:r>
            <a:r>
              <a:rPr lang="en-US" sz="2400" dirty="0">
                <a:latin typeface="Times New Roman" panose="02020603050405020304" pitchFamily="18" charset="0"/>
                <a:cs typeface="Times New Roman" panose="02020603050405020304" pitchFamily="18" charset="0"/>
              </a:rPr>
              <a:t> personal information such as usernames, passwords and surfing habits.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Spyware is a common threat, usually distributed as freeware or shareware that has an appealing function on the front end with a covert mission running in the background that you might never notice. It’s often used to carry out identity theft and credit card fraud.</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Once on your computer, spyware relays your data to advertisers or cyber criminals. Some spyware installs additional malware that make changes to your settings.</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Spyware</a:t>
            </a:r>
          </a:p>
        </p:txBody>
      </p:sp>
    </p:spTree>
    <p:extLst>
      <p:ext uri="{BB962C8B-B14F-4D97-AF65-F5344CB8AC3E}">
        <p14:creationId xmlns:p14="http://schemas.microsoft.com/office/powerpoint/2010/main" val="1388715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27</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914400"/>
            <a:ext cx="10058400" cy="4904509"/>
          </a:xfrm>
          <a:prstGeom prst="rect">
            <a:avLst/>
          </a:prstGeom>
        </p:spPr>
      </p:pic>
    </p:spTree>
    <p:extLst>
      <p:ext uri="{BB962C8B-B14F-4D97-AF65-F5344CB8AC3E}">
        <p14:creationId xmlns:p14="http://schemas.microsoft.com/office/powerpoint/2010/main" val="2228049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28</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20"/>
            <a:ext cx="9903546" cy="3906980"/>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you’ve noticed any of the following, you may have malware on your device:</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A slow, crashing or freezing computer</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Blue screen of death (BSOD)</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Programs opening and closing automatically or altering themselves</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Lack of storage space</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Increased pop-ups, toolbars and other unwanted programs</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Emails and messages being sent without you prompting them</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Malware Detection</a:t>
            </a:r>
          </a:p>
        </p:txBody>
      </p:sp>
    </p:spTree>
    <p:extLst>
      <p:ext uri="{BB962C8B-B14F-4D97-AF65-F5344CB8AC3E}">
        <p14:creationId xmlns:p14="http://schemas.microsoft.com/office/powerpoint/2010/main" val="4071665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29</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20"/>
            <a:ext cx="9903546" cy="3906980"/>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Malware Classification is the process of assigning a malware sample to a </a:t>
            </a:r>
            <a:r>
              <a:rPr lang="en-US" sz="2400" u="sng" dirty="0">
                <a:latin typeface="Times New Roman" panose="02020603050405020304" pitchFamily="18" charset="0"/>
                <a:cs typeface="Times New Roman" panose="02020603050405020304" pitchFamily="18" charset="0"/>
              </a:rPr>
              <a:t>specific malware family</a:t>
            </a:r>
            <a:r>
              <a:rPr lang="en-US" sz="2400" dirty="0">
                <a:latin typeface="Times New Roman" panose="02020603050405020304" pitchFamily="18" charset="0"/>
                <a:cs typeface="Times New Roman" panose="02020603050405020304" pitchFamily="18" charset="0"/>
              </a:rPr>
              <a: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Malware within a family shares similar properties that can be used to create signatures for detection and classification.</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Signatures can be categorized as static or dynamic based on how they are extracted.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static signature can be based on a byte-code sequence, binary assembly instruction, or an imported Dynamic Link Library (DLL).</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Malware Classification</a:t>
            </a:r>
          </a:p>
        </p:txBody>
      </p:sp>
    </p:spTree>
    <p:extLst>
      <p:ext uri="{BB962C8B-B14F-4D97-AF65-F5344CB8AC3E}">
        <p14:creationId xmlns:p14="http://schemas.microsoft.com/office/powerpoint/2010/main" val="2192529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30</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19"/>
            <a:ext cx="9460201" cy="3269671"/>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Dynamic signatures can be based on file system activities, terminal commands, network communications, or function and system call sequences.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Effectively capture knowledge of the malware to represent.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representation can enable classifiers to efficiently and effectively correlate data across large number of objects.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Malicious software is classified into families, each family originating from a single source base and exhibiting a set of consistent behaviors.</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Malware Classification</a:t>
            </a:r>
          </a:p>
        </p:txBody>
      </p:sp>
    </p:spTree>
    <p:extLst>
      <p:ext uri="{BB962C8B-B14F-4D97-AF65-F5344CB8AC3E}">
        <p14:creationId xmlns:p14="http://schemas.microsoft.com/office/powerpoint/2010/main" val="2266068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31</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19"/>
            <a:ext cx="9460201" cy="4073236"/>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Social engineering is the term used for a broad range of malicious activities accomplished through human interactions. </a:t>
            </a:r>
          </a:p>
          <a:p>
            <a:pPr marL="342900" indent="-342900">
              <a:buClr>
                <a:srgbClr val="FF0000"/>
              </a:buClr>
              <a:buFont typeface="Wingdings" panose="05000000000000000000" pitchFamily="2" charset="2"/>
              <a:buChar char="Ø"/>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It uses psychological </a:t>
            </a:r>
            <a:r>
              <a:rPr lang="en-US" sz="2400" dirty="0">
                <a:solidFill>
                  <a:srgbClr val="FF0000"/>
                </a:solidFill>
                <a:latin typeface="Times New Roman" panose="02020603050405020304" pitchFamily="18" charset="0"/>
                <a:cs typeface="Times New Roman" panose="02020603050405020304" pitchFamily="18" charset="0"/>
              </a:rPr>
              <a:t>manipulation</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to trick users into making </a:t>
            </a:r>
            <a:r>
              <a:rPr lang="en-US" sz="2400" dirty="0">
                <a:solidFill>
                  <a:srgbClr val="FF0000"/>
                </a:solidFill>
                <a:latin typeface="Times New Roman" panose="02020603050405020304" pitchFamily="18" charset="0"/>
                <a:cs typeface="Times New Roman" panose="02020603050405020304" pitchFamily="18" charset="0"/>
              </a:rPr>
              <a:t>security mistakes </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or </a:t>
            </a:r>
            <a:r>
              <a:rPr lang="en-US" sz="2400" u="sng" dirty="0">
                <a:solidFill>
                  <a:schemeClr val="tx1">
                    <a:lumMod val="95000"/>
                    <a:lumOff val="5000"/>
                  </a:schemeClr>
                </a:solidFill>
                <a:latin typeface="Times New Roman" panose="02020603050405020304" pitchFamily="18" charset="0"/>
                <a:cs typeface="Times New Roman" panose="02020603050405020304" pitchFamily="18" charset="0"/>
              </a:rPr>
              <a:t>giving away sensitive information</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a:t>
            </a:r>
          </a:p>
          <a:p>
            <a:pPr marL="342900" indent="-342900">
              <a:buClr>
                <a:srgbClr val="FF0000"/>
              </a:buClr>
              <a:buFont typeface="Wingdings" panose="05000000000000000000" pitchFamily="2" charset="2"/>
              <a:buChar char="Ø"/>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Social engineering attacks happen in one or more steps. </a:t>
            </a:r>
          </a:p>
          <a:p>
            <a:pPr marL="800100" lvl="1" indent="-342900">
              <a:buClr>
                <a:srgbClr val="FF0000"/>
              </a:buClr>
              <a:buFont typeface="Wingdings" panose="05000000000000000000" pitchFamily="2" charset="2"/>
              <a:buChar char="v"/>
            </a:pPr>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A perpetrator first investigates the intended victim to gather necessary background information, such as </a:t>
            </a:r>
            <a:r>
              <a:rPr lang="en-US" sz="2200" u="sng" dirty="0">
                <a:solidFill>
                  <a:schemeClr val="tx1">
                    <a:lumMod val="95000"/>
                    <a:lumOff val="5000"/>
                  </a:schemeClr>
                </a:solidFill>
                <a:latin typeface="Times New Roman" panose="02020603050405020304" pitchFamily="18" charset="0"/>
                <a:cs typeface="Times New Roman" panose="02020603050405020304" pitchFamily="18" charset="0"/>
              </a:rPr>
              <a:t>potential points of entry </a:t>
            </a:r>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and </a:t>
            </a:r>
            <a:r>
              <a:rPr lang="en-US" sz="2200" u="sng" dirty="0">
                <a:solidFill>
                  <a:schemeClr val="tx1">
                    <a:lumMod val="95000"/>
                    <a:lumOff val="5000"/>
                  </a:schemeClr>
                </a:solidFill>
                <a:latin typeface="Times New Roman" panose="02020603050405020304" pitchFamily="18" charset="0"/>
                <a:cs typeface="Times New Roman" panose="02020603050405020304" pitchFamily="18" charset="0"/>
              </a:rPr>
              <a:t>weak security </a:t>
            </a:r>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protocols, needed to proceed with the attack.</a:t>
            </a:r>
          </a:p>
          <a:p>
            <a:pPr marL="800100" lvl="1" indent="-342900">
              <a:buClr>
                <a:srgbClr val="FF0000"/>
              </a:buClr>
              <a:buFont typeface="Wingdings" panose="05000000000000000000" pitchFamily="2" charset="2"/>
              <a:buChar char="v"/>
            </a:pPr>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 Then, the attacker moves to gain the victim’s trust and provide stimuli for subsequent actions that </a:t>
            </a:r>
            <a:r>
              <a:rPr lang="en-US" sz="2200" dirty="0">
                <a:solidFill>
                  <a:srgbClr val="FF0000"/>
                </a:solidFill>
                <a:latin typeface="Times New Roman" panose="02020603050405020304" pitchFamily="18" charset="0"/>
                <a:cs typeface="Times New Roman" panose="02020603050405020304" pitchFamily="18" charset="0"/>
              </a:rPr>
              <a:t>break security practices</a:t>
            </a:r>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 such as revealing sensitive information or granting access to critical resources.</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Social engineering</a:t>
            </a:r>
          </a:p>
        </p:txBody>
      </p:sp>
    </p:spTree>
    <p:extLst>
      <p:ext uri="{BB962C8B-B14F-4D97-AF65-F5344CB8AC3E}">
        <p14:creationId xmlns:p14="http://schemas.microsoft.com/office/powerpoint/2010/main" val="1716152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32</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35" y="628022"/>
            <a:ext cx="9863427" cy="5585989"/>
          </a:xfrm>
          <a:prstGeom prst="rect">
            <a:avLst/>
          </a:prstGeom>
        </p:spPr>
      </p:pic>
    </p:spTree>
    <p:extLst>
      <p:ext uri="{BB962C8B-B14F-4D97-AF65-F5344CB8AC3E}">
        <p14:creationId xmlns:p14="http://schemas.microsoft.com/office/powerpoint/2010/main" val="3846750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33</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19"/>
            <a:ext cx="9460201" cy="4073236"/>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At its core it is manipulating a person into </a:t>
            </a:r>
            <a:r>
              <a:rPr lang="en-US" altLang="en-US" sz="2400" u="sng" dirty="0">
                <a:latin typeface="Times New Roman" panose="02020603050405020304" pitchFamily="18" charset="0"/>
                <a:cs typeface="Times New Roman" panose="02020603050405020304" pitchFamily="18" charset="0"/>
              </a:rPr>
              <a:t>knowingly or unknowingly giving up information</a:t>
            </a:r>
            <a:r>
              <a:rPr lang="en-US" altLang="en-US" sz="2400" dirty="0">
                <a:latin typeface="Times New Roman" panose="02020603050405020304" pitchFamily="18" charset="0"/>
                <a:cs typeface="Times New Roman" panose="02020603050405020304" pitchFamily="18" charset="0"/>
              </a:rPr>
              <a:t>; essentially 'hacking' into a person to steal valuable information.</a:t>
            </a:r>
          </a:p>
          <a:p>
            <a:pPr marL="800100" lvl="1" indent="-342900">
              <a:buClr>
                <a:srgbClr val="FF0000"/>
              </a:buClr>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Psychological manipulation</a:t>
            </a:r>
          </a:p>
          <a:p>
            <a:pPr marL="800100" lvl="1" indent="-342900">
              <a:buClr>
                <a:srgbClr val="FF0000"/>
              </a:buClr>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Trickery or Deception for the purpose of information gathering</a:t>
            </a:r>
          </a:p>
          <a:p>
            <a:pPr marL="342900" indent="-342900">
              <a:buClr>
                <a:srgbClr val="FF0000"/>
              </a:buClr>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It is a way for criminals to gain access to information systems. The purpose of </a:t>
            </a:r>
            <a:r>
              <a:rPr lang="en-US" altLang="en-US" sz="2400" dirty="0">
                <a:solidFill>
                  <a:srgbClr val="FF0000"/>
                </a:solidFill>
                <a:latin typeface="Times New Roman" panose="02020603050405020304" pitchFamily="18" charset="0"/>
                <a:cs typeface="Times New Roman" panose="02020603050405020304" pitchFamily="18" charset="0"/>
              </a:rPr>
              <a:t>social engineering is usually to secretly install spyware</a:t>
            </a:r>
            <a:r>
              <a:rPr lang="en-US" altLang="en-US" sz="2400" dirty="0">
                <a:latin typeface="Times New Roman" panose="02020603050405020304" pitchFamily="18" charset="0"/>
                <a:cs typeface="Times New Roman" panose="02020603050405020304" pitchFamily="18" charset="0"/>
              </a:rPr>
              <a:t>, other malicious software or to trick persons into handing over passwords and/or other sensitive financial or personal information.</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Social engineering</a:t>
            </a:r>
          </a:p>
        </p:txBody>
      </p:sp>
    </p:spTree>
    <p:extLst>
      <p:ext uri="{BB962C8B-B14F-4D97-AF65-F5344CB8AC3E}">
        <p14:creationId xmlns:p14="http://schemas.microsoft.com/office/powerpoint/2010/main" val="2593123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34</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19"/>
            <a:ext cx="9460201" cy="4073236"/>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Social engineering is one of the most effective routes to stealing confidential data from organizations, according to Siemens Enterprise Communications, based in Germany. In a recent Siemens test, 85 percent of office workers were duped by engineering. </a:t>
            </a:r>
          </a:p>
          <a:p>
            <a:pPr lvl="1">
              <a:buFontTx/>
              <a:buNone/>
            </a:pPr>
            <a:endParaRPr lang="en-US" altLang="en-US" sz="2400" i="1" dirty="0">
              <a:latin typeface="Times New Roman" panose="02020603050405020304" pitchFamily="18" charset="0"/>
              <a:cs typeface="Times New Roman" panose="02020603050405020304" pitchFamily="18" charset="0"/>
            </a:endParaRPr>
          </a:p>
          <a:p>
            <a:pPr lvl="1">
              <a:buFontTx/>
              <a:buNone/>
            </a:pPr>
            <a:r>
              <a:rPr lang="en-US" altLang="en-US" sz="2400" i="1" dirty="0">
                <a:latin typeface="Times New Roman" panose="02020603050405020304" pitchFamily="18" charset="0"/>
                <a:cs typeface="Times New Roman" panose="02020603050405020304" pitchFamily="18" charset="0"/>
              </a:rPr>
              <a:t>“Most employees are utterly unaware that they are being manipulated,” says Colin </a:t>
            </a:r>
            <a:r>
              <a:rPr lang="en-US" altLang="en-US" sz="2400" i="1" dirty="0" err="1">
                <a:latin typeface="Times New Roman" panose="02020603050405020304" pitchFamily="18" charset="0"/>
                <a:cs typeface="Times New Roman" panose="02020603050405020304" pitchFamily="18" charset="0"/>
              </a:rPr>
              <a:t>Greenlees</a:t>
            </a:r>
            <a:r>
              <a:rPr lang="en-US" altLang="en-US" sz="2400" i="1" dirty="0">
                <a:latin typeface="Times New Roman" panose="02020603050405020304" pitchFamily="18" charset="0"/>
                <a:cs typeface="Times New Roman" panose="02020603050405020304" pitchFamily="18" charset="0"/>
              </a:rPr>
              <a:t>, security and counter-fraud consultant at Siemens.</a:t>
            </a:r>
          </a:p>
          <a:p>
            <a:endParaRPr lang="en-US" altLang="en-US" sz="2400"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Social engineering</a:t>
            </a:r>
          </a:p>
        </p:txBody>
      </p:sp>
    </p:spTree>
    <p:extLst>
      <p:ext uri="{BB962C8B-B14F-4D97-AF65-F5344CB8AC3E}">
        <p14:creationId xmlns:p14="http://schemas.microsoft.com/office/powerpoint/2010/main" val="9850590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35</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19"/>
            <a:ext cx="9460201" cy="4073236"/>
          </a:xfrm>
          <a:prstGeom prst="rect">
            <a:avLst/>
          </a:prstGeom>
          <a:blipFill>
            <a:blip r:embed="rId4"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Not all attacks rely on technology vulnerabilities; in fact, some cyberattacks use little if any technology to achieve their goals.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Social engineering is a means of eliciting information (gathering data) by relying on the </a:t>
            </a:r>
            <a:r>
              <a:rPr lang="en-US" sz="2400" dirty="0">
                <a:solidFill>
                  <a:srgbClr val="FF0000"/>
                </a:solidFill>
                <a:latin typeface="Times New Roman" panose="02020603050405020304" pitchFamily="18" charset="0"/>
                <a:cs typeface="Times New Roman" panose="02020603050405020304" pitchFamily="18" charset="0"/>
              </a:rPr>
              <a:t>weaknesses of individuals</a:t>
            </a:r>
            <a:r>
              <a:rPr lang="en-US" sz="2400" dirty="0">
                <a:latin typeface="Times New Roman" panose="02020603050405020304" pitchFamily="18" charset="0"/>
                <a:cs typeface="Times New Roman" panose="02020603050405020304" pitchFamily="18" charset="0"/>
              </a:rPr>
              <a: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Information elicitation may be the goal of the attack, or the information may then be used for other attacks.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Social engineering is also used as influence campaigns to sway attention and sympathy in a particular direction.</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These campaigns can be found exclusively on social media (social media influence campaign) or may be combined with other sources (hybrid warfare influence campaign).</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Social Engineering Attacks</a:t>
            </a:r>
          </a:p>
        </p:txBody>
      </p:sp>
    </p:spTree>
    <p:extLst>
      <p:ext uri="{BB962C8B-B14F-4D97-AF65-F5344CB8AC3E}">
        <p14:creationId xmlns:p14="http://schemas.microsoft.com/office/powerpoint/2010/main" val="404431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36</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19"/>
            <a:ext cx="9460201" cy="4073236"/>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Many social engineering </a:t>
            </a:r>
            <a:r>
              <a:rPr lang="en-US" sz="2400" dirty="0">
                <a:solidFill>
                  <a:srgbClr val="FF0000"/>
                </a:solidFill>
                <a:latin typeface="Times New Roman" panose="02020603050405020304" pitchFamily="18" charset="0"/>
                <a:cs typeface="Times New Roman" panose="02020603050405020304" pitchFamily="18" charset="0"/>
              </a:rPr>
              <a:t>attacks rely on psychology </a:t>
            </a:r>
            <a:r>
              <a:rPr lang="en-US" sz="2400" dirty="0">
                <a:latin typeface="Times New Roman" panose="02020603050405020304" pitchFamily="18" charset="0"/>
                <a:cs typeface="Times New Roman" panose="02020603050405020304" pitchFamily="18" charset="0"/>
              </a:rPr>
              <a:t>to affect others mentally and emotionally rather than physically.</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At its core, social engineering relies on an </a:t>
            </a:r>
            <a:r>
              <a:rPr lang="en-US" sz="2400" dirty="0">
                <a:solidFill>
                  <a:srgbClr val="FF0000"/>
                </a:solidFill>
                <a:latin typeface="Times New Roman" panose="02020603050405020304" pitchFamily="18" charset="0"/>
                <a:cs typeface="Times New Roman" panose="02020603050405020304" pitchFamily="18" charset="0"/>
              </a:rPr>
              <a:t>attacker’s clever manipulation </a:t>
            </a:r>
            <a:r>
              <a:rPr lang="en-US" sz="2400" dirty="0">
                <a:latin typeface="Times New Roman" panose="02020603050405020304" pitchFamily="18" charset="0"/>
                <a:cs typeface="Times New Roman" panose="02020603050405020304" pitchFamily="18" charset="0"/>
              </a:rPr>
              <a:t>of human nature to persuade the victim to provide information or take actions.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Several basic principles make psychological social engineering highly effective.</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Social engineering attacks usually rely on psychological principles. They also can involve physical procedures.</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Psychological Principles</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55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37</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Psychological Principles</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911033495"/>
              </p:ext>
            </p:extLst>
          </p:nvPr>
        </p:nvGraphicFramePr>
        <p:xfrm>
          <a:off x="819872" y="2491664"/>
          <a:ext cx="10139072" cy="3290336"/>
        </p:xfrm>
        <a:graphic>
          <a:graphicData uri="http://schemas.openxmlformats.org/drawingml/2006/table">
            <a:tbl>
              <a:tblPr firstRow="1" bandRow="1">
                <a:tableStyleId>{5C22544A-7EE6-4342-B048-85BDC9FD1C3A}</a:tableStyleId>
              </a:tblPr>
              <a:tblGrid>
                <a:gridCol w="2748223">
                  <a:extLst>
                    <a:ext uri="{9D8B030D-6E8A-4147-A177-3AD203B41FA5}">
                      <a16:colId xmlns:a16="http://schemas.microsoft.com/office/drawing/2014/main" val="867957916"/>
                    </a:ext>
                  </a:extLst>
                </a:gridCol>
                <a:gridCol w="4011159">
                  <a:extLst>
                    <a:ext uri="{9D8B030D-6E8A-4147-A177-3AD203B41FA5}">
                      <a16:colId xmlns:a16="http://schemas.microsoft.com/office/drawing/2014/main" val="2059698085"/>
                    </a:ext>
                  </a:extLst>
                </a:gridCol>
                <a:gridCol w="3379690">
                  <a:extLst>
                    <a:ext uri="{9D8B030D-6E8A-4147-A177-3AD203B41FA5}">
                      <a16:colId xmlns:a16="http://schemas.microsoft.com/office/drawing/2014/main" val="2287873895"/>
                    </a:ext>
                  </a:extLst>
                </a:gridCol>
              </a:tblGrid>
              <a:tr h="309258">
                <a:tc>
                  <a:txBody>
                    <a:bodyPr/>
                    <a:lstStyle/>
                    <a:p>
                      <a:r>
                        <a:rPr lang="en-US" sz="1800" dirty="0">
                          <a:latin typeface="Times New Roman" panose="02020603050405020304" pitchFamily="18" charset="0"/>
                          <a:cs typeface="Times New Roman" panose="02020603050405020304" pitchFamily="18" charset="0"/>
                        </a:rPr>
                        <a:t>Principle</a:t>
                      </a:r>
                      <a:endParaRPr lang="en-US" dirty="0"/>
                    </a:p>
                  </a:txBody>
                  <a:tcPr/>
                </a:tc>
                <a:tc>
                  <a:txBody>
                    <a:bodyPr/>
                    <a:lstStyle/>
                    <a:p>
                      <a:r>
                        <a:rPr lang="en-US" sz="1800" dirty="0">
                          <a:latin typeface="Times New Roman" panose="02020603050405020304" pitchFamily="18" charset="0"/>
                          <a:cs typeface="Times New Roman" panose="02020603050405020304" pitchFamily="18" charset="0"/>
                        </a:rPr>
                        <a:t>Description</a:t>
                      </a:r>
                      <a:endParaRPr lang="en-US" dirty="0"/>
                    </a:p>
                  </a:txBody>
                  <a:tcPr/>
                </a:tc>
                <a:tc>
                  <a:txBody>
                    <a:bodyPr/>
                    <a:lstStyle/>
                    <a:p>
                      <a:r>
                        <a:rPr lang="en-US" sz="1800" dirty="0">
                          <a:latin typeface="Times New Roman" panose="02020603050405020304" pitchFamily="18" charset="0"/>
                          <a:cs typeface="Times New Roman" panose="02020603050405020304" pitchFamily="18" charset="0"/>
                        </a:rPr>
                        <a:t>Example</a:t>
                      </a:r>
                      <a:endParaRPr lang="en-US" dirty="0"/>
                    </a:p>
                  </a:txBody>
                  <a:tcPr/>
                </a:tc>
                <a:extLst>
                  <a:ext uri="{0D108BD9-81ED-4DB2-BD59-A6C34878D82A}">
                    <a16:rowId xmlns:a16="http://schemas.microsoft.com/office/drawing/2014/main" val="1164497317"/>
                  </a:ext>
                </a:extLst>
              </a:tr>
              <a:tr h="1005088">
                <a:tc>
                  <a:txBody>
                    <a:bodyPr/>
                    <a:lstStyle/>
                    <a:p>
                      <a:r>
                        <a:rPr lang="en-US" sz="1800" b="1" dirty="0">
                          <a:latin typeface="Times New Roman" panose="02020603050405020304" pitchFamily="18" charset="0"/>
                          <a:cs typeface="Times New Roman" panose="02020603050405020304" pitchFamily="18" charset="0"/>
                        </a:rPr>
                        <a:t>Authority</a:t>
                      </a:r>
                      <a:endParaRPr lang="en-US" dirty="0"/>
                    </a:p>
                  </a:txBody>
                  <a:tcPr/>
                </a:tc>
                <a:tc>
                  <a:txBody>
                    <a:bodyPr/>
                    <a:lstStyle/>
                    <a:p>
                      <a:r>
                        <a:rPr lang="en-US" sz="1800" dirty="0">
                          <a:latin typeface="Times New Roman" panose="02020603050405020304" pitchFamily="18" charset="0"/>
                          <a:cs typeface="Times New Roman" panose="02020603050405020304" pitchFamily="18" charset="0"/>
                        </a:rPr>
                        <a:t>To impersonate an authority figure or falsely cite their authority</a:t>
                      </a:r>
                    </a:p>
                    <a:p>
                      <a:endParaRPr lang="en-US" dirty="0"/>
                    </a:p>
                  </a:txBody>
                  <a:tcPr/>
                </a:tc>
                <a:tc>
                  <a:txBody>
                    <a:bodyPr/>
                    <a:lstStyle/>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“I’m the CEO calling.”</a:t>
                      </a:r>
                    </a:p>
                  </a:txBody>
                  <a:tcPr/>
                </a:tc>
                <a:extLst>
                  <a:ext uri="{0D108BD9-81ED-4DB2-BD59-A6C34878D82A}">
                    <a16:rowId xmlns:a16="http://schemas.microsoft.com/office/drawing/2014/main" val="1817564361"/>
                  </a:ext>
                </a:extLst>
              </a:tr>
              <a:tr h="1005088">
                <a:tc>
                  <a:txBody>
                    <a:bodyPr/>
                    <a:lstStyle/>
                    <a:p>
                      <a:r>
                        <a:rPr lang="en-US" sz="1800" b="1" dirty="0">
                          <a:latin typeface="Times New Roman" panose="02020603050405020304" pitchFamily="18" charset="0"/>
                          <a:cs typeface="Times New Roman" panose="02020603050405020304" pitchFamily="18" charset="0"/>
                        </a:rPr>
                        <a:t>Intimidation</a:t>
                      </a:r>
                      <a:endParaRPr lang="en-US" dirty="0"/>
                    </a:p>
                  </a:txBody>
                  <a:tcPr/>
                </a:tc>
                <a:tc>
                  <a:txBody>
                    <a:bodyPr/>
                    <a:lstStyle/>
                    <a:p>
                      <a:r>
                        <a:rPr lang="en-US" sz="1800" dirty="0">
                          <a:latin typeface="Times New Roman" panose="02020603050405020304" pitchFamily="18" charset="0"/>
                          <a:cs typeface="Times New Roman" panose="02020603050405020304" pitchFamily="18" charset="0"/>
                        </a:rPr>
                        <a:t>To frighten and coerce by threat</a:t>
                      </a:r>
                      <a:endParaRPr lang="en-US" dirty="0"/>
                    </a:p>
                  </a:txBody>
                  <a:tcPr/>
                </a:tc>
                <a:tc>
                  <a:txBody>
                    <a:bodyPr/>
                    <a:lstStyle/>
                    <a:p>
                      <a:r>
                        <a:rPr lang="en-US" sz="1800" dirty="0">
                          <a:latin typeface="Times New Roman" panose="02020603050405020304" pitchFamily="18" charset="0"/>
                          <a:cs typeface="Times New Roman" panose="02020603050405020304" pitchFamily="18" charset="0"/>
                        </a:rPr>
                        <a:t>“If you don’t reset my password, I will call your supervisor.”</a:t>
                      </a:r>
                    </a:p>
                    <a:p>
                      <a:endParaRPr lang="en-US" dirty="0"/>
                    </a:p>
                  </a:txBody>
                  <a:tcPr/>
                </a:tc>
                <a:extLst>
                  <a:ext uri="{0D108BD9-81ED-4DB2-BD59-A6C34878D82A}">
                    <a16:rowId xmlns:a16="http://schemas.microsoft.com/office/drawing/2014/main" val="2598170981"/>
                  </a:ext>
                </a:extLst>
              </a:tr>
              <a:tr h="773145">
                <a:tc>
                  <a:txBody>
                    <a:bodyPr/>
                    <a:lstStyle/>
                    <a:p>
                      <a:r>
                        <a:rPr lang="en-US" sz="1800" b="1" dirty="0">
                          <a:latin typeface="Times New Roman" panose="02020603050405020304" pitchFamily="18" charset="0"/>
                          <a:cs typeface="Times New Roman" panose="02020603050405020304" pitchFamily="18" charset="0"/>
                        </a:rPr>
                        <a:t>Consensus</a:t>
                      </a:r>
                      <a:endParaRPr lang="en-US" dirty="0"/>
                    </a:p>
                  </a:txBody>
                  <a:tcPr/>
                </a:tc>
                <a:tc>
                  <a:txBody>
                    <a:bodyPr/>
                    <a:lstStyle/>
                    <a:p>
                      <a:r>
                        <a:rPr lang="en-US" sz="1800" dirty="0">
                          <a:latin typeface="Times New Roman" panose="02020603050405020304" pitchFamily="18" charset="0"/>
                          <a:cs typeface="Times New Roman" panose="02020603050405020304" pitchFamily="18" charset="0"/>
                        </a:rPr>
                        <a:t>To influence by what others do </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“I called last week, and your colleague</a:t>
                      </a:r>
                    </a:p>
                    <a:p>
                      <a:endParaRPr lang="en-US" dirty="0"/>
                    </a:p>
                  </a:txBody>
                  <a:tcPr/>
                </a:tc>
                <a:extLst>
                  <a:ext uri="{0D108BD9-81ED-4DB2-BD59-A6C34878D82A}">
                    <a16:rowId xmlns:a16="http://schemas.microsoft.com/office/drawing/2014/main" val="2435053974"/>
                  </a:ext>
                </a:extLst>
              </a:tr>
            </a:tbl>
          </a:graphicData>
        </a:graphic>
      </p:graphicFrame>
      <p:sp>
        <p:nvSpPr>
          <p:cNvPr id="12" name="object 2"/>
          <p:cNvSpPr/>
          <p:nvPr/>
        </p:nvSpPr>
        <p:spPr>
          <a:xfrm>
            <a:off x="819872" y="1236070"/>
            <a:ext cx="10139072" cy="1049930"/>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These are listed in Table with the example of an attacker pretending to be the chief executive officer (CEO) calling the organization’s help desk to reset a password.</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516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38</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Psychological Principles</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object 2"/>
          <p:cNvSpPr/>
          <p:nvPr/>
        </p:nvSpPr>
        <p:spPr>
          <a:xfrm>
            <a:off x="819872" y="1236070"/>
            <a:ext cx="10139072" cy="3973239"/>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Another technique is called </a:t>
            </a:r>
            <a:r>
              <a:rPr lang="en-US" sz="2400" b="1" dirty="0">
                <a:latin typeface="Times New Roman" panose="02020603050405020304" pitchFamily="18" charset="0"/>
                <a:cs typeface="Times New Roman" panose="02020603050405020304" pitchFamily="18" charset="0"/>
              </a:rPr>
              <a:t>prepending</a:t>
            </a:r>
            <a:r>
              <a:rPr lang="en-US" sz="2400" dirty="0">
                <a:latin typeface="Times New Roman" panose="02020603050405020304" pitchFamily="18" charset="0"/>
                <a:cs typeface="Times New Roman" panose="02020603050405020304" pitchFamily="18" charset="0"/>
              </a:rPr>
              <a:t>, which is </a:t>
            </a:r>
            <a:r>
              <a:rPr lang="en-US" sz="2400" dirty="0">
                <a:solidFill>
                  <a:srgbClr val="FF0000"/>
                </a:solidFill>
                <a:latin typeface="Times New Roman" panose="02020603050405020304" pitchFamily="18" charset="0"/>
                <a:cs typeface="Times New Roman" panose="02020603050405020304" pitchFamily="18" charset="0"/>
              </a:rPr>
              <a:t>influencing the subject </a:t>
            </a:r>
            <a:r>
              <a:rPr lang="en-US" sz="2400" u="sng" dirty="0">
                <a:latin typeface="Times New Roman" panose="02020603050405020304" pitchFamily="18" charset="0"/>
                <a:cs typeface="Times New Roman" panose="02020603050405020304" pitchFamily="18" charset="0"/>
              </a:rPr>
              <a:t>before</a:t>
            </a:r>
            <a:r>
              <a:rPr lang="en-US" sz="2400" dirty="0">
                <a:latin typeface="Times New Roman" panose="02020603050405020304" pitchFamily="18" charset="0"/>
                <a:cs typeface="Times New Roman" panose="02020603050405020304" pitchFamily="18" charset="0"/>
              </a:rPr>
              <a:t> the </a:t>
            </a:r>
            <a:r>
              <a:rPr lang="en-US" sz="2400" u="sng" dirty="0">
                <a:latin typeface="Times New Roman" panose="02020603050405020304" pitchFamily="18" charset="0"/>
                <a:cs typeface="Times New Roman" panose="02020603050405020304" pitchFamily="18" charset="0"/>
              </a:rPr>
              <a:t>event occurs</a:t>
            </a:r>
            <a:r>
              <a:rPr lang="en-US" sz="2400" dirty="0">
                <a:latin typeface="Times New Roman" panose="02020603050405020304" pitchFamily="18" charset="0"/>
                <a:cs typeface="Times New Roman" panose="02020603050405020304" pitchFamily="18" charset="0"/>
              </a:rPr>
              <a:t>. A common general example is a preview of a soon-to-be-released movie that begins with the statement, “The best film you will see this year!” By starting with the desired outcome (“The best film”), the statement influences the listener to think that way.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Threat actors use prepending with social engineering attacks, such as including the desired outcome in a statement that uses the urgency principle, as in “You need to reset my password immediately because my meeting with the board starts in five minutes.”</a:t>
            </a:r>
          </a:p>
        </p:txBody>
      </p:sp>
    </p:spTree>
    <p:extLst>
      <p:ext uri="{BB962C8B-B14F-4D97-AF65-F5344CB8AC3E}">
        <p14:creationId xmlns:p14="http://schemas.microsoft.com/office/powerpoint/2010/main" val="39437149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39</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Psychological Principles</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object 2"/>
          <p:cNvSpPr/>
          <p:nvPr/>
        </p:nvSpPr>
        <p:spPr>
          <a:xfrm>
            <a:off x="819872" y="1236071"/>
            <a:ext cx="10028237" cy="4458147"/>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Because many of the psychological approaches involve person-to-person contact, attackers use a variety of techniques to gain trust. For example:</a:t>
            </a:r>
          </a:p>
          <a:p>
            <a:pPr marL="342900" indent="-342900">
              <a:buClr>
                <a:srgbClr val="FF0000"/>
              </a:buClr>
              <a:buFont typeface="Wingdings" panose="05000000000000000000" pitchFamily="2" charset="2"/>
              <a:buChar char="Ø"/>
            </a:pPr>
            <a:r>
              <a:rPr lang="en-US" sz="2400" i="1" dirty="0">
                <a:latin typeface="Times New Roman" panose="02020603050405020304" pitchFamily="18" charset="0"/>
                <a:cs typeface="Times New Roman" panose="02020603050405020304" pitchFamily="18" charset="0"/>
              </a:rPr>
              <a:t>Provide a reason</a:t>
            </a:r>
            <a:r>
              <a:rPr lang="en-US" sz="2400" dirty="0">
                <a:latin typeface="Times New Roman" panose="02020603050405020304" pitchFamily="18" charset="0"/>
                <a:cs typeface="Times New Roman" panose="02020603050405020304" pitchFamily="18" charset="0"/>
              </a:rPr>
              <a:t>. Many social engineering threat actors are careful to add a reason along with their request. Giving a rationalization and using the word “because” makes it more likely the victim will provide the information.</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For example, </a:t>
            </a:r>
            <a:r>
              <a:rPr lang="en-US" sz="2400" i="1" dirty="0">
                <a:latin typeface="Times New Roman" panose="02020603050405020304" pitchFamily="18" charset="0"/>
                <a:cs typeface="Times New Roman" panose="02020603050405020304" pitchFamily="18" charset="0"/>
              </a:rPr>
              <a:t>I was asked to call you because the director’s office manager is out sick today.</a:t>
            </a:r>
          </a:p>
          <a:p>
            <a:pPr marL="342900" indent="-342900">
              <a:buClr>
                <a:srgbClr val="FF0000"/>
              </a:buClr>
              <a:buFont typeface="Wingdings" panose="05000000000000000000" pitchFamily="2" charset="2"/>
              <a:buChar char="Ø"/>
            </a:pPr>
            <a:r>
              <a:rPr lang="en-US" sz="2400" i="1" dirty="0">
                <a:latin typeface="Times New Roman" panose="02020603050405020304" pitchFamily="18" charset="0"/>
                <a:cs typeface="Times New Roman" panose="02020603050405020304" pitchFamily="18" charset="0"/>
              </a:rPr>
              <a:t>Project confidence</a:t>
            </a:r>
            <a:r>
              <a:rPr lang="en-US" sz="2400" dirty="0">
                <a:latin typeface="Times New Roman" panose="02020603050405020304" pitchFamily="18" charset="0"/>
                <a:cs typeface="Times New Roman" panose="02020603050405020304" pitchFamily="18" charset="0"/>
              </a:rPr>
              <a:t>. A threat agent is unlikely to generate suspicion if she enters a restricted area by calmly walking through the building as if she knows exactly where she going (without looking at signs, down hallways, or reading door labels) and even greeting people she sees with a friendly </a:t>
            </a:r>
            <a:r>
              <a:rPr lang="en-US" sz="2400" i="1" dirty="0">
                <a:latin typeface="Times New Roman" panose="02020603050405020304" pitchFamily="18" charset="0"/>
                <a:cs typeface="Times New Roman" panose="02020603050405020304" pitchFamily="18" charset="0"/>
              </a:rPr>
              <a:t>Hi, how are you doing?</a:t>
            </a:r>
          </a:p>
          <a:p>
            <a:pPr>
              <a:buClr>
                <a:srgbClr val="FF0000"/>
              </a:buCl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73037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40</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Psychological Principles</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object 2"/>
          <p:cNvSpPr/>
          <p:nvPr/>
        </p:nvSpPr>
        <p:spPr>
          <a:xfrm>
            <a:off x="819872" y="1407680"/>
            <a:ext cx="10028237" cy="4250328"/>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i="1" dirty="0">
                <a:latin typeface="Times New Roman" panose="02020603050405020304" pitchFamily="18" charset="0"/>
                <a:cs typeface="Times New Roman" panose="02020603050405020304" pitchFamily="18" charset="0"/>
              </a:rPr>
              <a:t>Use evasion and diversion</a:t>
            </a:r>
            <a:r>
              <a:rPr lang="en-US" sz="2400" dirty="0">
                <a:latin typeface="Times New Roman" panose="02020603050405020304" pitchFamily="18" charset="0"/>
                <a:cs typeface="Times New Roman" panose="02020603050405020304" pitchFamily="18" charset="0"/>
              </a:rPr>
              <a:t>. When challenged, threat agents might evade a question by giving a vague or irrelevant answer. They could also feign innocence or confusion, or keep denying allegations, until the victim eventually believes his suspicions are wrong. Sometimes a threat agent can resort to anger and cause the victim to drop the challenge. </a:t>
            </a:r>
            <a:r>
              <a:rPr lang="en-US" sz="2400" i="1" dirty="0">
                <a:latin typeface="Times New Roman" panose="02020603050405020304" pitchFamily="18" charset="0"/>
                <a:cs typeface="Times New Roman" panose="02020603050405020304" pitchFamily="18" charset="0"/>
              </a:rPr>
              <a:t>Who are you to ask that? Connect me with your supervisor immediately!</a:t>
            </a:r>
          </a:p>
          <a:p>
            <a:pPr marL="342900" indent="-342900">
              <a:buClr>
                <a:srgbClr val="FF0000"/>
              </a:buClr>
              <a:buFont typeface="Wingdings" panose="05000000000000000000" pitchFamily="2" charset="2"/>
              <a:buChar char="Ø"/>
            </a:pPr>
            <a:r>
              <a:rPr lang="en-US" sz="2400" i="1" dirty="0">
                <a:latin typeface="Times New Roman" panose="02020603050405020304" pitchFamily="18" charset="0"/>
                <a:cs typeface="Times New Roman" panose="02020603050405020304" pitchFamily="18" charset="0"/>
              </a:rPr>
              <a:t>Make them laugh</a:t>
            </a:r>
            <a:r>
              <a:rPr lang="en-US" sz="2400" dirty="0">
                <a:latin typeface="Times New Roman" panose="02020603050405020304" pitchFamily="18" charset="0"/>
                <a:cs typeface="Times New Roman" panose="02020603050405020304" pitchFamily="18" charset="0"/>
              </a:rPr>
              <a:t>. Humor is an excellent tool to put people at ease and to develop a sense of trust. </a:t>
            </a:r>
            <a:r>
              <a:rPr lang="en-US" sz="2400" i="1" dirty="0">
                <a:latin typeface="Times New Roman" panose="02020603050405020304" pitchFamily="18" charset="0"/>
                <a:cs typeface="Times New Roman" panose="02020603050405020304" pitchFamily="18" charset="0"/>
              </a:rPr>
              <a:t>I can’t believe I left my badge in my office again! You know, some mistakes are too much fun to make only once!</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Social engineering psychological approaches often involve impersonation, phishing, redirection, spam, hoaxes, and watering hole attacks.</a:t>
            </a:r>
          </a:p>
        </p:txBody>
      </p:sp>
    </p:spTree>
    <p:extLst>
      <p:ext uri="{BB962C8B-B14F-4D97-AF65-F5344CB8AC3E}">
        <p14:creationId xmlns:p14="http://schemas.microsoft.com/office/powerpoint/2010/main" val="2018222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41</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Impersonation</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object 2"/>
          <p:cNvSpPr/>
          <p:nvPr/>
        </p:nvSpPr>
        <p:spPr>
          <a:xfrm>
            <a:off x="819872" y="1407680"/>
            <a:ext cx="10028237" cy="4064865"/>
          </a:xfrm>
          <a:prstGeom prst="rect">
            <a:avLst/>
          </a:prstGeom>
          <a:blipFill>
            <a:blip r:embed="rId4"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Impersonation Social engineering impersonation (also called identity fraud) is masquerading as a real or fictitious character and then playing the role of that person with a victim.</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For example, an </a:t>
            </a:r>
            <a:r>
              <a:rPr lang="en-US" sz="2200" dirty="0">
                <a:solidFill>
                  <a:srgbClr val="FF0000"/>
                </a:solidFill>
                <a:latin typeface="Times New Roman" panose="02020603050405020304" pitchFamily="18" charset="0"/>
                <a:cs typeface="Times New Roman" panose="02020603050405020304" pitchFamily="18" charset="0"/>
              </a:rPr>
              <a:t>attacker could impersonate a help desk support </a:t>
            </a:r>
            <a:r>
              <a:rPr lang="en-US" sz="2200" dirty="0">
                <a:latin typeface="Times New Roman" panose="02020603050405020304" pitchFamily="18" charset="0"/>
                <a:cs typeface="Times New Roman" panose="02020603050405020304" pitchFamily="18" charset="0"/>
              </a:rPr>
              <a:t>technician who calls the victim, pretends that there is a problem with the network, and asks for her username and password to reset the account. Sometimes the goal of the impersonation is to obtain private information (pretexting).</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impersonate real people, the threat actor must know as much about them as possible to appear genuine. This type of reconnaissance is called credential harvesting and is typically carried out by Internet and social media searches.</a:t>
            </a:r>
          </a:p>
          <a:p>
            <a:pPr lvl="1">
              <a:buClr>
                <a:srgbClr val="FF0000"/>
              </a:buClr>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62392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42</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Phishing</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object 2"/>
          <p:cNvSpPr/>
          <p:nvPr/>
        </p:nvSpPr>
        <p:spPr>
          <a:xfrm>
            <a:off x="819872" y="1407680"/>
            <a:ext cx="10028237" cy="4549775"/>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One of the most common forms of social engineering is phishing.</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Phishing </a:t>
            </a:r>
            <a:r>
              <a:rPr lang="en-US" sz="2400" dirty="0">
                <a:latin typeface="Times New Roman" panose="02020603050405020304" pitchFamily="18" charset="0"/>
                <a:cs typeface="Times New Roman" panose="02020603050405020304" pitchFamily="18" charset="0"/>
              </a:rPr>
              <a:t>is </a:t>
            </a:r>
            <a:r>
              <a:rPr lang="en-US" sz="2400" dirty="0">
                <a:solidFill>
                  <a:srgbClr val="FF0000"/>
                </a:solidFill>
                <a:latin typeface="Times New Roman" panose="02020603050405020304" pitchFamily="18" charset="0"/>
                <a:cs typeface="Times New Roman" panose="02020603050405020304" pitchFamily="18" charset="0"/>
              </a:rPr>
              <a:t>sending an email message </a:t>
            </a:r>
            <a:r>
              <a:rPr lang="en-US" sz="2400" dirty="0">
                <a:latin typeface="Times New Roman" panose="02020603050405020304" pitchFamily="18" charset="0"/>
                <a:cs typeface="Times New Roman" panose="02020603050405020304" pitchFamily="18" charset="0"/>
              </a:rPr>
              <a:t>or </a:t>
            </a:r>
            <a:r>
              <a:rPr lang="en-US" sz="2400" u="sng" dirty="0">
                <a:latin typeface="Times New Roman" panose="02020603050405020304" pitchFamily="18" charset="0"/>
                <a:cs typeface="Times New Roman" panose="02020603050405020304" pitchFamily="18" charset="0"/>
              </a:rPr>
              <a:t>displaying a web announcement </a:t>
            </a:r>
            <a:r>
              <a:rPr lang="en-US" sz="2400" dirty="0">
                <a:latin typeface="Times New Roman" panose="02020603050405020304" pitchFamily="18" charset="0"/>
                <a:cs typeface="Times New Roman" panose="02020603050405020304" pitchFamily="18" charset="0"/>
              </a:rPr>
              <a:t>that falsely claims to be a </a:t>
            </a:r>
            <a:r>
              <a:rPr lang="en-US" sz="2400" u="sng" dirty="0">
                <a:latin typeface="Times New Roman" panose="02020603050405020304" pitchFamily="18" charset="0"/>
                <a:cs typeface="Times New Roman" panose="02020603050405020304" pitchFamily="18" charset="0"/>
              </a:rPr>
              <a:t>legitimate enterprise </a:t>
            </a:r>
            <a:r>
              <a:rPr lang="en-US" sz="2400" dirty="0">
                <a:latin typeface="Times New Roman" panose="02020603050405020304" pitchFamily="18" charset="0"/>
                <a:cs typeface="Times New Roman" panose="02020603050405020304" pitchFamily="18" charset="0"/>
              </a:rPr>
              <a:t>in an attempt to trick the user into surrendering private information or taking action. </a:t>
            </a:r>
            <a:r>
              <a:rPr lang="en-US" sz="2400" dirty="0">
                <a:solidFill>
                  <a:srgbClr val="FF0000"/>
                </a:solidFill>
                <a:latin typeface="Times New Roman" panose="02020603050405020304" pitchFamily="18" charset="0"/>
                <a:cs typeface="Times New Roman" panose="02020603050405020304" pitchFamily="18" charset="0"/>
              </a:rPr>
              <a:t>Users are asked to respond to an email message</a:t>
            </a:r>
            <a:r>
              <a:rPr lang="en-US" sz="2400" dirty="0">
                <a:latin typeface="Times New Roman" panose="02020603050405020304" pitchFamily="18" charset="0"/>
                <a:cs typeface="Times New Roman" panose="02020603050405020304" pitchFamily="18" charset="0"/>
              </a:rPr>
              <a:t> or are directed to a website where they are requested to update personal information, such as passwords, credit card numbers, Social Security numbers, bank account numbers, or other information.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However, the email or website is actually an imposter site set up </a:t>
            </a:r>
            <a:r>
              <a:rPr lang="en-US" sz="2400" u="sng" dirty="0">
                <a:latin typeface="Times New Roman" panose="02020603050405020304" pitchFamily="18" charset="0"/>
                <a:cs typeface="Times New Roman" panose="02020603050405020304" pitchFamily="18" charset="0"/>
              </a:rPr>
              <a:t>to steal the information that the user enters</a:t>
            </a:r>
            <a:r>
              <a:rPr lang="en-US" sz="2400" dirty="0">
                <a:latin typeface="Times New Roman" panose="02020603050405020304" pitchFamily="18" charset="0"/>
                <a:cs typeface="Times New Roman" panose="02020603050405020304" pitchFamily="18" charset="0"/>
              </a:rPr>
              <a:t>. Users may also receive a fictitious overdue invoice that demands immediate payment and, in haste, make the payment (called an </a:t>
            </a:r>
            <a:r>
              <a:rPr lang="en-US" sz="2400" b="1" dirty="0">
                <a:latin typeface="Times New Roman" panose="02020603050405020304" pitchFamily="18" charset="0"/>
                <a:cs typeface="Times New Roman" panose="02020603050405020304" pitchFamily="18" charset="0"/>
              </a:rPr>
              <a:t>invoice scam</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020613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43</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Phishing</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object 2"/>
          <p:cNvSpPr/>
          <p:nvPr/>
        </p:nvSpPr>
        <p:spPr>
          <a:xfrm>
            <a:off x="819872" y="2057767"/>
            <a:ext cx="10069801" cy="3108902"/>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Whereas at one time phishing messages were easy to spot due to misspelled</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words and obvious counterfeit images, that is no longer the case. In fact, one reason that phishing is so successful today is that the emails and the fake websites are difficult to distinguish from legitimate ones: logos, color schemes, and wording seem to be almost identical.</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Given Figure illustrates an actual phishing email message that looks like it came from a legitimate source.</a:t>
            </a:r>
          </a:p>
        </p:txBody>
      </p:sp>
    </p:spTree>
    <p:extLst>
      <p:ext uri="{BB962C8B-B14F-4D97-AF65-F5344CB8AC3E}">
        <p14:creationId xmlns:p14="http://schemas.microsoft.com/office/powerpoint/2010/main" val="1560574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44</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Phishing</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3238696" y="1407680"/>
            <a:ext cx="4833257" cy="4328102"/>
          </a:xfrm>
          <a:prstGeom prst="rect">
            <a:avLst/>
          </a:prstGeom>
        </p:spPr>
      </p:pic>
      <p:sp>
        <p:nvSpPr>
          <p:cNvPr id="10" name="object 2"/>
          <p:cNvSpPr/>
          <p:nvPr/>
        </p:nvSpPr>
        <p:spPr>
          <a:xfrm>
            <a:off x="4022941" y="5839421"/>
            <a:ext cx="3264765" cy="412579"/>
          </a:xfrm>
          <a:prstGeom prst="rect">
            <a:avLst/>
          </a:prstGeom>
          <a:blipFill>
            <a:blip r:embed="rId4" cstate="print"/>
            <a:stretch>
              <a:fillRect/>
            </a:stretch>
          </a:blipFill>
        </p:spPr>
        <p:txBody>
          <a:bodyPr wrap="square" lIns="0" tIns="0" rIns="0" bIns="0" rtlCol="0"/>
          <a:lstStyle/>
          <a:p>
            <a:r>
              <a:rPr lang="en-US" sz="2400" b="1" dirty="0">
                <a:latin typeface="Times New Roman" panose="02020603050405020304" pitchFamily="18" charset="0"/>
                <a:cs typeface="Times New Roman" panose="02020603050405020304" pitchFamily="18" charset="0"/>
              </a:rPr>
              <a:t>Phishing email message</a:t>
            </a:r>
          </a:p>
        </p:txBody>
      </p:sp>
    </p:spTree>
    <p:extLst>
      <p:ext uri="{BB962C8B-B14F-4D97-AF65-F5344CB8AC3E}">
        <p14:creationId xmlns:p14="http://schemas.microsoft.com/office/powerpoint/2010/main" val="28641417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45</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Phishing Attacks</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object 2"/>
          <p:cNvSpPr/>
          <p:nvPr/>
        </p:nvSpPr>
        <p:spPr>
          <a:xfrm>
            <a:off x="819873" y="1407681"/>
            <a:ext cx="10222200" cy="4844320"/>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following are several variations on phishing attacks: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Spear phishing. </a:t>
            </a:r>
            <a:r>
              <a:rPr lang="en-US" sz="2400" dirty="0">
                <a:latin typeface="Times New Roman" panose="02020603050405020304" pitchFamily="18" charset="0"/>
                <a:cs typeface="Times New Roman" panose="02020603050405020304" pitchFamily="18" charset="0"/>
              </a:rPr>
              <a:t>Whereas phishing involves sending millions of generic email messages to users, </a:t>
            </a:r>
            <a:r>
              <a:rPr lang="en-US" sz="2400" b="1" dirty="0">
                <a:latin typeface="Times New Roman" panose="02020603050405020304" pitchFamily="18" charset="0"/>
                <a:cs typeface="Times New Roman" panose="02020603050405020304" pitchFamily="18" charset="0"/>
              </a:rPr>
              <a:t>spear phishing </a:t>
            </a:r>
            <a:r>
              <a:rPr lang="en-US" sz="2400" dirty="0">
                <a:latin typeface="Times New Roman" panose="02020603050405020304" pitchFamily="18" charset="0"/>
                <a:cs typeface="Times New Roman" panose="02020603050405020304" pitchFamily="18" charset="0"/>
              </a:rPr>
              <a:t>targets specific users. The </a:t>
            </a:r>
            <a:r>
              <a:rPr lang="en-US" sz="2400" dirty="0">
                <a:solidFill>
                  <a:srgbClr val="FF0000"/>
                </a:solidFill>
                <a:latin typeface="Times New Roman" panose="02020603050405020304" pitchFamily="18" charset="0"/>
                <a:cs typeface="Times New Roman" panose="02020603050405020304" pitchFamily="18" charset="0"/>
              </a:rPr>
              <a:t>emails used in spear phishing are customized to the recipients</a:t>
            </a:r>
            <a:r>
              <a:rPr lang="en-US" sz="2400" dirty="0">
                <a:latin typeface="Times New Roman" panose="02020603050405020304" pitchFamily="18" charset="0"/>
                <a:cs typeface="Times New Roman" panose="02020603050405020304" pitchFamily="18" charset="0"/>
              </a:rPr>
              <a:t>, including their names and personal information, to make the </a:t>
            </a:r>
            <a:r>
              <a:rPr lang="en-US" sz="2400" u="sng" dirty="0">
                <a:latin typeface="Times New Roman" panose="02020603050405020304" pitchFamily="18" charset="0"/>
                <a:cs typeface="Times New Roman" panose="02020603050405020304" pitchFamily="18" charset="0"/>
              </a:rPr>
              <a:t>message appear legitimate</a:t>
            </a:r>
            <a:r>
              <a:rPr lang="en-US" sz="2400" dirty="0">
                <a:latin typeface="Times New Roman" panose="02020603050405020304" pitchFamily="18" charset="0"/>
                <a:cs typeface="Times New Roman" panose="02020603050405020304" pitchFamily="18" charset="0"/>
              </a:rPr>
              <a:t>.</a:t>
            </a:r>
          </a:p>
          <a:p>
            <a:pPr marL="342900" indent="-342900">
              <a:buClr>
                <a:srgbClr val="FF0000"/>
              </a:buClr>
              <a:buFont typeface="Wingdings" panose="05000000000000000000" pitchFamily="2" charset="2"/>
              <a:buChar char="Ø"/>
            </a:pPr>
            <a:r>
              <a:rPr lang="en-US" sz="2400" i="1" dirty="0">
                <a:latin typeface="Times New Roman" panose="02020603050405020304" pitchFamily="18" charset="0"/>
                <a:cs typeface="Times New Roman" panose="02020603050405020304" pitchFamily="18" charset="0"/>
              </a:rPr>
              <a:t>Whaling. </a:t>
            </a:r>
            <a:r>
              <a:rPr lang="en-US" sz="2400" dirty="0">
                <a:latin typeface="Times New Roman" panose="02020603050405020304" pitchFamily="18" charset="0"/>
                <a:cs typeface="Times New Roman" panose="02020603050405020304" pitchFamily="18" charset="0"/>
              </a:rPr>
              <a:t>One type of spear phishing is </a:t>
            </a:r>
            <a:r>
              <a:rPr lang="en-US" sz="2400" b="1" dirty="0">
                <a:latin typeface="Times New Roman" panose="02020603050405020304" pitchFamily="18" charset="0"/>
                <a:cs typeface="Times New Roman" panose="02020603050405020304" pitchFamily="18" charset="0"/>
              </a:rPr>
              <a:t>whaling</a:t>
            </a:r>
            <a:r>
              <a:rPr lang="en-US" sz="2400" dirty="0">
                <a:latin typeface="Times New Roman" panose="02020603050405020304" pitchFamily="18" charset="0"/>
                <a:cs typeface="Times New Roman" panose="02020603050405020304" pitchFamily="18" charset="0"/>
              </a:rPr>
              <a:t>. Instead of going after the “smaller fish,” whaling </a:t>
            </a:r>
            <a:r>
              <a:rPr lang="en-US" sz="2400" dirty="0">
                <a:solidFill>
                  <a:srgbClr val="FF0000"/>
                </a:solidFill>
                <a:latin typeface="Times New Roman" panose="02020603050405020304" pitchFamily="18" charset="0"/>
                <a:cs typeface="Times New Roman" panose="02020603050405020304" pitchFamily="18" charset="0"/>
              </a:rPr>
              <a:t>targets the “big fish</a:t>
            </a:r>
            <a:r>
              <a:rPr lang="en-US" sz="2400" dirty="0">
                <a:latin typeface="Times New Roman" panose="02020603050405020304" pitchFamily="18" charset="0"/>
                <a:cs typeface="Times New Roman" panose="02020603050405020304" pitchFamily="18" charset="0"/>
              </a:rPr>
              <a:t>”—namely, wealthy individuals or senior executives within a business who typically have large sums of money in a bank account that an attacker could access if the attack is successful. By focusing on this smaller group, the attacker can invest more time in the attack and finely tune the message to achieve the highest likelihood of success</a:t>
            </a:r>
            <a:r>
              <a:rPr lang="en-US" dirty="0"/>
              <a:t>.</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91945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46</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Phishing Attacks</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object 2"/>
          <p:cNvSpPr/>
          <p:nvPr/>
        </p:nvSpPr>
        <p:spPr>
          <a:xfrm>
            <a:off x="819873" y="1407681"/>
            <a:ext cx="10152927" cy="4452792"/>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i="1" dirty="0">
                <a:latin typeface="Times New Roman" panose="02020603050405020304" pitchFamily="18" charset="0"/>
                <a:cs typeface="Times New Roman" panose="02020603050405020304" pitchFamily="18" charset="0"/>
              </a:rPr>
              <a:t>Vishing. </a:t>
            </a:r>
            <a:r>
              <a:rPr lang="en-US" sz="2400" dirty="0">
                <a:latin typeface="Times New Roman" panose="02020603050405020304" pitchFamily="18" charset="0"/>
                <a:cs typeface="Times New Roman" panose="02020603050405020304" pitchFamily="18" charset="0"/>
              </a:rPr>
              <a:t>Instead of using email to contact the potential victim, </a:t>
            </a:r>
            <a:r>
              <a:rPr lang="en-US" sz="2400" dirty="0">
                <a:solidFill>
                  <a:srgbClr val="FF0000"/>
                </a:solidFill>
                <a:latin typeface="Times New Roman" panose="02020603050405020304" pitchFamily="18" charset="0"/>
                <a:cs typeface="Times New Roman" panose="02020603050405020304" pitchFamily="18" charset="0"/>
              </a:rPr>
              <a:t>attackers can use phone calls</a:t>
            </a:r>
            <a:r>
              <a:rPr lang="en-US" sz="2400" dirty="0">
                <a:latin typeface="Times New Roman" panose="02020603050405020304" pitchFamily="18" charset="0"/>
                <a:cs typeface="Times New Roman" panose="02020603050405020304" pitchFamily="18" charset="0"/>
              </a:rPr>
              <a:t>. Known as </a:t>
            </a:r>
            <a:r>
              <a:rPr lang="en-US" sz="2400" b="1" dirty="0">
                <a:latin typeface="Times New Roman" panose="02020603050405020304" pitchFamily="18" charset="0"/>
                <a:cs typeface="Times New Roman" panose="02020603050405020304" pitchFamily="18" charset="0"/>
              </a:rPr>
              <a:t>vishing </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v</a:t>
            </a:r>
            <a:r>
              <a:rPr lang="en-US" sz="2400" dirty="0">
                <a:latin typeface="Times New Roman" panose="02020603050405020304" pitchFamily="18" charset="0"/>
                <a:cs typeface="Times New Roman" panose="02020603050405020304" pitchFamily="18" charset="0"/>
              </a:rPr>
              <a:t>oice ph</a:t>
            </a:r>
            <a:r>
              <a:rPr lang="en-US" sz="2400" i="1" dirty="0">
                <a:latin typeface="Times New Roman" panose="02020603050405020304" pitchFamily="18" charset="0"/>
                <a:cs typeface="Times New Roman" panose="02020603050405020304" pitchFamily="18" charset="0"/>
              </a:rPr>
              <a:t>ishing</a:t>
            </a:r>
            <a:r>
              <a:rPr lang="en-US" sz="2400" dirty="0">
                <a:latin typeface="Times New Roman" panose="02020603050405020304" pitchFamily="18" charset="0"/>
                <a:cs typeface="Times New Roman" panose="02020603050405020304" pitchFamily="18" charset="0"/>
              </a:rPr>
              <a:t>), an attacker calls a victim who, upon answering, </a:t>
            </a:r>
            <a:r>
              <a:rPr lang="en-US" sz="2400" u="sng" dirty="0">
                <a:latin typeface="Times New Roman" panose="02020603050405020304" pitchFamily="18" charset="0"/>
                <a:cs typeface="Times New Roman" panose="02020603050405020304" pitchFamily="18" charset="0"/>
              </a:rPr>
              <a:t>hears a recorded message </a:t>
            </a:r>
            <a:r>
              <a:rPr lang="en-US" sz="2400" dirty="0">
                <a:latin typeface="Times New Roman" panose="02020603050405020304" pitchFamily="18" charset="0"/>
                <a:cs typeface="Times New Roman" panose="02020603050405020304" pitchFamily="18" charset="0"/>
              </a:rPr>
              <a:t>that pretends to be from the user’s bank stating that her credit card has experienced fraudulent activity or that her bank account has had unusual activity.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u="sng" dirty="0">
                <a:latin typeface="Times New Roman" panose="02020603050405020304" pitchFamily="18" charset="0"/>
                <a:cs typeface="Times New Roman" panose="02020603050405020304" pitchFamily="18" charset="0"/>
              </a:rPr>
              <a:t>victim is instructed to call a specific phone number immediately </a:t>
            </a:r>
            <a:r>
              <a:rPr lang="en-US" sz="2400" dirty="0">
                <a:latin typeface="Times New Roman" panose="02020603050405020304" pitchFamily="18" charset="0"/>
                <a:cs typeface="Times New Roman" panose="02020603050405020304" pitchFamily="18" charset="0"/>
              </a:rPr>
              <a:t>(which has been set up by the attacker). When the victim calls, it is answered by automated instructions telling her to enter her credit card number, bank account number, Social Security number, or other information on the phone’s keypad.</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96679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47</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Phishing Attacks</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object 2"/>
          <p:cNvSpPr/>
          <p:nvPr/>
        </p:nvSpPr>
        <p:spPr>
          <a:xfrm>
            <a:off x="819873" y="1407681"/>
            <a:ext cx="10152927" cy="4037155"/>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b="1" i="1" dirty="0" err="1">
                <a:latin typeface="Times New Roman" panose="02020603050405020304" pitchFamily="18" charset="0"/>
                <a:cs typeface="Times New Roman" panose="02020603050405020304" pitchFamily="18" charset="0"/>
              </a:rPr>
              <a:t>Smishing</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 variation on </a:t>
            </a:r>
            <a:r>
              <a:rPr lang="en-US" sz="2400" dirty="0">
                <a:solidFill>
                  <a:srgbClr val="FF0000"/>
                </a:solidFill>
                <a:latin typeface="Times New Roman" panose="02020603050405020304" pitchFamily="18" charset="0"/>
                <a:cs typeface="Times New Roman" panose="02020603050405020304" pitchFamily="18" charset="0"/>
              </a:rPr>
              <a:t>vishing uses </a:t>
            </a:r>
            <a:r>
              <a:rPr lang="en-US" sz="2400" dirty="0">
                <a:latin typeface="Times New Roman" panose="02020603050405020304" pitchFamily="18" charset="0"/>
                <a:cs typeface="Times New Roman" panose="02020603050405020304" pitchFamily="18" charset="0"/>
              </a:rPr>
              <a:t>short message service (</a:t>
            </a:r>
            <a:r>
              <a:rPr lang="en-US" sz="2400" dirty="0">
                <a:solidFill>
                  <a:srgbClr val="FF0000"/>
                </a:solidFill>
                <a:latin typeface="Times New Roman" panose="02020603050405020304" pitchFamily="18" charset="0"/>
                <a:cs typeface="Times New Roman" panose="02020603050405020304" pitchFamily="18" charset="0"/>
              </a:rPr>
              <a:t>SMS</a:t>
            </a:r>
            <a:r>
              <a:rPr lang="en-US" sz="2400" dirty="0">
                <a:latin typeface="Times New Roman" panose="02020603050405020304" pitchFamily="18" charset="0"/>
                <a:cs typeface="Times New Roman" panose="02020603050405020304" pitchFamily="18" charset="0"/>
              </a:rPr>
              <a:t>) text messages and callback recorded phone messages. This is known as </a:t>
            </a:r>
            <a:r>
              <a:rPr lang="en-US" sz="2400" b="1" dirty="0" err="1">
                <a:latin typeface="Times New Roman" panose="02020603050405020304" pitchFamily="18" charset="0"/>
                <a:cs typeface="Times New Roman" panose="02020603050405020304" pitchFamily="18" charset="0"/>
              </a:rPr>
              <a:t>smishing</a:t>
            </a:r>
            <a:r>
              <a:rPr lang="en-US" sz="2400" dirty="0">
                <a:latin typeface="Times New Roman" panose="02020603050405020304" pitchFamily="18" charset="0"/>
                <a:cs typeface="Times New Roman" panose="02020603050405020304" pitchFamily="18" charset="0"/>
              </a:rPr>
              <a: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threat actors first send a text message to a user’s cell phone that pretends to come from their bank saying that their account has been broken into or their credit card number has been stolen. Along with the text message is a callback telephone number the customer is instructed to call immediately. That phone number plays a recording telling the customer to enter their Social Security number or credit card number for verification. The attackers then simply capture the information the user enters.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8233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48</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Phishing Attacks</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object 2"/>
          <p:cNvSpPr/>
          <p:nvPr/>
        </p:nvSpPr>
        <p:spPr>
          <a:xfrm>
            <a:off x="819873" y="1407681"/>
            <a:ext cx="10152927" cy="3289009"/>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Phishing continues to be a primary weapon used by threat actors. Phishing is considered to be one of the largest and most consequential cyber threats facing both businesses and consumers.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During the third quarter of 2019, phishing attacks increased by 46 percent from the previous quarter and almost doubled the number recorded during the fourth quarter of the previous year. One nation saw a 232 percent increase in phishing during 2019.13 It is estimated that these trends will continue</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04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49</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Redirection</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object 2"/>
          <p:cNvSpPr/>
          <p:nvPr/>
        </p:nvSpPr>
        <p:spPr>
          <a:xfrm>
            <a:off x="819873" y="1407681"/>
            <a:ext cx="10152927" cy="4771446"/>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If threat actors cannot trick a user to visit a malicious website through phishing, they can use other tactics to redirect the user.</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What happens if a user makes a typing error when entering a uniform resource locator (URL) address in a web browser, such as typing </a:t>
            </a:r>
            <a:r>
              <a:rPr lang="en-US" sz="2400" i="1" dirty="0">
                <a:solidFill>
                  <a:srgbClr val="FF0000"/>
                </a:solidFill>
                <a:latin typeface="Times New Roman" panose="02020603050405020304" pitchFamily="18" charset="0"/>
                <a:cs typeface="Times New Roman" panose="02020603050405020304" pitchFamily="18" charset="0"/>
              </a:rPr>
              <a:t>goggle.com </a:t>
            </a:r>
            <a:r>
              <a:rPr lang="en-US" sz="2400" dirty="0">
                <a:latin typeface="Times New Roman" panose="02020603050405020304" pitchFamily="18" charset="0"/>
                <a:cs typeface="Times New Roman" panose="02020603050405020304" pitchFamily="18" charset="0"/>
              </a:rPr>
              <a:t>(a misspelling) or </a:t>
            </a:r>
            <a:r>
              <a:rPr lang="en-US" sz="2400" i="1" dirty="0">
                <a:solidFill>
                  <a:srgbClr val="FF0000"/>
                </a:solidFill>
                <a:latin typeface="Times New Roman" panose="02020603050405020304" pitchFamily="18" charset="0"/>
                <a:cs typeface="Times New Roman" panose="02020603050405020304" pitchFamily="18" charset="0"/>
              </a:rPr>
              <a:t>google.net </a:t>
            </a:r>
            <a:r>
              <a:rPr lang="en-US" sz="2400" dirty="0">
                <a:latin typeface="Times New Roman" panose="02020603050405020304" pitchFamily="18" charset="0"/>
                <a:cs typeface="Times New Roman" panose="02020603050405020304" pitchFamily="18" charset="0"/>
              </a:rPr>
              <a:t>(incorrect domain) instead of the correct </a:t>
            </a:r>
            <a:r>
              <a:rPr lang="en-US" sz="2400" i="1" dirty="0">
                <a:latin typeface="Times New Roman" panose="02020603050405020304" pitchFamily="18" charset="0"/>
                <a:cs typeface="Times New Roman" panose="02020603050405020304" pitchFamily="18" charset="0"/>
              </a:rPr>
              <a:t>google.com</a:t>
            </a:r>
            <a:r>
              <a:rPr lang="en-US" sz="2400" dirty="0">
                <a:latin typeface="Times New Roman" panose="02020603050405020304" pitchFamily="18" charset="0"/>
                <a:cs typeface="Times New Roman" panose="02020603050405020304" pitchFamily="18" charset="0"/>
              </a:rPr>
              <a:t>?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the past, an error message like </a:t>
            </a:r>
            <a:r>
              <a:rPr lang="en-US" sz="2400" i="1" dirty="0">
                <a:latin typeface="Times New Roman" panose="02020603050405020304" pitchFamily="18" charset="0"/>
                <a:cs typeface="Times New Roman" panose="02020603050405020304" pitchFamily="18" charset="0"/>
              </a:rPr>
              <a:t>HTTP Error 404 Not Found </a:t>
            </a:r>
            <a:r>
              <a:rPr lang="en-US" sz="2400" dirty="0">
                <a:latin typeface="Times New Roman" panose="02020603050405020304" pitchFamily="18" charset="0"/>
                <a:cs typeface="Times New Roman" panose="02020603050405020304" pitchFamily="18" charset="0"/>
              </a:rPr>
              <a:t>would appear. However, today the user is often directed to a </a:t>
            </a:r>
            <a:r>
              <a:rPr lang="en-US" sz="2400" u="sng" dirty="0">
                <a:latin typeface="Times New Roman" panose="02020603050405020304" pitchFamily="18" charset="0"/>
                <a:cs typeface="Times New Roman" panose="02020603050405020304" pitchFamily="18" charset="0"/>
              </a:rPr>
              <a:t>fake lookalike site filled with ads </a:t>
            </a:r>
            <a:r>
              <a:rPr lang="en-US" sz="2400" dirty="0">
                <a:latin typeface="Times New Roman" panose="02020603050405020304" pitchFamily="18" charset="0"/>
                <a:cs typeface="Times New Roman" panose="02020603050405020304" pitchFamily="18" charset="0"/>
              </a:rPr>
              <a:t>for which the attacker receives </a:t>
            </a:r>
            <a:r>
              <a:rPr lang="en-US" sz="2400" u="sng" dirty="0">
                <a:latin typeface="Times New Roman" panose="02020603050405020304" pitchFamily="18" charset="0"/>
                <a:cs typeface="Times New Roman" panose="02020603050405020304" pitchFamily="18" charset="0"/>
              </a:rPr>
              <a:t>money for traffic generated to the site</a:t>
            </a:r>
            <a:r>
              <a:rPr lang="en-US" sz="2400" dirty="0">
                <a:latin typeface="Times New Roman" panose="02020603050405020304" pitchFamily="18" charset="0"/>
                <a:cs typeface="Times New Roman" panose="02020603050405020304" pitchFamily="18" charset="0"/>
              </a:rPr>
              <a: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These fake sites exist because attackers purchase the domain names of sites that are spelled similarly to actual sites. This is called </a:t>
            </a:r>
            <a:r>
              <a:rPr lang="en-US" sz="2400" b="1" dirty="0">
                <a:latin typeface="Times New Roman" panose="02020603050405020304" pitchFamily="18" charset="0"/>
                <a:cs typeface="Times New Roman" panose="02020603050405020304" pitchFamily="18" charset="0"/>
              </a:rPr>
              <a:t>typo squatting</a:t>
            </a:r>
            <a:r>
              <a:rPr lang="en-US" sz="2400" dirty="0">
                <a:latin typeface="Times New Roman" panose="02020603050405020304" pitchFamily="18" charset="0"/>
                <a:cs typeface="Times New Roman" panose="02020603050405020304" pitchFamily="18" charset="0"/>
              </a:rPr>
              <a:t>. A well-known site such as </a:t>
            </a:r>
            <a:r>
              <a:rPr lang="en-US" sz="2400" i="1" dirty="0">
                <a:latin typeface="Times New Roman" panose="02020603050405020304" pitchFamily="18" charset="0"/>
                <a:cs typeface="Times New Roman" panose="02020603050405020304" pitchFamily="18" charset="0"/>
              </a:rPr>
              <a:t>google.com </a:t>
            </a:r>
            <a:r>
              <a:rPr lang="en-US" sz="2400" dirty="0">
                <a:latin typeface="Times New Roman" panose="02020603050405020304" pitchFamily="18" charset="0"/>
                <a:cs typeface="Times New Roman" panose="02020603050405020304" pitchFamily="18" charset="0"/>
              </a:rPr>
              <a:t>may have to deal with more than 1,000 typo squatting domains.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85180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50</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Pharming</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object 2"/>
          <p:cNvSpPr/>
          <p:nvPr/>
        </p:nvSpPr>
        <p:spPr>
          <a:xfrm>
            <a:off x="819873" y="1407681"/>
            <a:ext cx="10152927" cy="3192028"/>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Another redirection technique is </a:t>
            </a:r>
            <a:r>
              <a:rPr lang="en-US" sz="2400" b="1" dirty="0">
                <a:latin typeface="Times New Roman" panose="02020603050405020304" pitchFamily="18" charset="0"/>
                <a:cs typeface="Times New Roman" panose="02020603050405020304" pitchFamily="18" charset="0"/>
              </a:rPr>
              <a:t>pharming</a:t>
            </a:r>
            <a:r>
              <a:rPr lang="en-US" sz="2400" dirty="0">
                <a:latin typeface="Times New Roman" panose="02020603050405020304" pitchFamily="18" charset="0"/>
                <a:cs typeface="Times New Roman" panose="02020603050405020304" pitchFamily="18" charset="0"/>
              </a:rPr>
              <a:t>. Pharming </a:t>
            </a:r>
            <a:r>
              <a:rPr lang="en-US" sz="2400" u="sng" dirty="0">
                <a:latin typeface="Times New Roman" panose="02020603050405020304" pitchFamily="18" charset="0"/>
                <a:cs typeface="Times New Roman" panose="02020603050405020304" pitchFamily="18" charset="0"/>
              </a:rPr>
              <a:t>attempts to exploit</a:t>
            </a:r>
            <a:r>
              <a:rPr lang="en-US" sz="2400" dirty="0">
                <a:latin typeface="Times New Roman" panose="02020603050405020304" pitchFamily="18" charset="0"/>
                <a:cs typeface="Times New Roman" panose="02020603050405020304" pitchFamily="18" charset="0"/>
              </a:rPr>
              <a:t> how a URL such as www.cengage.com is </a:t>
            </a:r>
            <a:r>
              <a:rPr lang="en-US" sz="2400" dirty="0">
                <a:solidFill>
                  <a:srgbClr val="FF0000"/>
                </a:solidFill>
                <a:latin typeface="Times New Roman" panose="02020603050405020304" pitchFamily="18" charset="0"/>
                <a:cs typeface="Times New Roman" panose="02020603050405020304" pitchFamily="18" charset="0"/>
              </a:rPr>
              <a:t>converted into its corresponding IP </a:t>
            </a:r>
            <a:r>
              <a:rPr lang="en-US" sz="2400" dirty="0">
                <a:latin typeface="Times New Roman" panose="02020603050405020304" pitchFamily="18" charset="0"/>
                <a:cs typeface="Times New Roman" panose="02020603050405020304" pitchFamily="18" charset="0"/>
              </a:rPr>
              <a:t>address </a:t>
            </a:r>
            <a:r>
              <a:rPr lang="en-US" sz="2400" i="1" dirty="0">
                <a:latin typeface="Times New Roman" panose="02020603050405020304" pitchFamily="18" charset="0"/>
                <a:cs typeface="Times New Roman" panose="02020603050405020304" pitchFamily="18" charset="0"/>
              </a:rPr>
              <a:t>69.32.308.75</a:t>
            </a:r>
            <a:r>
              <a:rPr lang="en-US" sz="2400" dirty="0">
                <a:latin typeface="Times New Roman" panose="02020603050405020304" pitchFamily="18" charset="0"/>
                <a:cs typeface="Times New Roman" panose="02020603050405020304" pitchFamily="18" charset="0"/>
              </a:rPr>
              <a:t>.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threat actor may install malware on a user’s computer that redirects traffic away from its intended target to a fake website instead. Another technique is to </a:t>
            </a:r>
            <a:r>
              <a:rPr lang="en-US" sz="2400" dirty="0">
                <a:solidFill>
                  <a:srgbClr val="FF0000"/>
                </a:solidFill>
                <a:latin typeface="Times New Roman" panose="02020603050405020304" pitchFamily="18" charset="0"/>
                <a:cs typeface="Times New Roman" panose="02020603050405020304" pitchFamily="18" charset="0"/>
              </a:rPr>
              <a:t>infect a DNS that would direct multiple users </a:t>
            </a:r>
            <a:r>
              <a:rPr lang="en-US" sz="2400" dirty="0">
                <a:latin typeface="Times New Roman" panose="02020603050405020304" pitchFamily="18" charset="0"/>
                <a:cs typeface="Times New Roman" panose="02020603050405020304" pitchFamily="18" charset="0"/>
              </a:rPr>
              <a:t>to inadvertently visit the </a:t>
            </a:r>
            <a:r>
              <a:rPr lang="en-US" sz="2400" dirty="0">
                <a:solidFill>
                  <a:srgbClr val="FF0000"/>
                </a:solidFill>
                <a:latin typeface="Times New Roman" panose="02020603050405020304" pitchFamily="18" charset="0"/>
                <a:cs typeface="Times New Roman" panose="02020603050405020304" pitchFamily="18" charset="0"/>
              </a:rPr>
              <a:t>fake site</a:t>
            </a:r>
            <a:r>
              <a:rPr lang="en-US" sz="2400" dirty="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3732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51</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Spam</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object 2"/>
          <p:cNvSpPr/>
          <p:nvPr/>
        </p:nvSpPr>
        <p:spPr>
          <a:xfrm>
            <a:off x="819873" y="1407681"/>
            <a:ext cx="10152927" cy="4106428"/>
          </a:xfrm>
          <a:prstGeom prst="rect">
            <a:avLst/>
          </a:prstGeom>
          <a:blipFill>
            <a:blip r:embed="rId4"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Spam </a:t>
            </a:r>
            <a:r>
              <a:rPr lang="en-US" sz="2400" dirty="0">
                <a:latin typeface="Times New Roman" panose="02020603050405020304" pitchFamily="18" charset="0"/>
                <a:cs typeface="Times New Roman" panose="02020603050405020304" pitchFamily="18" charset="0"/>
              </a:rPr>
              <a:t>is unsolicited email that is </a:t>
            </a:r>
            <a:r>
              <a:rPr lang="en-US" sz="2400" dirty="0">
                <a:solidFill>
                  <a:srgbClr val="FF0000"/>
                </a:solidFill>
                <a:latin typeface="Times New Roman" panose="02020603050405020304" pitchFamily="18" charset="0"/>
                <a:cs typeface="Times New Roman" panose="02020603050405020304" pitchFamily="18" charset="0"/>
              </a:rPr>
              <a:t>sent to a large number of recipients</a:t>
            </a:r>
            <a:r>
              <a:rPr lang="en-US" sz="2400" dirty="0">
                <a:latin typeface="Times New Roman" panose="02020603050405020304" pitchFamily="18" charset="0"/>
                <a:cs typeface="Times New Roman" panose="02020603050405020304" pitchFamily="18" charset="0"/>
              </a:rPr>
              <a:t>. Users receive so many spam messages because sending spam is lucrative.</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It costs spammers very little to send millions of spam email messages. Almost all spam is sent from botnets, and a spammer who does not own his own botnet can lease time from other attackers ($40 per hour) to use a botnet of up to 100,000 infected computers to launch a spam attack. Even if spammers receive only a small percentage of responses, they still make a </a:t>
            </a:r>
            <a:r>
              <a:rPr lang="en-US" sz="2400" dirty="0">
                <a:solidFill>
                  <a:srgbClr val="FF0000"/>
                </a:solidFill>
                <a:latin typeface="Times New Roman" panose="02020603050405020304" pitchFamily="18" charset="0"/>
                <a:cs typeface="Times New Roman" panose="02020603050405020304" pitchFamily="18" charset="0"/>
              </a:rPr>
              <a:t>large profit</a:t>
            </a:r>
            <a:r>
              <a:rPr lang="en-US" sz="2400" dirty="0">
                <a:latin typeface="Times New Roman" panose="02020603050405020304" pitchFamily="18" charset="0"/>
                <a:cs typeface="Times New Roman" panose="02020603050405020304" pitchFamily="18" charset="0"/>
              </a:rPr>
              <a:t>. </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For example, if a spammer sent spam to 6 million users for a product with a sale price of $50 that cost only $5 to make, and if only 0.001 percent of the recipients responded and bought the product (a typical response rate), the spammer would still make more than $</a:t>
            </a:r>
            <a:r>
              <a:rPr lang="en-US" sz="2200" u="sng" dirty="0">
                <a:latin typeface="Times New Roman" panose="02020603050405020304" pitchFamily="18" charset="0"/>
                <a:cs typeface="Times New Roman" panose="02020603050405020304" pitchFamily="18" charset="0"/>
              </a:rPr>
              <a:t>270,000</a:t>
            </a:r>
            <a:r>
              <a:rPr lang="en-US" sz="2200" dirty="0">
                <a:latin typeface="Times New Roman" panose="02020603050405020304" pitchFamily="18" charset="0"/>
                <a:cs typeface="Times New Roman" panose="02020603050405020304" pitchFamily="18" charset="0"/>
              </a:rPr>
              <a:t> in profit.</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79998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52</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Hoaxes</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object 2"/>
          <p:cNvSpPr/>
          <p:nvPr/>
        </p:nvSpPr>
        <p:spPr>
          <a:xfrm>
            <a:off x="819873" y="1407681"/>
            <a:ext cx="10152927" cy="4106428"/>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Threat agents can use hoaxes as a first step in an attack. A </a:t>
            </a:r>
            <a:r>
              <a:rPr lang="en-US" sz="2400" b="1" dirty="0">
                <a:latin typeface="Times New Roman" panose="02020603050405020304" pitchFamily="18" charset="0"/>
                <a:cs typeface="Times New Roman" panose="02020603050405020304" pitchFamily="18" charset="0"/>
              </a:rPr>
              <a:t>hoax </a:t>
            </a:r>
            <a:r>
              <a:rPr lang="en-US" sz="2400" dirty="0">
                <a:latin typeface="Times New Roman" panose="02020603050405020304" pitchFamily="18" charset="0"/>
                <a:cs typeface="Times New Roman" panose="02020603050405020304" pitchFamily="18" charset="0"/>
              </a:rPr>
              <a:t>is a </a:t>
            </a:r>
            <a:r>
              <a:rPr lang="en-US" sz="2400" dirty="0">
                <a:solidFill>
                  <a:srgbClr val="FF0000"/>
                </a:solidFill>
                <a:latin typeface="Times New Roman" panose="02020603050405020304" pitchFamily="18" charset="0"/>
                <a:cs typeface="Times New Roman" panose="02020603050405020304" pitchFamily="18" charset="0"/>
              </a:rPr>
              <a:t>false warning</a:t>
            </a:r>
            <a:r>
              <a:rPr lang="en-US" sz="2400" dirty="0">
                <a:latin typeface="Times New Roman" panose="02020603050405020304" pitchFamily="18" charset="0"/>
                <a:cs typeface="Times New Roman" panose="02020603050405020304" pitchFamily="18" charset="0"/>
              </a:rPr>
              <a:t>, often contained in an email message </a:t>
            </a:r>
            <a:r>
              <a:rPr lang="en-US" sz="2400" dirty="0">
                <a:solidFill>
                  <a:srgbClr val="FF0000"/>
                </a:solidFill>
                <a:latin typeface="Times New Roman" panose="02020603050405020304" pitchFamily="18" charset="0"/>
                <a:cs typeface="Times New Roman" panose="02020603050405020304" pitchFamily="18" charset="0"/>
              </a:rPr>
              <a:t>claiming to come from the IT </a:t>
            </a:r>
            <a:r>
              <a:rPr lang="en-US" sz="2400" dirty="0">
                <a:latin typeface="Times New Roman" panose="02020603050405020304" pitchFamily="18" charset="0"/>
                <a:cs typeface="Times New Roman" panose="02020603050405020304" pitchFamily="18" charset="0"/>
              </a:rPr>
              <a:t>department.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hoax purports that there is a “deadly virus” circulating through the Internet and that the recipient should </a:t>
            </a:r>
            <a:r>
              <a:rPr lang="en-US" sz="2400" u="sng" dirty="0">
                <a:latin typeface="Times New Roman" panose="02020603050405020304" pitchFamily="18" charset="0"/>
                <a:cs typeface="Times New Roman" panose="02020603050405020304" pitchFamily="18" charset="0"/>
              </a:rPr>
              <a:t>erase specific files or change security </a:t>
            </a:r>
            <a:r>
              <a:rPr lang="en-US" sz="2400" dirty="0">
                <a:latin typeface="Times New Roman" panose="02020603050405020304" pitchFamily="18" charset="0"/>
                <a:cs typeface="Times New Roman" panose="02020603050405020304" pitchFamily="18" charset="0"/>
              </a:rPr>
              <a:t>configurations and then forward the message to other users. </a:t>
            </a:r>
            <a:r>
              <a:rPr lang="en-US" sz="2400" dirty="0">
                <a:solidFill>
                  <a:srgbClr val="FF0000"/>
                </a:solidFill>
                <a:latin typeface="Times New Roman" panose="02020603050405020304" pitchFamily="18" charset="0"/>
                <a:cs typeface="Times New Roman" panose="02020603050405020304" pitchFamily="18" charset="0"/>
              </a:rPr>
              <a:t>However, changing configurations allows an attacker to compromise the system</a:t>
            </a:r>
            <a:r>
              <a:rPr lang="en-US" sz="2400" dirty="0">
                <a:latin typeface="Times New Roman" panose="02020603050405020304" pitchFamily="18" charset="0"/>
                <a:cs typeface="Times New Roman" panose="02020603050405020304" pitchFamily="18" charset="0"/>
              </a:rPr>
              <a:t>. And erasing files may make the computer unstable, prompting the victim to call the phone number in the hoax email message for help, which is actually the phone number of the attacker.</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73336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53</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Watering Hole Attack</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object 2"/>
          <p:cNvSpPr/>
          <p:nvPr/>
        </p:nvSpPr>
        <p:spPr>
          <a:xfrm>
            <a:off x="819873" y="1407681"/>
            <a:ext cx="10152927" cy="3760064"/>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the natural world, similar types of animals are known to congregate around a pool of water for refreshment.</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a similar manner, a </a:t>
            </a:r>
            <a:r>
              <a:rPr lang="en-US" sz="2400" b="1" dirty="0">
                <a:latin typeface="Times New Roman" panose="02020603050405020304" pitchFamily="18" charset="0"/>
                <a:cs typeface="Times New Roman" panose="02020603050405020304" pitchFamily="18" charset="0"/>
              </a:rPr>
              <a:t>watering hole attack </a:t>
            </a:r>
            <a:r>
              <a:rPr lang="en-US" sz="2400" dirty="0">
                <a:latin typeface="Times New Roman" panose="02020603050405020304" pitchFamily="18" charset="0"/>
                <a:cs typeface="Times New Roman" panose="02020603050405020304" pitchFamily="18" charset="0"/>
              </a:rPr>
              <a:t>is directed toward a </a:t>
            </a:r>
            <a:r>
              <a:rPr lang="en-US" sz="2400" u="sng" dirty="0">
                <a:solidFill>
                  <a:srgbClr val="FF0000"/>
                </a:solidFill>
                <a:latin typeface="Times New Roman" panose="02020603050405020304" pitchFamily="18" charset="0"/>
                <a:cs typeface="Times New Roman" panose="02020603050405020304" pitchFamily="18" charset="0"/>
              </a:rPr>
              <a:t>smaller group </a:t>
            </a:r>
            <a:r>
              <a:rPr lang="en-US" sz="2400" dirty="0">
                <a:latin typeface="Times New Roman" panose="02020603050405020304" pitchFamily="18" charset="0"/>
                <a:cs typeface="Times New Roman" panose="02020603050405020304" pitchFamily="18" charset="0"/>
              </a:rPr>
              <a:t>of specific individuals, such as the </a:t>
            </a:r>
            <a:r>
              <a:rPr lang="en-US" sz="2400" dirty="0">
                <a:solidFill>
                  <a:srgbClr val="FF0000"/>
                </a:solidFill>
                <a:latin typeface="Times New Roman" panose="02020603050405020304" pitchFamily="18" charset="0"/>
                <a:cs typeface="Times New Roman" panose="02020603050405020304" pitchFamily="18" charset="0"/>
              </a:rPr>
              <a:t>major executives working </a:t>
            </a:r>
            <a:r>
              <a:rPr lang="en-US" sz="2400" dirty="0">
                <a:latin typeface="Times New Roman" panose="02020603050405020304" pitchFamily="18" charset="0"/>
                <a:cs typeface="Times New Roman" panose="02020603050405020304" pitchFamily="18" charset="0"/>
              </a:rPr>
              <a:t>for a manufacturing company. These executives all tend to visit a common website, such as that of a parts supplier to the manufacturer.</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An attacker who wants to target this group of executives tries to </a:t>
            </a:r>
            <a:r>
              <a:rPr lang="en-US" sz="2400" dirty="0">
                <a:solidFill>
                  <a:srgbClr val="FF0000"/>
                </a:solidFill>
                <a:latin typeface="Times New Roman" panose="02020603050405020304" pitchFamily="18" charset="0"/>
                <a:cs typeface="Times New Roman" panose="02020603050405020304" pitchFamily="18" charset="0"/>
              </a:rPr>
              <a:t>determine the common website that they frequent use </a:t>
            </a:r>
            <a:r>
              <a:rPr lang="en-US" sz="2400" dirty="0">
                <a:latin typeface="Times New Roman" panose="02020603050405020304" pitchFamily="18" charset="0"/>
                <a:cs typeface="Times New Roman" panose="02020603050405020304" pitchFamily="18" charset="0"/>
              </a:rPr>
              <a:t>and then infects it with malware that will make its way onto the group’s computers.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41811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54</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Physical Procedures</a:t>
            </a:r>
          </a:p>
        </p:txBody>
      </p:sp>
      <p:sp>
        <p:nvSpPr>
          <p:cNvPr id="10" name="object 2"/>
          <p:cNvSpPr/>
          <p:nvPr/>
        </p:nvSpPr>
        <p:spPr>
          <a:xfrm>
            <a:off x="819873" y="1407681"/>
            <a:ext cx="10152927" cy="3760064"/>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While some social engineering attacks rely on psychological manipulation, other attacks rely on physical acts.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These attacks take advantage of user actions that can result in compromised security.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Three of the most common physical procedures are </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Dumpster diving</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Tailgating</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Shoulder surfing.</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64086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55</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Dumpster Diving</a:t>
            </a:r>
            <a:endParaRPr lang="en-US" sz="4000" dirty="0">
              <a:latin typeface="Times New Roman" panose="02020603050405020304" pitchFamily="18" charset="0"/>
              <a:cs typeface="Times New Roman" panose="02020603050405020304" pitchFamily="18" charset="0"/>
            </a:endParaRPr>
          </a:p>
        </p:txBody>
      </p:sp>
      <p:sp>
        <p:nvSpPr>
          <p:cNvPr id="10" name="object 2"/>
          <p:cNvSpPr/>
          <p:nvPr/>
        </p:nvSpPr>
        <p:spPr>
          <a:xfrm>
            <a:off x="819871" y="1186007"/>
            <a:ext cx="10152927" cy="1571047"/>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Dumpster diving </a:t>
            </a:r>
            <a:r>
              <a:rPr lang="en-US" sz="2400" dirty="0">
                <a:latin typeface="Times New Roman" panose="02020603050405020304" pitchFamily="18" charset="0"/>
                <a:cs typeface="Times New Roman" panose="02020603050405020304" pitchFamily="18" charset="0"/>
              </a:rPr>
              <a:t>involves digging through </a:t>
            </a:r>
            <a:r>
              <a:rPr lang="en-US" sz="2400" dirty="0">
                <a:solidFill>
                  <a:srgbClr val="FF0000"/>
                </a:solidFill>
                <a:latin typeface="Times New Roman" panose="02020603050405020304" pitchFamily="18" charset="0"/>
                <a:cs typeface="Times New Roman" panose="02020603050405020304" pitchFamily="18" charset="0"/>
              </a:rPr>
              <a:t>trash</a:t>
            </a:r>
            <a:r>
              <a:rPr lang="en-US" sz="2400" dirty="0">
                <a:latin typeface="Times New Roman" panose="02020603050405020304" pitchFamily="18" charset="0"/>
                <a:cs typeface="Times New Roman" panose="02020603050405020304" pitchFamily="18" charset="0"/>
              </a:rPr>
              <a:t> receptacles to find </a:t>
            </a:r>
            <a:r>
              <a:rPr lang="en-US" sz="2400" dirty="0">
                <a:solidFill>
                  <a:srgbClr val="FF0000"/>
                </a:solidFill>
                <a:latin typeface="Times New Roman" panose="02020603050405020304" pitchFamily="18" charset="0"/>
                <a:cs typeface="Times New Roman" panose="02020603050405020304" pitchFamily="18" charset="0"/>
              </a:rPr>
              <a:t>information that can be useful </a:t>
            </a:r>
            <a:r>
              <a:rPr lang="en-US" sz="2400" dirty="0">
                <a:latin typeface="Times New Roman" panose="02020603050405020304" pitchFamily="18" charset="0"/>
                <a:cs typeface="Times New Roman" panose="02020603050405020304" pitchFamily="18" charset="0"/>
              </a:rPr>
              <a:t>in an attack.</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Given Table lists the different items that can be retrieved many of which appear to be useless and how they can be used.</a:t>
            </a:r>
          </a:p>
          <a:p>
            <a:r>
              <a:rPr lang="en-US" dirty="0">
                <a:latin typeface="Times New Roman" panose="02020603050405020304" pitchFamily="18" charset="0"/>
                <a:cs typeface="Times New Roman" panose="02020603050405020304" pitchFamily="18" charset="0"/>
              </a:rPr>
              <a:t>.</a:t>
            </a:r>
          </a:p>
        </p:txBody>
      </p:sp>
      <p:graphicFrame>
        <p:nvGraphicFramePr>
          <p:cNvPr id="2" name="Table 1"/>
          <p:cNvGraphicFramePr>
            <a:graphicFrameLocks noGrp="1"/>
          </p:cNvGraphicFramePr>
          <p:nvPr>
            <p:extLst>
              <p:ext uri="{D42A27DB-BD31-4B8C-83A1-F6EECF244321}">
                <p14:modId xmlns:p14="http://schemas.microsoft.com/office/powerpoint/2010/main" val="4292431761"/>
              </p:ext>
            </p:extLst>
          </p:nvPr>
        </p:nvGraphicFramePr>
        <p:xfrm>
          <a:off x="819871" y="2795809"/>
          <a:ext cx="10152927" cy="3291840"/>
        </p:xfrm>
        <a:graphic>
          <a:graphicData uri="http://schemas.openxmlformats.org/drawingml/2006/table">
            <a:tbl>
              <a:tblPr firstRow="1" bandRow="1">
                <a:tableStyleId>{5C22544A-7EE6-4342-B048-85BDC9FD1C3A}</a:tableStyleId>
              </a:tblPr>
              <a:tblGrid>
                <a:gridCol w="5015691">
                  <a:extLst>
                    <a:ext uri="{9D8B030D-6E8A-4147-A177-3AD203B41FA5}">
                      <a16:colId xmlns:a16="http://schemas.microsoft.com/office/drawing/2014/main" val="2848839092"/>
                    </a:ext>
                  </a:extLst>
                </a:gridCol>
                <a:gridCol w="5137236">
                  <a:extLst>
                    <a:ext uri="{9D8B030D-6E8A-4147-A177-3AD203B41FA5}">
                      <a16:colId xmlns:a16="http://schemas.microsoft.com/office/drawing/2014/main" val="2936745002"/>
                    </a:ext>
                  </a:extLst>
                </a:gridCol>
              </a:tblGrid>
              <a:tr h="550863">
                <a:tc>
                  <a:txBody>
                    <a:bodyPr/>
                    <a:lstStyle/>
                    <a:p>
                      <a:r>
                        <a:rPr lang="en-US" sz="1600" dirty="0">
                          <a:latin typeface="Times New Roman" panose="02020603050405020304" pitchFamily="18" charset="0"/>
                          <a:cs typeface="Times New Roman" panose="02020603050405020304" pitchFamily="18" charset="0"/>
                        </a:rPr>
                        <a:t>Item retrieved </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Why useful</a:t>
                      </a:r>
                    </a:p>
                    <a:p>
                      <a:endParaRPr lang="en-US" sz="1600" dirty="0"/>
                    </a:p>
                  </a:txBody>
                  <a:tcPr/>
                </a:tc>
                <a:extLst>
                  <a:ext uri="{0D108BD9-81ED-4DB2-BD59-A6C34878D82A}">
                    <a16:rowId xmlns:a16="http://schemas.microsoft.com/office/drawing/2014/main" val="1927954289"/>
                  </a:ext>
                </a:extLst>
              </a:tr>
              <a:tr h="629035">
                <a:tc>
                  <a:txBody>
                    <a:bodyPr/>
                    <a:lstStyle/>
                    <a:p>
                      <a:r>
                        <a:rPr lang="en-US" sz="1600" dirty="0">
                          <a:latin typeface="Times New Roman" panose="02020603050405020304" pitchFamily="18" charset="0"/>
                          <a:cs typeface="Times New Roman" panose="02020603050405020304" pitchFamily="18" charset="0"/>
                        </a:rPr>
                        <a:t>Calendars</a:t>
                      </a:r>
                      <a:endParaRPr lang="en-US" sz="1600" dirty="0"/>
                    </a:p>
                  </a:txBody>
                  <a:tcPr/>
                </a:tc>
                <a:tc>
                  <a:txBody>
                    <a:bodyPr/>
                    <a:lstStyle/>
                    <a:p>
                      <a:r>
                        <a:rPr lang="en-US" sz="1600" dirty="0">
                          <a:latin typeface="Times New Roman" panose="02020603050405020304" pitchFamily="18" charset="0"/>
                          <a:cs typeface="Times New Roman" panose="02020603050405020304" pitchFamily="18" charset="0"/>
                        </a:rPr>
                        <a:t>A calendar can reveal which employees are out of town at a particular time.</a:t>
                      </a:r>
                    </a:p>
                    <a:p>
                      <a:endParaRPr lang="en-US" sz="1600" dirty="0"/>
                    </a:p>
                  </a:txBody>
                  <a:tcPr/>
                </a:tc>
                <a:extLst>
                  <a:ext uri="{0D108BD9-81ED-4DB2-BD59-A6C34878D82A}">
                    <a16:rowId xmlns:a16="http://schemas.microsoft.com/office/drawing/2014/main" val="729260092"/>
                  </a:ext>
                </a:extLst>
              </a:tr>
              <a:tr h="540366">
                <a:tc>
                  <a:txBody>
                    <a:bodyPr/>
                    <a:lstStyle/>
                    <a:p>
                      <a:r>
                        <a:rPr lang="en-US" sz="1600" dirty="0">
                          <a:latin typeface="Times New Roman" panose="02020603050405020304" pitchFamily="18" charset="0"/>
                          <a:cs typeface="Times New Roman" panose="02020603050405020304" pitchFamily="18" charset="0"/>
                        </a:rPr>
                        <a:t>Inexpensive computer hardware, such as USB flash</a:t>
                      </a:r>
                    </a:p>
                    <a:p>
                      <a:r>
                        <a:rPr lang="en-US" sz="1600" dirty="0">
                          <a:latin typeface="Times New Roman" panose="02020603050405020304" pitchFamily="18" charset="0"/>
                          <a:cs typeface="Times New Roman" panose="02020603050405020304" pitchFamily="18" charset="0"/>
                        </a:rPr>
                        <a:t>drives or portable hard drives</a:t>
                      </a:r>
                    </a:p>
                    <a:p>
                      <a:endParaRPr lang="en-US" sz="1600" dirty="0"/>
                    </a:p>
                  </a:txBody>
                  <a:tcPr/>
                </a:tc>
                <a:tc>
                  <a:txBody>
                    <a:bodyPr/>
                    <a:lstStyle/>
                    <a:p>
                      <a:r>
                        <a:rPr lang="en-US" sz="1600" dirty="0">
                          <a:latin typeface="Times New Roman" panose="02020603050405020304" pitchFamily="18" charset="0"/>
                          <a:cs typeface="Times New Roman" panose="02020603050405020304" pitchFamily="18" charset="0"/>
                        </a:rPr>
                        <a:t>These devices are often improperly disposed of and</a:t>
                      </a:r>
                    </a:p>
                    <a:p>
                      <a:r>
                        <a:rPr lang="en-US" sz="1600" dirty="0">
                          <a:latin typeface="Times New Roman" panose="02020603050405020304" pitchFamily="18" charset="0"/>
                          <a:cs typeface="Times New Roman" panose="02020603050405020304" pitchFamily="18" charset="0"/>
                        </a:rPr>
                        <a:t>might contain valuable information</a:t>
                      </a:r>
                      <a:endParaRPr lang="en-US" sz="1600" dirty="0"/>
                    </a:p>
                  </a:txBody>
                  <a:tcPr/>
                </a:tc>
                <a:extLst>
                  <a:ext uri="{0D108BD9-81ED-4DB2-BD59-A6C34878D82A}">
                    <a16:rowId xmlns:a16="http://schemas.microsoft.com/office/drawing/2014/main" val="1058483718"/>
                  </a:ext>
                </a:extLst>
              </a:tr>
              <a:tr h="1023032">
                <a:tc>
                  <a:txBody>
                    <a:bodyPr/>
                    <a:lstStyle/>
                    <a:p>
                      <a:r>
                        <a:rPr lang="en-US" sz="1600" dirty="0">
                          <a:latin typeface="Times New Roman" panose="02020603050405020304" pitchFamily="18" charset="0"/>
                          <a:cs typeface="Times New Roman" panose="02020603050405020304" pitchFamily="18" charset="0"/>
                        </a:rPr>
                        <a:t>Memos</a:t>
                      </a:r>
                      <a:endParaRPr lang="en-US" sz="1600" dirty="0"/>
                    </a:p>
                  </a:txBody>
                  <a:tcPr/>
                </a:tc>
                <a:tc>
                  <a:txBody>
                    <a:bodyPr/>
                    <a:lstStyle/>
                    <a:p>
                      <a:r>
                        <a:rPr lang="en-US" sz="1600" dirty="0">
                          <a:latin typeface="Times New Roman" panose="02020603050405020304" pitchFamily="18" charset="0"/>
                          <a:cs typeface="Times New Roman" panose="02020603050405020304" pitchFamily="18" charset="0"/>
                        </a:rPr>
                        <a:t>Seemingly unimportant memos can often provide small bits of useful information for an attacker who is building an impersonation.</a:t>
                      </a:r>
                    </a:p>
                    <a:p>
                      <a:endParaRPr lang="en-US" sz="1600" dirty="0"/>
                    </a:p>
                  </a:txBody>
                  <a:tcPr/>
                </a:tc>
                <a:extLst>
                  <a:ext uri="{0D108BD9-81ED-4DB2-BD59-A6C34878D82A}">
                    <a16:rowId xmlns:a16="http://schemas.microsoft.com/office/drawing/2014/main" val="824370922"/>
                  </a:ext>
                </a:extLst>
              </a:tr>
            </a:tbl>
          </a:graphicData>
        </a:graphic>
      </p:graphicFrame>
    </p:spTree>
    <p:extLst>
      <p:ext uri="{BB962C8B-B14F-4D97-AF65-F5344CB8AC3E}">
        <p14:creationId xmlns:p14="http://schemas.microsoft.com/office/powerpoint/2010/main" val="24672104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56</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Dumpster Diving</a:t>
            </a:r>
            <a:endParaRPr lang="en-US" sz="4000" dirty="0">
              <a:latin typeface="Times New Roman" panose="02020603050405020304" pitchFamily="18" charset="0"/>
              <a:cs typeface="Times New Roman" panose="02020603050405020304" pitchFamily="18" charset="0"/>
            </a:endParaRPr>
          </a:p>
        </p:txBody>
      </p:sp>
      <p:sp>
        <p:nvSpPr>
          <p:cNvPr id="10" name="object 2"/>
          <p:cNvSpPr/>
          <p:nvPr/>
        </p:nvSpPr>
        <p:spPr>
          <a:xfrm>
            <a:off x="819872" y="1560080"/>
            <a:ext cx="10383983" cy="3372138"/>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electronic variation of physical dumpster diving is to use the Google search engine to look for documents and data posted online that can be used in an attack.</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is called </a:t>
            </a:r>
            <a:r>
              <a:rPr lang="en-US" sz="2400" i="1" dirty="0">
                <a:latin typeface="Times New Roman" panose="02020603050405020304" pitchFamily="18" charset="0"/>
                <a:cs typeface="Times New Roman" panose="02020603050405020304" pitchFamily="18" charset="0"/>
              </a:rPr>
              <a:t>Google </a:t>
            </a:r>
            <a:r>
              <a:rPr lang="en-US" sz="2400" i="1" dirty="0" err="1">
                <a:latin typeface="Times New Roman" panose="02020603050405020304" pitchFamily="18" charset="0"/>
                <a:cs typeface="Times New Roman" panose="02020603050405020304" pitchFamily="18" charset="0"/>
              </a:rPr>
              <a:t>dorking</a:t>
            </a:r>
            <a:r>
              <a:rPr lang="en-US" sz="2400" dirty="0">
                <a:latin typeface="Times New Roman" panose="02020603050405020304" pitchFamily="18" charset="0"/>
                <a:cs typeface="Times New Roman" panose="02020603050405020304" pitchFamily="18" charset="0"/>
              </a:rPr>
              <a:t>, and it uses advanced Google search techniques to look for information that unsuspecting victims have carelessly posted on the web.</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For example, to find on the web any Microsoft Excel spreadsheets (.</a:t>
            </a:r>
            <a:r>
              <a:rPr lang="en-US" sz="2200" dirty="0" err="1">
                <a:latin typeface="Times New Roman" panose="02020603050405020304" pitchFamily="18" charset="0"/>
                <a:cs typeface="Times New Roman" panose="02020603050405020304" pitchFamily="18" charset="0"/>
              </a:rPr>
              <a:t>xlsx</a:t>
            </a:r>
            <a:r>
              <a:rPr lang="en-US" sz="2200" dirty="0">
                <a:latin typeface="Times New Roman" panose="02020603050405020304" pitchFamily="18" charset="0"/>
                <a:cs typeface="Times New Roman" panose="02020603050405020304" pitchFamily="18" charset="0"/>
              </a:rPr>
              <a:t>) that contain the column heading "SSN" (Social Security number), the Google search term </a:t>
            </a:r>
            <a:r>
              <a:rPr lang="en-US" sz="2200" i="1" dirty="0" err="1">
                <a:latin typeface="Times New Roman" panose="02020603050405020304" pitchFamily="18" charset="0"/>
                <a:cs typeface="Times New Roman" panose="02020603050405020304" pitchFamily="18" charset="0"/>
              </a:rPr>
              <a:t>intext</a:t>
            </a:r>
            <a:r>
              <a:rPr lang="en-US" sz="2200" i="1" dirty="0">
                <a:latin typeface="Times New Roman" panose="02020603050405020304" pitchFamily="18" charset="0"/>
                <a:cs typeface="Times New Roman" panose="02020603050405020304" pitchFamily="18" charset="0"/>
              </a:rPr>
              <a:t>:"SSN" </a:t>
            </a:r>
            <a:r>
              <a:rPr lang="en-US" sz="2200" i="1" dirty="0" err="1">
                <a:latin typeface="Times New Roman" panose="02020603050405020304" pitchFamily="18" charset="0"/>
                <a:cs typeface="Times New Roman" panose="02020603050405020304" pitchFamily="18" charset="0"/>
              </a:rPr>
              <a:t>filetype:xlsx</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can be used, or to find any Microsoft Word documents (.</a:t>
            </a:r>
            <a:r>
              <a:rPr lang="en-US" sz="2200" dirty="0" err="1">
                <a:latin typeface="Times New Roman" panose="02020603050405020304" pitchFamily="18" charset="0"/>
                <a:cs typeface="Times New Roman" panose="02020603050405020304" pitchFamily="18" charset="0"/>
              </a:rPr>
              <a:t>docx</a:t>
            </a:r>
            <a:r>
              <a:rPr lang="en-US" sz="2200" dirty="0">
                <a:latin typeface="Times New Roman" panose="02020603050405020304" pitchFamily="18" charset="0"/>
                <a:cs typeface="Times New Roman" panose="02020603050405020304" pitchFamily="18" charset="0"/>
              </a:rPr>
              <a:t>) that contained the word "passwords" as part of the title, the Google search term </a:t>
            </a:r>
            <a:r>
              <a:rPr lang="en-US" sz="2200" i="1" dirty="0" err="1">
                <a:latin typeface="Times New Roman" panose="02020603050405020304" pitchFamily="18" charset="0"/>
                <a:cs typeface="Times New Roman" panose="02020603050405020304" pitchFamily="18" charset="0"/>
              </a:rPr>
              <a:t>allintitle</a:t>
            </a:r>
            <a:r>
              <a:rPr lang="en-US" sz="2200" i="1" dirty="0">
                <a:latin typeface="Times New Roman" panose="02020603050405020304" pitchFamily="18" charset="0"/>
                <a:cs typeface="Times New Roman" panose="02020603050405020304" pitchFamily="18" charset="0"/>
              </a:rPr>
              <a:t>: "passwords" </a:t>
            </a:r>
            <a:r>
              <a:rPr lang="en-US" sz="2200" i="1" dirty="0" err="1">
                <a:latin typeface="Times New Roman" panose="02020603050405020304" pitchFamily="18" charset="0"/>
                <a:cs typeface="Times New Roman" panose="02020603050405020304" pitchFamily="18" charset="0"/>
              </a:rPr>
              <a:t>filetype:docx</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 used.</a:t>
            </a:r>
          </a:p>
        </p:txBody>
      </p:sp>
    </p:spTree>
    <p:extLst>
      <p:ext uri="{BB962C8B-B14F-4D97-AF65-F5344CB8AC3E}">
        <p14:creationId xmlns:p14="http://schemas.microsoft.com/office/powerpoint/2010/main" val="6256785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57</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8150"/>
          </a:xfrm>
        </p:spPr>
        <p:txBody>
          <a:bodyPr>
            <a:normAutofit/>
          </a:bodyPr>
          <a:lstStyle/>
          <a:p>
            <a:r>
              <a:rPr lang="en-US" sz="4000" b="1" dirty="0">
                <a:latin typeface="Times New Roman" panose="02020603050405020304" pitchFamily="18" charset="0"/>
                <a:cs typeface="Times New Roman" panose="02020603050405020304" pitchFamily="18" charset="0"/>
              </a:rPr>
              <a:t>Tailgating</a:t>
            </a:r>
            <a:endParaRPr lang="en-US" sz="4000" dirty="0">
              <a:latin typeface="Times New Roman" panose="02020603050405020304" pitchFamily="18" charset="0"/>
              <a:cs typeface="Times New Roman" panose="02020603050405020304" pitchFamily="18" charset="0"/>
            </a:endParaRPr>
          </a:p>
        </p:txBody>
      </p:sp>
      <p:sp>
        <p:nvSpPr>
          <p:cNvPr id="10" name="object 2"/>
          <p:cNvSpPr/>
          <p:nvPr/>
        </p:nvSpPr>
        <p:spPr>
          <a:xfrm>
            <a:off x="819871" y="1662913"/>
            <a:ext cx="10383983" cy="3372138"/>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Organizations can invest tens of thousands of dollars to install specialized doors that permit access only to authorized users who possess a special card or who can enter a specific code.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These automated access control systems are designed to restrict entry into an area.</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However, a weakness of these systems is that they cannot always control </a:t>
            </a:r>
            <a:r>
              <a:rPr lang="en-US" sz="2400" i="1" dirty="0">
                <a:latin typeface="Times New Roman" panose="02020603050405020304" pitchFamily="18" charset="0"/>
                <a:cs typeface="Times New Roman" panose="02020603050405020304" pitchFamily="18" charset="0"/>
              </a:rPr>
              <a:t>how many </a:t>
            </a:r>
            <a:r>
              <a:rPr lang="en-US" sz="2400" dirty="0">
                <a:latin typeface="Times New Roman" panose="02020603050405020304" pitchFamily="18" charset="0"/>
                <a:cs typeface="Times New Roman" panose="02020603050405020304" pitchFamily="18" charset="0"/>
              </a:rPr>
              <a:t>people enter the building when access is allowed; once an authorized person opens the door, one or more individuals can follow behind and also enter.</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This is known as </a:t>
            </a:r>
            <a:r>
              <a:rPr lang="en-US" sz="2400" b="1" dirty="0">
                <a:latin typeface="Times New Roman" panose="02020603050405020304" pitchFamily="18" charset="0"/>
                <a:cs typeface="Times New Roman" panose="02020603050405020304" pitchFamily="18" charset="0"/>
              </a:rPr>
              <a:t>tailgating</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872230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58</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8150"/>
          </a:xfrm>
        </p:spPr>
        <p:txBody>
          <a:bodyPr>
            <a:normAutofit/>
          </a:bodyPr>
          <a:lstStyle/>
          <a:p>
            <a:r>
              <a:rPr lang="en-US" sz="4000" b="1" dirty="0">
                <a:latin typeface="Times New Roman" panose="02020603050405020304" pitchFamily="18" charset="0"/>
                <a:cs typeface="Times New Roman" panose="02020603050405020304" pitchFamily="18" charset="0"/>
              </a:rPr>
              <a:t>Tailgating</a:t>
            </a:r>
            <a:endParaRPr lang="en-US" sz="4000" dirty="0">
              <a:latin typeface="Times New Roman" panose="02020603050405020304" pitchFamily="18" charset="0"/>
              <a:cs typeface="Times New Roman" panose="02020603050405020304" pitchFamily="18" charset="0"/>
            </a:endParaRPr>
          </a:p>
        </p:txBody>
      </p:sp>
      <p:sp>
        <p:nvSpPr>
          <p:cNvPr id="10" name="object 2"/>
          <p:cNvSpPr/>
          <p:nvPr/>
        </p:nvSpPr>
        <p:spPr>
          <a:xfrm>
            <a:off x="819871" y="1427019"/>
            <a:ext cx="10383983" cy="4558145"/>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following are several ways tailgating can occur:</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 tailgater waits at the end of the sidewalk until an authorized user opens the door. She then calls out to him to “Please hold the door!” as she hurries to enter. In most cases, good etiquette wins out over good security practices, and the door is held open for the tailgater.</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 tailgater waits near the outside of the door and then quickly enters once the authorized employee leaves the area.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tailgater stands outside the door and waits until an employee exits the building. He then slips behind the person as he is walking away and grabs the door just before it closes to gain access to the building.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employee conspires with an unauthorized person to allow him to walk in with him through the open door (called </a:t>
            </a:r>
            <a:r>
              <a:rPr lang="en-US" sz="2400" i="1" dirty="0">
                <a:latin typeface="Times New Roman" panose="02020603050405020304" pitchFamily="18" charset="0"/>
                <a:cs typeface="Times New Roman" panose="02020603050405020304" pitchFamily="18" charset="0"/>
              </a:rPr>
              <a:t>piggybacking</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388754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59</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8150"/>
          </a:xfrm>
        </p:spPr>
        <p:txBody>
          <a:bodyPr>
            <a:normAutofit/>
          </a:bodyPr>
          <a:lstStyle/>
          <a:p>
            <a:r>
              <a:rPr lang="en-US" sz="4000" b="1" dirty="0">
                <a:latin typeface="Times New Roman" panose="02020603050405020304" pitchFamily="18" charset="0"/>
                <a:cs typeface="Times New Roman" panose="02020603050405020304" pitchFamily="18" charset="0"/>
              </a:rPr>
              <a:t>Shoulder Surfing</a:t>
            </a:r>
            <a:endParaRPr lang="en-US" sz="4000" dirty="0">
              <a:latin typeface="Times New Roman" panose="02020603050405020304" pitchFamily="18" charset="0"/>
              <a:cs typeface="Times New Roman" panose="02020603050405020304" pitchFamily="18" charset="0"/>
            </a:endParaRPr>
          </a:p>
        </p:txBody>
      </p:sp>
      <p:sp>
        <p:nvSpPr>
          <p:cNvPr id="10" name="object 2"/>
          <p:cNvSpPr/>
          <p:nvPr/>
        </p:nvSpPr>
        <p:spPr>
          <a:xfrm>
            <a:off x="819871" y="1427020"/>
            <a:ext cx="10383983" cy="4045526"/>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an attacker cannot enter a building as a tailgater without raising suspicion, an alternative is to watch an individual entering the security code on a keypad. Known as </a:t>
            </a:r>
            <a:r>
              <a:rPr lang="en-US" sz="2400" b="1" dirty="0">
                <a:latin typeface="Times New Roman" panose="02020603050405020304" pitchFamily="18" charset="0"/>
                <a:cs typeface="Times New Roman" panose="02020603050405020304" pitchFamily="18" charset="0"/>
              </a:rPr>
              <a:t>shoulder surfing</a:t>
            </a: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technique can be used in any setting that allows an attacker to casually observe someone entering secret information, such as the security codes on a door keypad.</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Attackers are also using webcams and smartphone cameras to "shoulder surf" users of ATM machines to record keypad entries</a:t>
            </a:r>
          </a:p>
        </p:txBody>
      </p:sp>
    </p:spTree>
    <p:extLst>
      <p:ext uri="{BB962C8B-B14F-4D97-AF65-F5344CB8AC3E}">
        <p14:creationId xmlns:p14="http://schemas.microsoft.com/office/powerpoint/2010/main" val="13036629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lumMod val="95000"/>
                    <a:lumOff val="5000"/>
                  </a:schemeClr>
                </a:solidFill>
                <a:latin typeface="Times New Roman" panose="02020603050405020304" pitchFamily="18" charset="0"/>
                <a:cs typeface="Times New Roman" panose="02020603050405020304" pitchFamily="18" charset="0"/>
              </a:rPr>
              <a:t>60</a:t>
            </a:fld>
            <a:endParaRPr lang="en-US"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lumMod val="95000"/>
                    <a:lumOff val="5000"/>
                  </a:schemeClr>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8150"/>
          </a:xfrm>
        </p:spPr>
        <p:txBody>
          <a:bodyPr>
            <a:normAutofit/>
          </a:bodyPr>
          <a:lstStyle/>
          <a:p>
            <a:r>
              <a:rPr lang="en-US" sz="4000" b="1" dirty="0">
                <a:latin typeface="Times New Roman" panose="02020603050405020304" pitchFamily="18" charset="0"/>
                <a:cs typeface="Times New Roman" panose="02020603050405020304" pitchFamily="18" charset="0"/>
              </a:rPr>
              <a:t>Impacts of Attacks</a:t>
            </a:r>
          </a:p>
        </p:txBody>
      </p:sp>
      <p:sp>
        <p:nvSpPr>
          <p:cNvPr id="10" name="object 2"/>
          <p:cNvSpPr/>
          <p:nvPr/>
        </p:nvSpPr>
        <p:spPr>
          <a:xfrm>
            <a:off x="819871" y="1427020"/>
            <a:ext cx="10383983" cy="4045526"/>
          </a:xfrm>
          <a:prstGeom prst="rect">
            <a:avLst/>
          </a:prstGeom>
          <a:blipFill>
            <a:blip r:embed="rId3" cstate="print"/>
            <a:stretch>
              <a:fillRect/>
            </a:stretch>
          </a:blipFill>
        </p:spPr>
        <p:txBody>
          <a:bodyPr wrap="square" lIns="0" tIns="0" rIns="0" bIns="0" rtlCol="0"/>
          <a:lstStyle/>
          <a:p>
            <a:pPr>
              <a:buClr>
                <a:srgbClr val="FF0000"/>
              </a:buClr>
            </a:pPr>
            <a:r>
              <a:rPr lang="en-US" sz="2400" dirty="0">
                <a:latin typeface="Times New Roman" panose="02020603050405020304" pitchFamily="18" charset="0"/>
                <a:cs typeface="Times New Roman" panose="02020603050405020304" pitchFamily="18" charset="0"/>
              </a:rPr>
              <a:t>	A successful attack always results in several negative impacts. These impacts can be classified as data impacts and effects on the organization.</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Data Impacts</a:t>
            </a:r>
          </a:p>
          <a:p>
            <a:pPr>
              <a:buClr>
                <a:srgbClr val="FF0000"/>
              </a:buClr>
            </a:pPr>
            <a:r>
              <a:rPr lang="en-US" sz="24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Whereas the goal of some attacks may be harm to a system, such as manipulating an industrial control system to shut down a water filtration facility, most attacks focus on data as the primary target.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Effects on the Enterprise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 successful attack can also have grave consequences for an enterprise. First, the attack may make systems inaccessible (</a:t>
            </a:r>
            <a:r>
              <a:rPr lang="en-US" sz="2200" b="1" dirty="0">
                <a:latin typeface="Times New Roman" panose="02020603050405020304" pitchFamily="18" charset="0"/>
                <a:cs typeface="Times New Roman" panose="02020603050405020304" pitchFamily="18" charset="0"/>
              </a:rPr>
              <a:t>availability loss</a:t>
            </a:r>
            <a:r>
              <a:rPr lang="en-US" sz="2200" dirty="0">
                <a:latin typeface="Times New Roman" panose="02020603050405020304" pitchFamily="18" charset="0"/>
                <a:cs typeface="Times New Roman" panose="02020603050405020304" pitchFamily="18" charset="0"/>
              </a:rPr>
              <a:t>). This results in lost productivity, which can affect the normal tasks for generating income (</a:t>
            </a:r>
            <a:r>
              <a:rPr lang="en-US" sz="2200" b="1" dirty="0">
                <a:latin typeface="Times New Roman" panose="02020603050405020304" pitchFamily="18" charset="0"/>
                <a:cs typeface="Times New Roman" panose="02020603050405020304" pitchFamily="18" charset="0"/>
              </a:rPr>
              <a:t>financial loss</a:t>
            </a:r>
            <a:r>
              <a:rPr lang="en-US"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147607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097281" y="1799971"/>
            <a:ext cx="10115202" cy="45093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99" y="2286000"/>
            <a:ext cx="9718766" cy="3148149"/>
          </a:xfrm>
          <a:prstGeom prst="rect">
            <a:avLst/>
          </a:prstGeom>
        </p:spPr>
      </p:pic>
      <p:sp>
        <p:nvSpPr>
          <p:cNvPr id="10" name="Slide Number Placeholder 9"/>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61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1"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516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3494</TotalTime>
  <Words>4876</Words>
  <Application>Microsoft Office PowerPoint</Application>
  <PresentationFormat>Widescreen</PresentationFormat>
  <Paragraphs>419</Paragraphs>
  <Slides>61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Passive Versus Active Attacks</vt:lpstr>
      <vt:lpstr>Malware attack</vt:lpstr>
      <vt:lpstr>Malware attack</vt:lpstr>
      <vt:lpstr>Malware Types</vt:lpstr>
      <vt:lpstr>Worms</vt:lpstr>
      <vt:lpstr>Viruses</vt:lpstr>
      <vt:lpstr>Viruses</vt:lpstr>
      <vt:lpstr>Bots &amp; Botnets</vt:lpstr>
      <vt:lpstr>Bots &amp; Botnets</vt:lpstr>
      <vt:lpstr>Trojan Horses</vt:lpstr>
      <vt:lpstr>Ransomware</vt:lpstr>
      <vt:lpstr>Ransomware</vt:lpstr>
      <vt:lpstr>Ransomware</vt:lpstr>
      <vt:lpstr>Ransomware</vt:lpstr>
      <vt:lpstr>Adware &amp; Scams</vt:lpstr>
      <vt:lpstr>Spyware</vt:lpstr>
      <vt:lpstr>PowerPoint Presentation</vt:lpstr>
      <vt:lpstr>Malware Detection</vt:lpstr>
      <vt:lpstr>Malware Classification</vt:lpstr>
      <vt:lpstr>Malware Classification</vt:lpstr>
      <vt:lpstr>Social engineering</vt:lpstr>
      <vt:lpstr>PowerPoint Presentation</vt:lpstr>
      <vt:lpstr>Social engineering</vt:lpstr>
      <vt:lpstr>Social engineering</vt:lpstr>
      <vt:lpstr>Social Engineering Attacks</vt:lpstr>
      <vt:lpstr>Psychological Principles</vt:lpstr>
      <vt:lpstr>Psychological Principles</vt:lpstr>
      <vt:lpstr>Psychological Principles</vt:lpstr>
      <vt:lpstr>Psychological Principles</vt:lpstr>
      <vt:lpstr>Psychological Principles</vt:lpstr>
      <vt:lpstr>Impersonation</vt:lpstr>
      <vt:lpstr>Phishing</vt:lpstr>
      <vt:lpstr>Phishing</vt:lpstr>
      <vt:lpstr>Phishing</vt:lpstr>
      <vt:lpstr>Phishing Attacks</vt:lpstr>
      <vt:lpstr>Phishing Attacks</vt:lpstr>
      <vt:lpstr>Phishing Attacks</vt:lpstr>
      <vt:lpstr>Phishing Attacks</vt:lpstr>
      <vt:lpstr>Redirection</vt:lpstr>
      <vt:lpstr>Pharming</vt:lpstr>
      <vt:lpstr>Spam</vt:lpstr>
      <vt:lpstr>Hoaxes</vt:lpstr>
      <vt:lpstr>Watering Hole Attack</vt:lpstr>
      <vt:lpstr>Physical Procedures</vt:lpstr>
      <vt:lpstr>Dumpster Diving</vt:lpstr>
      <vt:lpstr>Dumpster Diving</vt:lpstr>
      <vt:lpstr>Tailgating</vt:lpstr>
      <vt:lpstr>Tailgating</vt:lpstr>
      <vt:lpstr>Shoulder Surfing</vt:lpstr>
      <vt:lpstr>Impacts of Attacks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the image steganography  using LSB substitution</dc:title>
  <dc:creator>Muhammad Umar Aftab</dc:creator>
  <cp:lastModifiedBy>Umar</cp:lastModifiedBy>
  <cp:revision>293</cp:revision>
  <dcterms:created xsi:type="dcterms:W3CDTF">2020-05-17T12:17:03Z</dcterms:created>
  <dcterms:modified xsi:type="dcterms:W3CDTF">2025-08-26T09:51:17Z</dcterms:modified>
</cp:coreProperties>
</file>