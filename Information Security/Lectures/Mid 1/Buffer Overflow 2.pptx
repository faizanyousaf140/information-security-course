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7" r:id="rId1"/>
  </p:sldMasterIdLst>
  <p:notesMasterIdLst>
    <p:notesMasterId r:id="rId16"/>
  </p:notesMasterIdLst>
  <p:handoutMasterIdLst>
    <p:handoutMasterId r:id="rId17"/>
  </p:handoutMasterIdLst>
  <p:sldIdLst>
    <p:sldId id="258" r:id="rId2"/>
    <p:sldId id="732" r:id="rId3"/>
    <p:sldId id="750" r:id="rId4"/>
    <p:sldId id="752" r:id="rId5"/>
    <p:sldId id="751" r:id="rId6"/>
    <p:sldId id="754" r:id="rId7"/>
    <p:sldId id="753" r:id="rId8"/>
    <p:sldId id="755" r:id="rId9"/>
    <p:sldId id="756" r:id="rId10"/>
    <p:sldId id="757" r:id="rId11"/>
    <p:sldId id="758" r:id="rId12"/>
    <p:sldId id="759" r:id="rId13"/>
    <p:sldId id="760" r:id="rId14"/>
    <p:sldId id="317" r:id="rId15"/>
  </p:sldIdLst>
  <p:sldSz cx="12192000" cy="6858000"/>
  <p:notesSz cx="7053263" cy="93091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 Hamza" initials="AH" lastIdx="3" clrIdx="0">
    <p:extLst>
      <p:ext uri="{19B8F6BF-5375-455C-9EA6-DF929625EA0E}">
        <p15:presenceInfo xmlns:p15="http://schemas.microsoft.com/office/powerpoint/2012/main" userId="S::f179026@cfd.nu.edu.pk::fc9d8215-e733-4df3-b2ca-e28ecc6820c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6" autoAdjust="0"/>
    <p:restoredTop sz="90079" autoAdjust="0"/>
  </p:normalViewPr>
  <p:slideViewPr>
    <p:cSldViewPr snapToGrid="0">
      <p:cViewPr varScale="1">
        <p:scale>
          <a:sx n="66" d="100"/>
          <a:sy n="66" d="100"/>
        </p:scale>
        <p:origin x="106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14960B17-FD8B-4764-8C28-99523272243B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BE3C136E-1DFE-4E9E-BE58-9DBEBA51C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5464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705A37F7-EBDD-4C50-A4DA-D2D30EABC4E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9E103808-D7BC-4AB5-B62E-2F3F4474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5533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rogramming_language_syntax" TargetMode="External"/><Relationship Id="rId3" Type="http://schemas.openxmlformats.org/officeDocument/2006/relationships/hyperlink" Target="https://en.wikipedia.org/wiki/Computer_science" TargetMode="External"/><Relationship Id="rId7" Type="http://schemas.openxmlformats.org/officeDocument/2006/relationships/hyperlink" Target="https://en.wikipedia.org/wiki/Protocol_(computing)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Programming_language" TargetMode="External"/><Relationship Id="rId5" Type="http://schemas.openxmlformats.org/officeDocument/2006/relationships/hyperlink" Target="https://en.wikipedia.org/wiki/Assembly_language" TargetMode="External"/><Relationship Id="rId4" Type="http://schemas.openxmlformats.org/officeDocument/2006/relationships/hyperlink" Target="https://en.wikipedia.org/wiki/Machine_code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14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>
                <a:solidFill>
                  <a:schemeClr val="tx1"/>
                </a:solidFill>
              </a:rPr>
              <a:t>In </a:t>
            </a:r>
            <a:r>
              <a:rPr lang="en-US" u="none" dirty="0">
                <a:solidFill>
                  <a:schemeClr val="tx1"/>
                </a:solidFill>
                <a:hlinkClick r:id="rId3" tooltip="Computer scienc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computer science</a:t>
            </a:r>
            <a:r>
              <a:rPr lang="en-US" u="none" dirty="0">
                <a:solidFill>
                  <a:schemeClr val="tx1"/>
                </a:solidFill>
              </a:rPr>
              <a:t>, a </a:t>
            </a:r>
            <a:r>
              <a:rPr lang="en-US" b="1" u="none" dirty="0">
                <a:solidFill>
                  <a:schemeClr val="tx1"/>
                </a:solidFill>
              </a:rPr>
              <a:t>NOP</a:t>
            </a:r>
            <a:r>
              <a:rPr lang="en-US" u="none" dirty="0">
                <a:solidFill>
                  <a:schemeClr val="tx1"/>
                </a:solidFill>
              </a:rPr>
              <a:t>, </a:t>
            </a:r>
            <a:r>
              <a:rPr lang="en-US" b="1" u="none" dirty="0">
                <a:solidFill>
                  <a:schemeClr val="tx1"/>
                </a:solidFill>
              </a:rPr>
              <a:t>no-op</a:t>
            </a:r>
            <a:r>
              <a:rPr lang="en-US" u="none" dirty="0">
                <a:solidFill>
                  <a:schemeClr val="tx1"/>
                </a:solidFill>
              </a:rPr>
              <a:t>, or </a:t>
            </a:r>
            <a:r>
              <a:rPr lang="en-US" b="1" u="none" dirty="0">
                <a:solidFill>
                  <a:schemeClr val="tx1"/>
                </a:solidFill>
              </a:rPr>
              <a:t>NOOP</a:t>
            </a:r>
            <a:r>
              <a:rPr lang="en-US" u="none" dirty="0">
                <a:solidFill>
                  <a:schemeClr val="tx1"/>
                </a:solidFill>
              </a:rPr>
              <a:t> (pronounced "no op"; short for </a:t>
            </a:r>
            <a:r>
              <a:rPr lang="en-US" b="1" u="none" dirty="0">
                <a:solidFill>
                  <a:schemeClr val="tx1"/>
                </a:solidFill>
              </a:rPr>
              <a:t>no operation</a:t>
            </a:r>
            <a:r>
              <a:rPr lang="en-US" u="none" dirty="0">
                <a:solidFill>
                  <a:schemeClr val="tx1"/>
                </a:solidFill>
              </a:rPr>
              <a:t>) is a </a:t>
            </a:r>
            <a:r>
              <a:rPr lang="en-US" u="none" dirty="0">
                <a:solidFill>
                  <a:schemeClr val="tx1"/>
                </a:solidFill>
                <a:hlinkClick r:id="rId4" tooltip="Machine cod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machine language</a:t>
            </a:r>
            <a:r>
              <a:rPr lang="en-US" u="none" dirty="0">
                <a:solidFill>
                  <a:schemeClr val="tx1"/>
                </a:solidFill>
              </a:rPr>
              <a:t> instruction and its </a:t>
            </a:r>
            <a:r>
              <a:rPr lang="en-US" u="none" dirty="0">
                <a:solidFill>
                  <a:schemeClr val="tx1"/>
                </a:solidFill>
                <a:hlinkClick r:id="rId5" tooltip="Assembly languag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assembly language</a:t>
            </a:r>
            <a:r>
              <a:rPr lang="en-US" u="none" dirty="0">
                <a:solidFill>
                  <a:schemeClr val="tx1"/>
                </a:solidFill>
              </a:rPr>
              <a:t> mnemonic, </a:t>
            </a:r>
            <a:r>
              <a:rPr lang="en-US" u="none" dirty="0">
                <a:solidFill>
                  <a:schemeClr val="tx1"/>
                </a:solidFill>
                <a:hlinkClick r:id="rId6" tooltip="Programming languag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programming language</a:t>
            </a:r>
            <a:r>
              <a:rPr lang="en-US" u="none" dirty="0">
                <a:solidFill>
                  <a:schemeClr val="tx1"/>
                </a:solidFill>
              </a:rPr>
              <a:t> statement, or </a:t>
            </a:r>
            <a:r>
              <a:rPr lang="en-US" u="none" dirty="0">
                <a:solidFill>
                  <a:schemeClr val="tx1"/>
                </a:solidFill>
                <a:hlinkClick r:id="rId7" tooltip="Protocol (computing)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computer protocol</a:t>
            </a:r>
            <a:r>
              <a:rPr lang="en-US" u="none" dirty="0">
                <a:solidFill>
                  <a:schemeClr val="tx1"/>
                </a:solidFill>
              </a:rPr>
              <a:t> command that does nothing. </a:t>
            </a:r>
          </a:p>
          <a:p>
            <a:r>
              <a:rPr lang="en-US" dirty="0"/>
              <a:t>A function or a sequence of programming language statements is a NOP or null statement if it has no effect. Null statements may be required by the by the </a:t>
            </a:r>
            <a:r>
              <a:rPr lang="en-US" dirty="0">
                <a:hlinkClick r:id="rId8" tooltip="Programming language syntax"/>
              </a:rPr>
              <a:t>syntax</a:t>
            </a:r>
            <a:r>
              <a:rPr lang="en-US" dirty="0"/>
              <a:t> of some languages in certain contexts. </a:t>
            </a:r>
            <a:endParaRPr lang="en-US" u="none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37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60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GDB is the acronym for </a:t>
            </a:r>
            <a:r>
              <a:rPr lang="en-US" b="1" dirty="0"/>
              <a:t>GNU Debugger</a:t>
            </a:r>
            <a:r>
              <a:rPr lang="en-US" dirty="0"/>
              <a:t>. This tool helps to debug the programs written in C, C++, Ada, Fortran, etc. The console can be opened using the </a:t>
            </a:r>
            <a:r>
              <a:rPr lang="en-US" dirty="0" err="1"/>
              <a:t>gdb</a:t>
            </a:r>
            <a:r>
              <a:rPr lang="en-US" dirty="0"/>
              <a:t> command on terminal.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24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18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79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49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35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0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16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83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4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6F35-1BDD-4C97-AB1B-0EF3FCD6E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47696-76E0-4A7D-AAFD-A0DD3F9BE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AE90-3DAE-4874-9530-52E8010F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246C-6510-4698-BE5B-78345F23A6B1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150A-9FAA-4828-A677-51AFEF24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86D3E-B678-4E98-9CAB-2DA8A3D7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6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CBAD-3D0B-4143-9F22-FA90EA93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DE9C-1287-4D29-9B55-74AC74377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6A329-A0DE-4C1F-9375-03747524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7DFAF-66BC-4E20-9B1D-DC0448E5323F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C9A8-FD46-4087-B413-AD97FC50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D4FC3-2CF7-4015-9D3D-3207E779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6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4D9C-53F3-4A72-BE30-B6CF7FF7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5710C-DCE5-4A4B-88FC-2B7596F04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503A-C05D-4150-BD6B-219A063F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DF65-B5CB-4C2A-9DAF-8C83FF1E3012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D3F93-B099-4DDE-BD8C-B20714AF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7ECDD-92DF-4EE4-ABCC-7F12BEC4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40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D001-769F-4BA5-A19F-7FAFE741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9AF7-6483-42F0-8F35-574519D09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A1564-74CB-4E17-9893-B2015FF56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936C1-0B68-40E0-860D-7865B35D1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42799-02D2-4A3E-BED6-7F1E5E9A51D9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18151-364F-4458-8674-792144FF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28F02-F967-4106-A0CC-B4B85030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9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2CDA-1423-4123-A20C-87A750BC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1C7AD-81AF-4517-BCA3-E981E39E8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0C1FD-785A-494B-8266-BC643FB67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1B3AF-BC32-4746-B151-0B007F0AF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4EABE-E223-4C00-93C6-93A57D2CD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ECE82-C73C-41C3-B8AB-264E828D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22E7-A387-44A6-BEB9-C59A7D60876D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16326-244A-4808-B1E3-F1FDC9C10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5B595-FCF0-4FBE-9315-9E920D81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3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9353-08EF-475D-97F8-BE6B4652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C543B-33E3-48CF-B83C-C541D6CB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E30F-1D36-4BE0-BC06-5E83DD9BE350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C0699-826F-4A8E-B326-560AD252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8C207-1278-4153-B420-9EF4A449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1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68D0D-CD9A-4D7A-A953-4B80DEFC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E4ECE-C233-447A-A174-0A57836539B8}" type="datetime1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C46BD-36CF-41D8-9D61-3C0284DF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CE466-759A-4047-8073-18F51B7B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0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62C7-A5DD-4E6E-AEC8-D2596C0A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44E32-0A99-4A52-BB43-F9B35618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F3BC2-6F12-4DBB-9471-4665FB534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C92E9-B3F9-4DC5-B04D-6429BF06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55E21-7CF7-4D44-8F02-045551EED843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3CCC0-44D6-44E7-B3E2-F9508F2E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E6695-AA5E-44D1-9985-4427DD58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1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D7B4-D7B9-4CD5-8BBF-261B67DB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4BA48-7AB5-49D9-81E8-DFFBE9AB6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C2DDF-C490-4A6F-A58E-8725DD27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83A0D-2DAD-49E9-B1EE-9DF052C1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839-95EF-4AEF-A139-C8CD2D92FE09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9279F-FA38-482C-A481-C161B9DC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8492A-027C-44E9-8D07-DE52AB2C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5B1B3-8AAA-40ED-9E60-009698E2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A64B8-4914-4368-9D4C-2DC37C25D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E6B-9FD8-44E5-9EB9-16C15B41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A120-004F-44F7-AA80-A536C410B118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4B6C4-C406-42D6-87B7-00D9D10E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E5894-C90C-431F-B702-4D6611A1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9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51357-1906-49D4-8444-311DD8EBA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B0759-AC21-48C2-9875-B1BA606A6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DD895-74B7-4197-8E32-1C0EEA0F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DFDAB-C4D1-4AEF-837D-F9115D5FE1B7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364BF-7EC4-4BC8-8DE0-0AA8186F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8166F-7663-4892-937D-7D4BBBAA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6B69C-8C9A-4525-B3FF-650112E1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5E67D-B9E8-4E04-989F-BD8B8B97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F7E2E-A1D1-4245-BA97-6E5FEB3FE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93555-EC39-4B3A-97B8-5F3BB501DD6F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56F8-8C74-4301-8A02-2373AA653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7F5B-BED3-4B88-9FD6-1C81D123A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8" r:id="rId1"/>
    <p:sldLayoutId id="2147484159" r:id="rId2"/>
    <p:sldLayoutId id="2147484160" r:id="rId3"/>
    <p:sldLayoutId id="2147484161" r:id="rId4"/>
    <p:sldLayoutId id="2147484162" r:id="rId5"/>
    <p:sldLayoutId id="2147484163" r:id="rId6"/>
    <p:sldLayoutId id="2147484164" r:id="rId7"/>
    <p:sldLayoutId id="2147484165" r:id="rId8"/>
    <p:sldLayoutId id="2147484166" r:id="rId9"/>
    <p:sldLayoutId id="2147484167" r:id="rId10"/>
    <p:sldLayoutId id="21474841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9095231" y="2054572"/>
            <a:ext cx="1193292" cy="2462783"/>
            <a:chOff x="7571231" y="2942844"/>
            <a:chExt cx="1193292" cy="2462783"/>
          </a:xfrm>
        </p:grpSpPr>
        <p:sp>
          <p:nvSpPr>
            <p:cNvPr id="7" name="object 7"/>
            <p:cNvSpPr/>
            <p:nvPr/>
          </p:nvSpPr>
          <p:spPr>
            <a:xfrm>
              <a:off x="7571231" y="2942844"/>
              <a:ext cx="1193292" cy="24627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12074" y="3136773"/>
              <a:ext cx="911225" cy="2075180"/>
            </a:xfrm>
            <a:custGeom>
              <a:avLst/>
              <a:gdLst/>
              <a:ahLst/>
              <a:cxnLst/>
              <a:rect l="l" t="t" r="r" b="b"/>
              <a:pathLst>
                <a:path w="911225" h="2075179">
                  <a:moveTo>
                    <a:pt x="0" y="2074926"/>
                  </a:moveTo>
                  <a:lnTo>
                    <a:pt x="911225" y="2074926"/>
                  </a:lnTo>
                  <a:lnTo>
                    <a:pt x="911225" y="0"/>
                  </a:lnTo>
                  <a:lnTo>
                    <a:pt x="0" y="0"/>
                  </a:lnTo>
                  <a:lnTo>
                    <a:pt x="0" y="2074926"/>
                  </a:lnTo>
                  <a:close/>
                </a:path>
              </a:pathLst>
            </a:custGeom>
            <a:ln w="6350">
              <a:solidFill>
                <a:srgbClr val="6B7C71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970087" y="2128412"/>
            <a:ext cx="6946900" cy="2244725"/>
            <a:chOff x="446087" y="3055873"/>
            <a:chExt cx="6946900" cy="2244725"/>
          </a:xfrm>
        </p:grpSpPr>
        <p:sp>
          <p:nvSpPr>
            <p:cNvPr id="11" name="object 11"/>
            <p:cNvSpPr/>
            <p:nvPr/>
          </p:nvSpPr>
          <p:spPr>
            <a:xfrm>
              <a:off x="446087" y="3055873"/>
              <a:ext cx="6946900" cy="2244725"/>
            </a:xfrm>
            <a:custGeom>
              <a:avLst/>
              <a:gdLst/>
              <a:ahLst/>
              <a:cxnLst/>
              <a:rect l="l" t="t" r="r" b="b"/>
              <a:pathLst>
                <a:path w="6946900" h="2244725">
                  <a:moveTo>
                    <a:pt x="6946900" y="0"/>
                  </a:moveTo>
                  <a:lnTo>
                    <a:pt x="0" y="0"/>
                  </a:lnTo>
                  <a:lnTo>
                    <a:pt x="0" y="2244725"/>
                  </a:lnTo>
                  <a:lnTo>
                    <a:pt x="6946900" y="2244725"/>
                  </a:lnTo>
                  <a:lnTo>
                    <a:pt x="6946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36575" y="3136899"/>
              <a:ext cx="6765925" cy="2082800"/>
            </a:xfrm>
            <a:custGeom>
              <a:avLst/>
              <a:gdLst/>
              <a:ahLst/>
              <a:cxnLst/>
              <a:rect l="l" t="t" r="r" b="b"/>
              <a:pathLst>
                <a:path w="6765925" h="2082800">
                  <a:moveTo>
                    <a:pt x="6764528" y="0"/>
                  </a:moveTo>
                  <a:lnTo>
                    <a:pt x="1422" y="0"/>
                  </a:lnTo>
                  <a:lnTo>
                    <a:pt x="0" y="1397"/>
                  </a:lnTo>
                  <a:lnTo>
                    <a:pt x="0" y="2081402"/>
                  </a:lnTo>
                  <a:lnTo>
                    <a:pt x="1422" y="2082800"/>
                  </a:lnTo>
                  <a:lnTo>
                    <a:pt x="6764528" y="2082800"/>
                  </a:lnTo>
                  <a:lnTo>
                    <a:pt x="6765925" y="2081402"/>
                  </a:lnTo>
                  <a:lnTo>
                    <a:pt x="6765925" y="2080641"/>
                  </a:lnTo>
                  <a:lnTo>
                    <a:pt x="2590" y="2080641"/>
                  </a:lnTo>
                  <a:lnTo>
                    <a:pt x="2120" y="2080260"/>
                  </a:lnTo>
                  <a:lnTo>
                    <a:pt x="2120" y="2539"/>
                  </a:lnTo>
                  <a:lnTo>
                    <a:pt x="2590" y="2159"/>
                  </a:lnTo>
                  <a:lnTo>
                    <a:pt x="6765925" y="2159"/>
                  </a:lnTo>
                  <a:lnTo>
                    <a:pt x="6765925" y="1397"/>
                  </a:lnTo>
                  <a:lnTo>
                    <a:pt x="6764528" y="0"/>
                  </a:lnTo>
                  <a:close/>
                </a:path>
                <a:path w="6765925" h="2082800">
                  <a:moveTo>
                    <a:pt x="6765925" y="2159"/>
                  </a:moveTo>
                  <a:lnTo>
                    <a:pt x="6763384" y="2159"/>
                  </a:lnTo>
                  <a:lnTo>
                    <a:pt x="6763766" y="2539"/>
                  </a:lnTo>
                  <a:lnTo>
                    <a:pt x="6763766" y="2080260"/>
                  </a:lnTo>
                  <a:lnTo>
                    <a:pt x="6763384" y="2080641"/>
                  </a:lnTo>
                  <a:lnTo>
                    <a:pt x="6765925" y="2080641"/>
                  </a:lnTo>
                  <a:lnTo>
                    <a:pt x="6765925" y="2159"/>
                  </a:lnTo>
                  <a:close/>
                </a:path>
                <a:path w="6765925" h="2082800">
                  <a:moveTo>
                    <a:pt x="6761733" y="4190"/>
                  </a:moveTo>
                  <a:lnTo>
                    <a:pt x="4229" y="4190"/>
                  </a:lnTo>
                  <a:lnTo>
                    <a:pt x="4229" y="2078608"/>
                  </a:lnTo>
                  <a:lnTo>
                    <a:pt x="6761733" y="2078608"/>
                  </a:lnTo>
                  <a:lnTo>
                    <a:pt x="6761733" y="2076450"/>
                  </a:lnTo>
                  <a:lnTo>
                    <a:pt x="6350" y="2076450"/>
                  </a:lnTo>
                  <a:lnTo>
                    <a:pt x="6350" y="6350"/>
                  </a:lnTo>
                  <a:lnTo>
                    <a:pt x="6761733" y="6350"/>
                  </a:lnTo>
                  <a:lnTo>
                    <a:pt x="6761733" y="4190"/>
                  </a:lnTo>
                  <a:close/>
                </a:path>
                <a:path w="6765925" h="2082800">
                  <a:moveTo>
                    <a:pt x="6761733" y="6350"/>
                  </a:moveTo>
                  <a:lnTo>
                    <a:pt x="6759575" y="6350"/>
                  </a:lnTo>
                  <a:lnTo>
                    <a:pt x="6759575" y="2076450"/>
                  </a:lnTo>
                  <a:lnTo>
                    <a:pt x="6761733" y="2076450"/>
                  </a:lnTo>
                  <a:lnTo>
                    <a:pt x="6761733" y="6350"/>
                  </a:lnTo>
                  <a:close/>
                </a:path>
              </a:pathLst>
            </a:custGeom>
            <a:solidFill>
              <a:srgbClr val="6B7C71"/>
            </a:solid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65337" y="3631839"/>
            <a:ext cx="6756400" cy="740587"/>
          </a:xfrm>
          <a:prstGeom prst="rect">
            <a:avLst/>
          </a:prstGeom>
          <a:solidFill>
            <a:srgbClr val="92A199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spcBef>
                <a:spcPts val="15"/>
              </a:spcBef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>
              <a:tabLst>
                <a:tab pos="707390" algn="l"/>
                <a:tab pos="1868805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Muhammad Umar Aftab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5338" y="2158383"/>
            <a:ext cx="6756400" cy="125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spcBef>
                <a:spcPts val="10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</a:p>
          <a:p>
            <a:pPr marL="12700" marR="5080" algn="ctr">
              <a:spcBef>
                <a:spcPts val="105"/>
              </a:spcBef>
            </a:pP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20580"/>
            <a:ext cx="734244" cy="50744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005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1288774"/>
            <a:ext cx="10972800" cy="50661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foo() copies data in the buffer and it will overflow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overflow writes the data or over load the data in the return address section.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program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to our code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job is to call foo() to return to our code.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40042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62255E-73CB-4779-A537-4AF25025A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575" y="2517732"/>
            <a:ext cx="7210425" cy="380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80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8099" y="954816"/>
            <a:ext cx="11816219" cy="540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challenges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we have to face</a:t>
            </a:r>
          </a:p>
          <a:p>
            <a:pPr marL="1257300" lvl="2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we put the return address?</a:t>
            </a:r>
          </a:p>
          <a:p>
            <a:pPr marL="1714500" lvl="3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offset?</a:t>
            </a:r>
          </a:p>
          <a:p>
            <a:pPr marL="1257300" lvl="2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value we put into the address?</a:t>
            </a:r>
          </a:p>
          <a:p>
            <a:pPr marL="1714500" lvl="3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should be the beginning of our code.</a:t>
            </a:r>
          </a:p>
          <a:p>
            <a:pPr marL="1714500" lvl="3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we don’t know, what is the starting point of our code. Where our code placed in the stack?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creating multiple entry points, we can increase the chances of guesses. 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we can enter in our code from multiple </a:t>
            </a:r>
          </a:p>
          <a:p>
            <a:pPr lvl="1">
              <a:buClr>
                <a:srgbClr val="FF000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increase multiple entry points?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place a lot of NOP</a:t>
            </a:r>
          </a:p>
          <a:p>
            <a:pPr marL="1257300" lvl="2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our success rate will also increase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5E7A8-EDB8-4507-B9CB-5A6B3F3AE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268" y="3173578"/>
            <a:ext cx="61150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64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610" y="954816"/>
            <a:ext cx="11184908" cy="540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have to figure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one of the issue.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if we get the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and address of the buffer then we can get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offset value.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we have to plus some values in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so that we can reach to one of the NOP values.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B9698-481D-4030-8D14-D801DE7EF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312" y="1924368"/>
            <a:ext cx="10123705" cy="44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94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34319"/>
            <a:ext cx="5498926" cy="5819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experiment, we assume that we have the source code.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running this code for debugging.</a:t>
            </a:r>
          </a:p>
          <a:p>
            <a:pPr marL="1257300" lvl="2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set a breakpoint</a:t>
            </a:r>
          </a:p>
          <a:p>
            <a:pPr marL="1257300" lvl="2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stop the program during execution then we can print-out some of the variables.</a:t>
            </a:r>
          </a:p>
          <a:p>
            <a:pPr marL="1257300" lvl="2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foo() invoked then program will stop.</a:t>
            </a:r>
          </a:p>
          <a:p>
            <a:pPr marL="1257300" lvl="2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sure, when you run the program the bad file should exists.</a:t>
            </a:r>
          </a:p>
          <a:p>
            <a:pPr marL="1714500" lvl="3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create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running GDB</a:t>
            </a:r>
          </a:p>
          <a:p>
            <a:pPr marL="1257300" lvl="2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run and stop inside the foo().</a:t>
            </a:r>
          </a:p>
          <a:p>
            <a:pPr marL="1257300" lvl="2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program: Print value of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Offset and Addresses 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0E5B88-8FBC-4FF6-8A2F-8E7D8A3A8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1244" y="1062893"/>
            <a:ext cx="6780756" cy="579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6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215026"/>
            <a:ext cx="11094720" cy="5003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to print the values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buffer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p/d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get the difference of these numbers/ addresses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offset = 108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give us the idea “what will be the candidate value of return address (R.T)”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need to return one of our NOP.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ebp+8 is the candidate for R.T</a:t>
            </a:r>
          </a:p>
          <a:p>
            <a:pPr lvl="1">
              <a:buClr>
                <a:srgbClr val="FF0000"/>
              </a:buClr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our example/Attack, we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not using ebp+8 for </a:t>
            </a:r>
          </a:p>
          <a:p>
            <a:pPr lvl="1">
              <a:buClr>
                <a:srgbClr val="FF0000"/>
              </a:buClr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May be we use +100, +120 etc. </a:t>
            </a:r>
          </a:p>
          <a:p>
            <a:pPr lvl="1">
              <a:buClr>
                <a:srgbClr val="FF0000"/>
              </a:buCl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upon the scenario of experiment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Offset and Addresses 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3181A1-5A0D-4B17-9D7A-5D9FB4F42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6995" y="3989556"/>
            <a:ext cx="4876800" cy="2228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C8B9D8-033C-45A7-BE20-F516A8ADE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3795" y="2732612"/>
            <a:ext cx="44291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64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610" y="954816"/>
            <a:ext cx="11184908" cy="540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copy in the stack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put our malicious code.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make sure the ‘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must be in NOP range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need to create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put the return address at a particular location.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is at our side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overflow the buffer then our code will be triggered.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Remember: string copy () stops at 0. 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Inside our payload, we should not have any 0 but the return address may have.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Payload/ Input (</a:t>
            </a:r>
            <a:r>
              <a:rPr lang="en-GB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badfile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A2BEE6-36E2-4EAA-BBEA-1D8BAAD02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777" y="3256767"/>
            <a:ext cx="7611714" cy="309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84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610" y="954816"/>
            <a:ext cx="11184908" cy="540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see 0 then it will stop coping that will stop your attack.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Payload/ Input (</a:t>
            </a:r>
            <a:r>
              <a:rPr lang="en-GB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badfile</a:t>
            </a: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54783-4F5C-400D-AB94-7B321AE81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7939" y="1816274"/>
            <a:ext cx="8858250" cy="425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1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610" y="954816"/>
            <a:ext cx="11184908" cy="540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code put inside the shell code.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your code is ready then put into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 the Attack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 code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B4D06-0690-4A46-A160-D5917229D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741" y="1603332"/>
            <a:ext cx="9810750" cy="475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02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610" y="954816"/>
            <a:ext cx="11184908" cy="540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exploit.py and stack program.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exploit.py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generate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badfile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Run stack 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get the shell but not root shell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By checking id , we can see that we don’t have root privileged  Something went wrong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 code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ECC5E-7C1A-4E40-8E71-015655701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7937" y="2266950"/>
            <a:ext cx="709612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4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610" y="954816"/>
            <a:ext cx="11184908" cy="540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Issue: one of the countermeasure in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linux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OS.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 we have change that shall program does not have countermeasure.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Link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zsh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Now, do the attack again.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Countermeasure Issue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A7DA7-87A3-4835-A4A8-80CB825CC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891" y="2116303"/>
            <a:ext cx="70866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27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610" y="954816"/>
            <a:ext cx="11184908" cy="540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Run the stack  the sign change $ to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#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(Indication of Root)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Check id 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euid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=0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 code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DB573-5CC7-47E1-8AB2-EB3E0825E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049" y="1635617"/>
            <a:ext cx="707707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77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4610" y="954816"/>
            <a:ext cx="11184908" cy="5400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Revert the countermeasure  because many other things depend on it.</a:t>
            </a: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1097280" y="87278"/>
            <a:ext cx="8908869" cy="771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Countermeasure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25992-333C-4C81-8F65-57EA26111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2225" y="2509837"/>
            <a:ext cx="7443924" cy="245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36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7281" y="1799971"/>
            <a:ext cx="10115202" cy="45093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99" y="2286000"/>
            <a:ext cx="9718766" cy="3148149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516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6346</TotalTime>
  <Words>914</Words>
  <Application>Microsoft Office PowerPoint</Application>
  <PresentationFormat>Widescreen</PresentationFormat>
  <Paragraphs>123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the image steganography  using LSB substitution</dc:title>
  <dc:creator>Muhammad Umar Aftab</dc:creator>
  <cp:lastModifiedBy>Umar</cp:lastModifiedBy>
  <cp:revision>785</cp:revision>
  <dcterms:created xsi:type="dcterms:W3CDTF">2020-05-17T12:17:03Z</dcterms:created>
  <dcterms:modified xsi:type="dcterms:W3CDTF">2025-09-01T05:54:48Z</dcterms:modified>
</cp:coreProperties>
</file>