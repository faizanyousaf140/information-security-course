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2"/>
  </p:notesMasterIdLst>
  <p:sldIdLst>
    <p:sldId id="258" r:id="rId2"/>
    <p:sldId id="259" r:id="rId3"/>
    <p:sldId id="260" r:id="rId4"/>
    <p:sldId id="261" r:id="rId5"/>
    <p:sldId id="304" r:id="rId6"/>
    <p:sldId id="262" r:id="rId7"/>
    <p:sldId id="263" r:id="rId8"/>
    <p:sldId id="266" r:id="rId9"/>
    <p:sldId id="265" r:id="rId10"/>
    <p:sldId id="264" r:id="rId11"/>
    <p:sldId id="305" r:id="rId12"/>
    <p:sldId id="267" r:id="rId13"/>
    <p:sldId id="268" r:id="rId14"/>
    <p:sldId id="269" r:id="rId15"/>
    <p:sldId id="270" r:id="rId16"/>
    <p:sldId id="306" r:id="rId17"/>
    <p:sldId id="271" r:id="rId18"/>
    <p:sldId id="272" r:id="rId19"/>
    <p:sldId id="273" r:id="rId20"/>
    <p:sldId id="307"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8321" autoAdjust="0"/>
  </p:normalViewPr>
  <p:slideViewPr>
    <p:cSldViewPr snapToGrid="0">
      <p:cViewPr varScale="1">
        <p:scale>
          <a:sx n="65" d="100"/>
          <a:sy n="65" d="100"/>
        </p:scale>
        <p:origin x="9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A27C3-09B9-4619-9307-BDEF44E2BD8C}"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ADC6E-942E-444A-8DC4-4BC2F4710E27}" type="slidenum">
              <a:rPr lang="en-US" smtClean="0"/>
              <a:t>‹#›</a:t>
            </a:fld>
            <a:endParaRPr lang="en-US"/>
          </a:p>
        </p:txBody>
      </p:sp>
    </p:spTree>
    <p:extLst>
      <p:ext uri="{BB962C8B-B14F-4D97-AF65-F5344CB8AC3E}">
        <p14:creationId xmlns:p14="http://schemas.microsoft.com/office/powerpoint/2010/main" val="1863523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oogle.com/search?sca_esv=4a92dd1190abdc4f&amp;cs=0&amp;q=Same-Origin+Policy&amp;sa=X&amp;ved=2ahUKEwi3ncfiw8iPAxVvTaQEHccEFCYQxccNegQIBRAB&amp;mstk=AUtExfAmc7OCDg9Hh8mhB7PWtlVK3eAypwAU4bipVjCaqpBjVTre1T_pLvuKmO8sctKprs51W0I3GXmy7CMUHzlzHIWQSVQF8KswZETie4ljycGWtnfN4ar1wXB-4vhOIPzDtGTDcuziRj_BsL4aq80MN029qEnlDconbv68AGfXYqqM1Pc&amp;csui=3"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is at client side.</a:t>
            </a:r>
          </a:p>
          <a:p>
            <a:r>
              <a:rPr lang="en-US" dirty="0"/>
              <a:t>Server and browser communicate through HTTP protocol. HTTPs for encrypted communication.</a:t>
            </a:r>
          </a:p>
          <a:p>
            <a:r>
              <a:rPr lang="en-US" dirty="0"/>
              <a:t>If server has some data for store/access then it will use SQL.</a:t>
            </a:r>
          </a:p>
        </p:txBody>
      </p:sp>
      <p:sp>
        <p:nvSpPr>
          <p:cNvPr id="4" name="Slide Number Placeholder 3"/>
          <p:cNvSpPr>
            <a:spLocks noGrp="1"/>
          </p:cNvSpPr>
          <p:nvPr>
            <p:ph type="sldNum" sz="quarter" idx="5"/>
          </p:nvPr>
        </p:nvSpPr>
        <p:spPr/>
        <p:txBody>
          <a:bodyPr/>
          <a:lstStyle/>
          <a:p>
            <a:fld id="{8F9ADC6E-942E-444A-8DC4-4BC2F4710E27}" type="slidenum">
              <a:rPr lang="en-US" smtClean="0"/>
              <a:t>3</a:t>
            </a:fld>
            <a:endParaRPr lang="en-US"/>
          </a:p>
        </p:txBody>
      </p:sp>
    </p:spTree>
    <p:extLst>
      <p:ext uri="{BB962C8B-B14F-4D97-AF65-F5344CB8AC3E}">
        <p14:creationId xmlns:p14="http://schemas.microsoft.com/office/powerpoint/2010/main" val="2751133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Setup: https://seedsecuritylabs.org/labsetup.html</a:t>
            </a:r>
          </a:p>
        </p:txBody>
      </p:sp>
      <p:sp>
        <p:nvSpPr>
          <p:cNvPr id="4" name="Slide Number Placeholder 3"/>
          <p:cNvSpPr>
            <a:spLocks noGrp="1"/>
          </p:cNvSpPr>
          <p:nvPr>
            <p:ph type="sldNum" sz="quarter" idx="5"/>
          </p:nvPr>
        </p:nvSpPr>
        <p:spPr/>
        <p:txBody>
          <a:bodyPr/>
          <a:lstStyle/>
          <a:p>
            <a:fld id="{8F9ADC6E-942E-444A-8DC4-4BC2F4710E27}" type="slidenum">
              <a:rPr lang="en-US" smtClean="0"/>
              <a:t>4</a:t>
            </a:fld>
            <a:endParaRPr lang="en-US"/>
          </a:p>
        </p:txBody>
      </p:sp>
    </p:spTree>
    <p:extLst>
      <p:ext uri="{BB962C8B-B14F-4D97-AF65-F5344CB8AC3E}">
        <p14:creationId xmlns:p14="http://schemas.microsoft.com/office/powerpoint/2010/main" val="4176212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its encrypted then it will use HTTPs</a:t>
            </a:r>
          </a:p>
        </p:txBody>
      </p:sp>
      <p:sp>
        <p:nvSpPr>
          <p:cNvPr id="4" name="Slide Number Placeholder 3"/>
          <p:cNvSpPr>
            <a:spLocks noGrp="1"/>
          </p:cNvSpPr>
          <p:nvPr>
            <p:ph type="sldNum" sz="quarter" idx="5"/>
          </p:nvPr>
        </p:nvSpPr>
        <p:spPr/>
        <p:txBody>
          <a:bodyPr/>
          <a:lstStyle/>
          <a:p>
            <a:fld id="{8F9ADC6E-942E-444A-8DC4-4BC2F4710E27}" type="slidenum">
              <a:rPr lang="en-US" smtClean="0"/>
              <a:t>6</a:t>
            </a:fld>
            <a:endParaRPr lang="en-US"/>
          </a:p>
        </p:txBody>
      </p:sp>
    </p:spTree>
    <p:extLst>
      <p:ext uri="{BB962C8B-B14F-4D97-AF65-F5344CB8AC3E}">
        <p14:creationId xmlns:p14="http://schemas.microsoft.com/office/powerpoint/2010/main" val="92270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spc="15" dirty="0">
                <a:latin typeface="Times New Roman" panose="02020603050405020304" pitchFamily="18" charset="0"/>
                <a:cs typeface="Times New Roman" panose="02020603050405020304" pitchFamily="18" charset="0"/>
                <a:sym typeface="Wingdings" panose="05000000000000000000" pitchFamily="2" charset="2"/>
              </a:rPr>
              <a:t>Presentation of the data (CSS),  Which </a:t>
            </a:r>
            <a:r>
              <a:rPr lang="en-GB" sz="1200" spc="15" dirty="0" err="1">
                <a:latin typeface="Times New Roman" panose="02020603050405020304" pitchFamily="18" charset="0"/>
                <a:cs typeface="Times New Roman" panose="02020603050405020304" pitchFamily="18" charset="0"/>
                <a:sym typeface="Wingdings" panose="05000000000000000000" pitchFamily="2" charset="2"/>
              </a:rPr>
              <a:t>color</a:t>
            </a:r>
            <a:r>
              <a:rPr lang="en-GB" sz="1200" spc="15" dirty="0">
                <a:latin typeface="Times New Roman" panose="02020603050405020304" pitchFamily="18" charset="0"/>
                <a:cs typeface="Times New Roman" panose="02020603050405020304" pitchFamily="18" charset="0"/>
                <a:sym typeface="Wingdings" panose="05000000000000000000" pitchFamily="2" charset="2"/>
              </a:rPr>
              <a:t>, style</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7</a:t>
            </a:fld>
            <a:endParaRPr lang="en-US"/>
          </a:p>
        </p:txBody>
      </p:sp>
    </p:spTree>
    <p:extLst>
      <p:ext uri="{BB962C8B-B14F-4D97-AF65-F5344CB8AC3E}">
        <p14:creationId xmlns:p14="http://schemas.microsoft.com/office/powerpoint/2010/main" val="1416315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in the form of libraries. When you invoke the plug-in </a:t>
            </a:r>
            <a:r>
              <a:rPr lang="en-US" dirty="0">
                <a:sym typeface="Wingdings" panose="05000000000000000000" pitchFamily="2" charset="2"/>
              </a:rPr>
              <a:t> you are basically invoking those libraries.</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8</a:t>
            </a:fld>
            <a:endParaRPr lang="en-US"/>
          </a:p>
        </p:txBody>
      </p:sp>
    </p:spTree>
    <p:extLst>
      <p:ext uri="{BB962C8B-B14F-4D97-AF65-F5344CB8AC3E}">
        <p14:creationId xmlns:p14="http://schemas.microsoft.com/office/powerpoint/2010/main" val="3939957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Object Model (DOM)</a:t>
            </a:r>
          </a:p>
        </p:txBody>
      </p:sp>
      <p:sp>
        <p:nvSpPr>
          <p:cNvPr id="4" name="Slide Number Placeholder 3"/>
          <p:cNvSpPr>
            <a:spLocks noGrp="1"/>
          </p:cNvSpPr>
          <p:nvPr>
            <p:ph type="sldNum" sz="quarter" idx="5"/>
          </p:nvPr>
        </p:nvSpPr>
        <p:spPr/>
        <p:txBody>
          <a:bodyPr/>
          <a:lstStyle/>
          <a:p>
            <a:fld id="{8F9ADC6E-942E-444A-8DC4-4BC2F4710E27}" type="slidenum">
              <a:rPr lang="en-US" smtClean="0"/>
              <a:t>16</a:t>
            </a:fld>
            <a:endParaRPr lang="en-US"/>
          </a:p>
        </p:txBody>
      </p:sp>
    </p:spTree>
    <p:extLst>
      <p:ext uri="{BB962C8B-B14F-4D97-AF65-F5344CB8AC3E}">
        <p14:creationId xmlns:p14="http://schemas.microsoft.com/office/powerpoint/2010/main" val="1237863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integrate the code by event of button click</a:t>
            </a:r>
          </a:p>
        </p:txBody>
      </p:sp>
      <p:sp>
        <p:nvSpPr>
          <p:cNvPr id="4" name="Slide Number Placeholder 3"/>
          <p:cNvSpPr>
            <a:spLocks noGrp="1"/>
          </p:cNvSpPr>
          <p:nvPr>
            <p:ph type="sldNum" sz="quarter" idx="5"/>
          </p:nvPr>
        </p:nvSpPr>
        <p:spPr/>
        <p:txBody>
          <a:bodyPr/>
          <a:lstStyle/>
          <a:p>
            <a:fld id="{8F9ADC6E-942E-444A-8DC4-4BC2F4710E27}" type="slidenum">
              <a:rPr lang="en-US" smtClean="0"/>
              <a:t>17</a:t>
            </a:fld>
            <a:endParaRPr lang="en-US"/>
          </a:p>
        </p:txBody>
      </p:sp>
    </p:spTree>
    <p:extLst>
      <p:ext uri="{BB962C8B-B14F-4D97-AF65-F5344CB8AC3E}">
        <p14:creationId xmlns:p14="http://schemas.microsoft.com/office/powerpoint/2010/main" val="366054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18</a:t>
            </a:fld>
            <a:endParaRPr lang="en-US"/>
          </a:p>
        </p:txBody>
      </p:sp>
    </p:spTree>
    <p:extLst>
      <p:ext uri="{BB962C8B-B14F-4D97-AF65-F5344CB8AC3E}">
        <p14:creationId xmlns:p14="http://schemas.microsoft.com/office/powerpoint/2010/main" val="2273417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bytecode is </a:t>
            </a:r>
            <a:r>
              <a:rPr lang="en-US" b="1" dirty="0"/>
              <a:t>a format that simplifies the execution of the JavaScript code by an interpreter, and then by the Just-In-Time compilers (JITs)</a:t>
            </a:r>
            <a:r>
              <a:rPr lang="en-US" dirty="0"/>
              <a:t>. The bytecode is much larger than the source code, so Firefox only generates the bytecode of executed functions.</a:t>
            </a:r>
          </a:p>
        </p:txBody>
      </p:sp>
      <p:sp>
        <p:nvSpPr>
          <p:cNvPr id="4" name="Slide Number Placeholder 3"/>
          <p:cNvSpPr>
            <a:spLocks noGrp="1"/>
          </p:cNvSpPr>
          <p:nvPr>
            <p:ph type="sldNum" sz="quarter" idx="5"/>
          </p:nvPr>
        </p:nvSpPr>
        <p:spPr/>
        <p:txBody>
          <a:bodyPr/>
          <a:lstStyle/>
          <a:p>
            <a:fld id="{8F9ADC6E-942E-444A-8DC4-4BC2F4710E27}" type="slidenum">
              <a:rPr lang="en-US" smtClean="0"/>
              <a:t>19</a:t>
            </a:fld>
            <a:endParaRPr lang="en-US"/>
          </a:p>
        </p:txBody>
      </p:sp>
    </p:spTree>
    <p:extLst>
      <p:ext uri="{BB962C8B-B14F-4D97-AF65-F5344CB8AC3E}">
        <p14:creationId xmlns:p14="http://schemas.microsoft.com/office/powerpoint/2010/main" val="3691653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20</a:t>
            </a:fld>
            <a:endParaRPr lang="en-US"/>
          </a:p>
        </p:txBody>
      </p:sp>
    </p:spTree>
    <p:extLst>
      <p:ext uri="{BB962C8B-B14F-4D97-AF65-F5344CB8AC3E}">
        <p14:creationId xmlns:p14="http://schemas.microsoft.com/office/powerpoint/2010/main" val="313348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going to discuss network part right now</a:t>
            </a:r>
          </a:p>
        </p:txBody>
      </p:sp>
      <p:sp>
        <p:nvSpPr>
          <p:cNvPr id="4" name="Slide Number Placeholder 3"/>
          <p:cNvSpPr>
            <a:spLocks noGrp="1"/>
          </p:cNvSpPr>
          <p:nvPr>
            <p:ph type="sldNum" sz="quarter" idx="5"/>
          </p:nvPr>
        </p:nvSpPr>
        <p:spPr/>
        <p:txBody>
          <a:bodyPr/>
          <a:lstStyle/>
          <a:p>
            <a:fld id="{8F9ADC6E-942E-444A-8DC4-4BC2F4710E27}" type="slidenum">
              <a:rPr lang="en-US" smtClean="0"/>
              <a:t>22</a:t>
            </a:fld>
            <a:endParaRPr lang="en-US"/>
          </a:p>
        </p:txBody>
      </p:sp>
    </p:spTree>
    <p:extLst>
      <p:ext uri="{BB962C8B-B14F-4D97-AF65-F5344CB8AC3E}">
        <p14:creationId xmlns:p14="http://schemas.microsoft.com/office/powerpoint/2010/main" val="3876045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Inline</a:t>
            </a:r>
            <a:r>
              <a:rPr lang="en-US" b="1" dirty="0"/>
              <a:t> elements </a:t>
            </a:r>
            <a:r>
              <a:rPr lang="en-US" dirty="0"/>
              <a:t>are those which only occupy the space bounded by the tags defining the element, instead of breaking the flow of the content.</a:t>
            </a:r>
          </a:p>
        </p:txBody>
      </p:sp>
      <p:sp>
        <p:nvSpPr>
          <p:cNvPr id="4" name="Slide Number Placeholder 3"/>
          <p:cNvSpPr>
            <a:spLocks noGrp="1"/>
          </p:cNvSpPr>
          <p:nvPr>
            <p:ph type="sldNum" sz="quarter" idx="5"/>
          </p:nvPr>
        </p:nvSpPr>
        <p:spPr/>
        <p:txBody>
          <a:bodyPr/>
          <a:lstStyle/>
          <a:p>
            <a:fld id="{8F9ADC6E-942E-444A-8DC4-4BC2F4710E27}" type="slidenum">
              <a:rPr lang="en-US" smtClean="0"/>
              <a:t>30</a:t>
            </a:fld>
            <a:endParaRPr lang="en-US"/>
          </a:p>
        </p:txBody>
      </p:sp>
    </p:spTree>
    <p:extLst>
      <p:ext uri="{BB962C8B-B14F-4D97-AF65-F5344CB8AC3E}">
        <p14:creationId xmlns:p14="http://schemas.microsoft.com/office/powerpoint/2010/main" val="3923466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The GET and POST method are used for sending the data to the server.</a:t>
            </a:r>
          </a:p>
          <a:p>
            <a:r>
              <a:rPr lang="en-US" dirty="0">
                <a:effectLst/>
              </a:rPr>
              <a:t>The main difference between them is that </a:t>
            </a:r>
            <a:r>
              <a:rPr lang="en-US" b="1" dirty="0">
                <a:effectLst/>
              </a:rPr>
              <a:t>GET method append the data to the URI defined in the form's action attribute</a:t>
            </a:r>
            <a:r>
              <a:rPr lang="en-US" dirty="0">
                <a:effectLst/>
              </a:rPr>
              <a:t>. </a:t>
            </a:r>
          </a:p>
          <a:p>
            <a:r>
              <a:rPr lang="en-US" dirty="0">
                <a:effectLst/>
              </a:rPr>
              <a:t>Conversely, POST method attaches data to the requested body.</a:t>
            </a:r>
          </a:p>
          <a:p>
            <a:endParaRPr lang="en-US" dirty="0"/>
          </a:p>
        </p:txBody>
      </p:sp>
      <p:sp>
        <p:nvSpPr>
          <p:cNvPr id="4" name="Slide Number Placeholder 3"/>
          <p:cNvSpPr>
            <a:spLocks noGrp="1"/>
          </p:cNvSpPr>
          <p:nvPr>
            <p:ph type="sldNum" sz="quarter" idx="5"/>
          </p:nvPr>
        </p:nvSpPr>
        <p:spPr/>
        <p:txBody>
          <a:bodyPr/>
          <a:lstStyle/>
          <a:p>
            <a:fld id="{8F9ADC6E-942E-444A-8DC4-4BC2F4710E27}" type="slidenum">
              <a:rPr lang="en-US" smtClean="0"/>
              <a:t>34</a:t>
            </a:fld>
            <a:endParaRPr lang="en-US"/>
          </a:p>
        </p:txBody>
      </p:sp>
    </p:spTree>
    <p:extLst>
      <p:ext uri="{BB962C8B-B14F-4D97-AF65-F5344CB8AC3E}">
        <p14:creationId xmlns:p14="http://schemas.microsoft.com/office/powerpoint/2010/main" val="2535493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Attach content here</a:t>
            </a:r>
          </a:p>
        </p:txBody>
      </p:sp>
      <p:sp>
        <p:nvSpPr>
          <p:cNvPr id="4" name="Slide Number Placeholder 3"/>
          <p:cNvSpPr>
            <a:spLocks noGrp="1"/>
          </p:cNvSpPr>
          <p:nvPr>
            <p:ph type="sldNum" sz="quarter" idx="5"/>
          </p:nvPr>
        </p:nvSpPr>
        <p:spPr/>
        <p:txBody>
          <a:bodyPr/>
          <a:lstStyle/>
          <a:p>
            <a:fld id="{8F9ADC6E-942E-444A-8DC4-4BC2F4710E27}" type="slidenum">
              <a:rPr lang="en-US" smtClean="0"/>
              <a:t>44</a:t>
            </a:fld>
            <a:endParaRPr lang="en-US"/>
          </a:p>
        </p:txBody>
      </p:sp>
    </p:spTree>
    <p:extLst>
      <p:ext uri="{BB962C8B-B14F-4D97-AF65-F5344CB8AC3E}">
        <p14:creationId xmlns:p14="http://schemas.microsoft.com/office/powerpoint/2010/main" val="4080785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DNS rebinding </a:t>
            </a:r>
            <a:r>
              <a:rPr lang="en-US" sz="1200" b="0" i="0" kern="1200" dirty="0" smtClean="0">
                <a:solidFill>
                  <a:schemeClr val="tx1"/>
                </a:solidFill>
                <a:effectLst/>
                <a:latin typeface="+mn-lt"/>
                <a:ea typeface="+mn-ea"/>
                <a:cs typeface="+mn-cs"/>
              </a:rPr>
              <a:t>is a cyberattack where a malicious website tricks a victim's browser into treating a domain's IP address as if it belongs to the user's local network. Attackers use their malicious domain's DNS server to repeatedly change the IP address it resolves to, first to a public IP and then to a private, internal IP address. This bypasses the </a:t>
            </a:r>
            <a:r>
              <a:rPr lang="en-US" sz="1200" b="0" i="0" kern="1200" dirty="0" smtClean="0">
                <a:solidFill>
                  <a:schemeClr val="tx1"/>
                </a:solidFill>
                <a:effectLst/>
                <a:latin typeface="+mn-lt"/>
                <a:ea typeface="+mn-ea"/>
                <a:cs typeface="+mn-cs"/>
                <a:hlinkClick r:id="rId3"/>
              </a:rPr>
              <a:t>Same-Origin Policy</a:t>
            </a:r>
            <a:r>
              <a:rPr lang="en-US" sz="1200" b="0" i="0" kern="1200" dirty="0" smtClean="0">
                <a:solidFill>
                  <a:schemeClr val="tx1"/>
                </a:solidFill>
                <a:effectLst/>
                <a:latin typeface="+mn-lt"/>
                <a:ea typeface="+mn-ea"/>
                <a:cs typeface="+mn-cs"/>
              </a:rPr>
              <a:t>, allowing malicious scripts to access internal devices and sensitive data within the user's network, such as </a:t>
            </a:r>
            <a:r>
              <a:rPr lang="en-US" sz="1200" b="0" i="0" kern="1200" dirty="0" err="1" smtClean="0">
                <a:solidFill>
                  <a:schemeClr val="tx1"/>
                </a:solidFill>
                <a:effectLst/>
                <a:latin typeface="+mn-lt"/>
                <a:ea typeface="+mn-ea"/>
                <a:cs typeface="+mn-cs"/>
              </a:rPr>
              <a:t>IoT</a:t>
            </a:r>
            <a:r>
              <a:rPr lang="en-US" sz="1200" b="0" i="0" kern="1200" dirty="0" smtClean="0">
                <a:solidFill>
                  <a:schemeClr val="tx1"/>
                </a:solidFill>
                <a:effectLst/>
                <a:latin typeface="+mn-lt"/>
                <a:ea typeface="+mn-ea"/>
                <a:cs typeface="+mn-cs"/>
              </a:rPr>
              <a:t> devices or web-based consoles. </a:t>
            </a:r>
            <a:endParaRPr lang="en-US" dirty="0"/>
          </a:p>
        </p:txBody>
      </p:sp>
      <p:sp>
        <p:nvSpPr>
          <p:cNvPr id="4" name="Slide Number Placeholder 3"/>
          <p:cNvSpPr>
            <a:spLocks noGrp="1"/>
          </p:cNvSpPr>
          <p:nvPr>
            <p:ph type="sldNum" sz="quarter" idx="10"/>
          </p:nvPr>
        </p:nvSpPr>
        <p:spPr/>
        <p:txBody>
          <a:bodyPr/>
          <a:lstStyle/>
          <a:p>
            <a:fld id="{8F9ADC6E-942E-444A-8DC4-4BC2F4710E27}" type="slidenum">
              <a:rPr lang="en-US" smtClean="0"/>
              <a:t>48</a:t>
            </a:fld>
            <a:endParaRPr lang="en-US"/>
          </a:p>
        </p:txBody>
      </p:sp>
    </p:spTree>
    <p:extLst>
      <p:ext uri="{BB962C8B-B14F-4D97-AF65-F5344CB8AC3E}">
        <p14:creationId xmlns:p14="http://schemas.microsoft.com/office/powerpoint/2010/main" val="2429276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9626904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425261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94888109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27425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17652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226767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2715073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07207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3311080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42030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0AB12D47-4CF5-40F6-85C2-DBD2627F1A07}" type="slidenum">
              <a:rPr lang="en-GB" smtClean="0"/>
              <a:t>‹#›</a:t>
            </a:fld>
            <a:endParaRPr lang="en-GB"/>
          </a:p>
        </p:txBody>
      </p:sp>
    </p:spTree>
    <p:extLst>
      <p:ext uri="{BB962C8B-B14F-4D97-AF65-F5344CB8AC3E}">
        <p14:creationId xmlns:p14="http://schemas.microsoft.com/office/powerpoint/2010/main" val="1522732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C9BB83-6716-4A2C-BB4D-EC836877FB8C}" type="datetimeFigureOut">
              <a:rPr lang="en-GB" smtClean="0"/>
              <a:t>08/09/2025</a:t>
            </a:fld>
            <a:endParaRPr lang="en-GB"/>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B12D47-4CF5-40F6-85C2-DBD2627F1A07}" type="slidenum">
              <a:rPr lang="en-GB" smtClean="0"/>
              <a:t>‹#›</a:t>
            </a:fld>
            <a:endParaRPr lang="en-GB"/>
          </a:p>
        </p:txBody>
      </p:sp>
    </p:spTree>
    <p:extLst>
      <p:ext uri="{BB962C8B-B14F-4D97-AF65-F5344CB8AC3E}">
        <p14:creationId xmlns:p14="http://schemas.microsoft.com/office/powerpoint/2010/main" val="363794465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224472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3095500" y="3590701"/>
            <a:ext cx="6756400" cy="740587"/>
          </a:xfrm>
          <a:prstGeom prst="rect">
            <a:avLst/>
          </a:prstGeom>
          <a:solidFill>
            <a:srgbClr val="92D050"/>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a:latin typeface="Times New Roman" panose="02020603050405020304" pitchFamily="18" charset="0"/>
                <a:cs typeface="Times New Roman" panose="02020603050405020304" pitchFamily="18" charset="0"/>
              </a:rPr>
              <a:t>D</a:t>
            </a:r>
            <a:r>
              <a:rPr lang="en-US" sz="2400" b="1" spc="-5">
                <a:latin typeface="Times New Roman" panose="02020603050405020304" pitchFamily="18" charset="0"/>
                <a:cs typeface="Times New Roman" panose="02020603050405020304" pitchFamily="18" charset="0"/>
              </a:rPr>
              <a:t>r</a:t>
            </a:r>
            <a:r>
              <a:rPr lang="en-US" sz="2400" b="1" spc="-5" dirty="0">
                <a:latin typeface="Times New Roman" panose="02020603050405020304" pitchFamily="18" charset="0"/>
                <a:cs typeface="Times New Roman" panose="02020603050405020304" pitchFamily="18" charset="0"/>
              </a:rPr>
              <a:t>. Muhammad Umar Aftab</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t>Web Security Basics</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414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636470"/>
            <a:ext cx="10115202" cy="3918858"/>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903689" y="2022712"/>
            <a:ext cx="8216348" cy="2643672"/>
          </a:xfrm>
          <a:prstGeom prst="rect">
            <a:avLst/>
          </a:prstGeom>
        </p:spPr>
        <p:txBody>
          <a:bodyPr vert="horz" wrap="square" lIns="0" tIns="85725" rIns="0" bIns="0" rtlCol="0">
            <a:spAutoFit/>
          </a:bodyPr>
          <a:lstStyle/>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Web</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technologies</a:t>
            </a:r>
            <a:endParaRPr lang="en-GB" sz="24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5" dirty="0">
                <a:latin typeface="Times New Roman" panose="02020603050405020304" pitchFamily="18" charset="0"/>
                <a:cs typeface="Times New Roman" panose="02020603050405020304" pitchFamily="18" charset="0"/>
              </a:rPr>
              <a:t>Web</a:t>
            </a:r>
            <a:r>
              <a:rPr lang="en-GB" sz="2000" spc="-5" dirty="0">
                <a:latin typeface="Times New Roman" panose="02020603050405020304" pitchFamily="18" charset="0"/>
                <a:cs typeface="Times New Roman" panose="02020603050405020304" pitchFamily="18" charset="0"/>
              </a:rPr>
              <a:t> </a:t>
            </a:r>
            <a:r>
              <a:rPr lang="en-GB" sz="2000" spc="10" dirty="0">
                <a:latin typeface="Times New Roman" panose="02020603050405020304" pitchFamily="18" charset="0"/>
                <a:cs typeface="Times New Roman" panose="02020603050405020304" pitchFamily="18" charset="0"/>
              </a:rPr>
              <a:t>Browser</a:t>
            </a:r>
            <a:endParaRPr lang="en-GB" sz="20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5" dirty="0">
                <a:latin typeface="Times New Roman" panose="02020603050405020304" pitchFamily="18" charset="0"/>
                <a:cs typeface="Times New Roman" panose="02020603050405020304" pitchFamily="18" charset="0"/>
              </a:rPr>
              <a:t>Web</a:t>
            </a:r>
            <a:r>
              <a:rPr lang="en-GB" sz="2000" spc="-5" dirty="0">
                <a:latin typeface="Times New Roman" panose="02020603050405020304" pitchFamily="18" charset="0"/>
                <a:cs typeface="Times New Roman" panose="02020603050405020304" pitchFamily="18" charset="0"/>
              </a:rPr>
              <a:t> </a:t>
            </a:r>
            <a:r>
              <a:rPr lang="en-GB" sz="2000" spc="5" dirty="0">
                <a:latin typeface="Times New Roman" panose="02020603050405020304" pitchFamily="18" charset="0"/>
                <a:cs typeface="Times New Roman" panose="02020603050405020304" pitchFamily="18" charset="0"/>
              </a:rPr>
              <a:t>Server</a:t>
            </a:r>
            <a:endParaRPr lang="en-GB" sz="2000" dirty="0">
              <a:latin typeface="Times New Roman" panose="02020603050405020304" pitchFamily="18" charset="0"/>
              <a:cs typeface="Times New Roman" panose="02020603050405020304" pitchFamily="18" charset="0"/>
            </a:endParaRPr>
          </a:p>
          <a:p>
            <a:pPr marL="812165" lvl="1" indent="-342900">
              <a:spcBef>
                <a:spcPts val="1325"/>
              </a:spcBef>
              <a:buFont typeface="Wingdings" panose="05000000000000000000" pitchFamily="2" charset="2"/>
              <a:buChar char="Ø"/>
              <a:tabLst>
                <a:tab pos="241935" algn="l"/>
              </a:tabLst>
            </a:pPr>
            <a:r>
              <a:rPr lang="en-GB" sz="2000" spc="10" dirty="0">
                <a:latin typeface="Times New Roman" panose="02020603050405020304" pitchFamily="18" charset="0"/>
                <a:cs typeface="Times New Roman" panose="02020603050405020304" pitchFamily="18" charset="0"/>
              </a:rPr>
              <a:t>HTTP</a:t>
            </a:r>
            <a:r>
              <a:rPr lang="en-GB" sz="2000" spc="-5" dirty="0">
                <a:latin typeface="Times New Roman" panose="02020603050405020304" pitchFamily="18" charset="0"/>
                <a:cs typeface="Times New Roman" panose="02020603050405020304" pitchFamily="18" charset="0"/>
              </a:rPr>
              <a:t> </a:t>
            </a:r>
            <a:r>
              <a:rPr lang="en-GB" sz="2000" spc="10" dirty="0">
                <a:latin typeface="Times New Roman" panose="02020603050405020304" pitchFamily="18" charset="0"/>
                <a:cs typeface="Times New Roman" panose="02020603050405020304" pitchFamily="18" charset="0"/>
              </a:rPr>
              <a:t>Request</a:t>
            </a:r>
            <a:endParaRPr lang="en-GB" sz="2000" dirty="0">
              <a:latin typeface="Times New Roman" panose="02020603050405020304" pitchFamily="18" charset="0"/>
              <a:cs typeface="Times New Roman" panose="02020603050405020304" pitchFamily="18" charset="0"/>
            </a:endParaRPr>
          </a:p>
          <a:p>
            <a:pPr marL="241300" indent="-229235">
              <a:lnSpc>
                <a:spcPct val="100000"/>
              </a:lnSpc>
              <a:spcBef>
                <a:spcPts val="75"/>
              </a:spcBef>
              <a:buFont typeface="Wingdings"/>
              <a:buChar char=""/>
              <a:tabLst>
                <a:tab pos="241935" algn="l"/>
              </a:tabLst>
            </a:pPr>
            <a:r>
              <a:rPr lang="en-GB" sz="2400" spc="5" dirty="0">
                <a:latin typeface="Times New Roman" panose="02020603050405020304" pitchFamily="18" charset="0"/>
                <a:cs typeface="Times New Roman" panose="02020603050405020304" pitchFamily="18" charset="0"/>
              </a:rPr>
              <a:t> Cookies </a:t>
            </a:r>
            <a:r>
              <a:rPr lang="en-GB" sz="2400" spc="10" dirty="0">
                <a:latin typeface="Times New Roman" panose="02020603050405020304" pitchFamily="18" charset="0"/>
                <a:cs typeface="Times New Roman" panose="02020603050405020304" pitchFamily="18" charset="0"/>
              </a:rPr>
              <a:t>and</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sessions</a:t>
            </a:r>
            <a:endParaRPr lang="en-GB" sz="2400" dirty="0">
              <a:latin typeface="Times New Roman" panose="02020603050405020304" pitchFamily="18" charset="0"/>
              <a:cs typeface="Times New Roman" panose="02020603050405020304" pitchFamily="18" charset="0"/>
            </a:endParaRPr>
          </a:p>
          <a:p>
            <a:pPr marL="241300" indent="-229235">
              <a:lnSpc>
                <a:spcPct val="100000"/>
              </a:lnSpc>
              <a:spcBef>
                <a:spcPts val="70"/>
              </a:spcBef>
              <a:buFont typeface="Wingdings"/>
              <a:buChar char=""/>
              <a:tabLst>
                <a:tab pos="241935" algn="l"/>
              </a:tabLst>
            </a:pPr>
            <a:r>
              <a:rPr lang="en-GB" sz="2400" spc="10" dirty="0">
                <a:latin typeface="Times New Roman" panose="02020603050405020304" pitchFamily="18" charset="0"/>
                <a:cs typeface="Times New Roman" panose="02020603050405020304" pitchFamily="18" charset="0"/>
              </a:rPr>
              <a:t> Ajax, WebSocket and </a:t>
            </a:r>
            <a:r>
              <a:rPr lang="en-GB" sz="2400" spc="5" dirty="0">
                <a:latin typeface="Times New Roman" panose="02020603050405020304" pitchFamily="18" charset="0"/>
                <a:cs typeface="Times New Roman" panose="02020603050405020304" pitchFamily="18" charset="0"/>
              </a:rPr>
              <a:t>same-origin</a:t>
            </a:r>
            <a:r>
              <a:rPr lang="en-GB" sz="2400" spc="-3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policy</a:t>
            </a:r>
            <a:endParaRPr lang="en-GB"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Outline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27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p:nvPr/>
        </p:nvSpPr>
        <p:spPr>
          <a:xfrm>
            <a:off x="1267286" y="1149244"/>
            <a:ext cx="8216348" cy="1879361"/>
          </a:xfrm>
          <a:prstGeom prst="rect">
            <a:avLst/>
          </a:prstGeom>
        </p:spPr>
        <p:txBody>
          <a:bodyPr vert="horz" wrap="square" lIns="0" tIns="85725" rIns="0" bIns="0" rtlCol="0">
            <a:spAutoFit/>
          </a:bodyPr>
          <a:lstStyle/>
          <a:p>
            <a:pPr marL="241300" indent="-229235">
              <a:lnSpc>
                <a:spcPct val="100000"/>
              </a:lnSpc>
              <a:spcBef>
                <a:spcPts val="1325"/>
              </a:spcBef>
              <a:buFont typeface="Wingdings"/>
              <a:buChar char=""/>
              <a:tabLst>
                <a:tab pos="241935" algn="l"/>
              </a:tabLst>
            </a:pPr>
            <a:r>
              <a:rPr lang="en-GB" sz="2400" spc="15" dirty="0">
                <a:latin typeface="Times New Roman" panose="02020603050405020304" pitchFamily="18" charset="0"/>
                <a:cs typeface="Times New Roman" panose="02020603050405020304" pitchFamily="18" charset="0"/>
              </a:rPr>
              <a:t> The web</a:t>
            </a:r>
            <a:r>
              <a:rPr lang="en-GB" sz="2400" dirty="0">
                <a:latin typeface="Times New Roman" panose="02020603050405020304" pitchFamily="18" charset="0"/>
                <a:cs typeface="Times New Roman" panose="02020603050405020304" pitchFamily="18" charset="0"/>
              </a:rPr>
              <a:t> </a:t>
            </a:r>
            <a:r>
              <a:rPr lang="en-GB" sz="2400" spc="5" dirty="0">
                <a:latin typeface="Times New Roman" panose="02020603050405020304" pitchFamily="18" charset="0"/>
                <a:cs typeface="Times New Roman" panose="02020603050405020304" pitchFamily="18" charset="0"/>
              </a:rPr>
              <a:t>Architecture have three following components:</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Browser</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Web Application Server</a:t>
            </a:r>
          </a:p>
          <a:p>
            <a:pPr marL="812165" lvl="1" indent="-342900">
              <a:spcBef>
                <a:spcPts val="1325"/>
              </a:spcBef>
              <a:buFont typeface="Wingdings" panose="05000000000000000000" pitchFamily="2" charset="2"/>
              <a:buChar char="Ø"/>
              <a:tabLst>
                <a:tab pos="241935" algn="l"/>
              </a:tabLst>
            </a:pPr>
            <a:r>
              <a:rPr lang="en-US" sz="2000" dirty="0">
                <a:latin typeface="Times New Roman" panose="02020603050405020304" pitchFamily="18" charset="0"/>
                <a:cs typeface="Times New Roman" panose="02020603050405020304" pitchFamily="18" charset="0"/>
              </a:rPr>
              <a:t>Database</a:t>
            </a:r>
            <a:endParaRPr lang="en-GB"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0"/>
            <a:ext cx="8908869" cy="110888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spc="10" dirty="0">
                <a:latin typeface="Times New Roman" panose="02020603050405020304" pitchFamily="18" charset="0"/>
                <a:cs typeface="Times New Roman" panose="02020603050405020304" pitchFamily="18" charset="0"/>
              </a:rPr>
              <a:t>The Web</a:t>
            </a:r>
            <a:r>
              <a:rPr lang="en-GB" sz="4000" b="1" spc="-75" dirty="0">
                <a:latin typeface="Times New Roman" panose="02020603050405020304" pitchFamily="18" charset="0"/>
                <a:cs typeface="Times New Roman" panose="02020603050405020304" pitchFamily="18" charset="0"/>
              </a:rPr>
              <a:t> </a:t>
            </a:r>
            <a:r>
              <a:rPr lang="en-GB" sz="4000" b="1" spc="10" dirty="0">
                <a:latin typeface="Times New Roman" panose="02020603050405020304" pitchFamily="18" charset="0"/>
                <a:cs typeface="Times New Roman" panose="02020603050405020304" pitchFamily="18" charset="0"/>
              </a:rPr>
              <a:t>Architecture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53167" y="3214243"/>
            <a:ext cx="7517391" cy="2613428"/>
          </a:xfrm>
          <a:prstGeom prst="rect">
            <a:avLst/>
          </a:prstGeom>
        </p:spPr>
      </p:pic>
    </p:spTree>
    <p:extLst>
      <p:ext uri="{BB962C8B-B14F-4D97-AF65-F5344CB8AC3E}">
        <p14:creationId xmlns:p14="http://schemas.microsoft.com/office/powerpoint/2010/main" val="1584771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t>Web Browser</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480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HTML</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983355"/>
            <a:ext cx="9483634" cy="152798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We are not going to discuss all the technologies except the few one. </a:t>
            </a: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Like we just discuss or recall previous concepts.</a:t>
            </a: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Like basic data part </a:t>
            </a:r>
            <a:r>
              <a:rPr lang="en-GB" sz="2400" spc="15" dirty="0">
                <a:latin typeface="Times New Roman" panose="02020603050405020304" pitchFamily="18" charset="0"/>
                <a:cs typeface="Times New Roman" panose="02020603050405020304" pitchFamily="18" charset="0"/>
                <a:sym typeface="Wingdings" panose="05000000000000000000" pitchFamily="2" charset="2"/>
              </a:rPr>
              <a:t> Then Presentation part (CSS)</a:t>
            </a:r>
            <a:endParaRPr lang="en-GB" sz="2400" spc="1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249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spc="10" dirty="0">
                <a:latin typeface="Times New Roman" panose="02020603050405020304" pitchFamily="18" charset="0"/>
                <a:cs typeface="Times New Roman" panose="02020603050405020304" pitchFamily="18" charset="0"/>
              </a:rPr>
              <a:t>HTML</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56263" y="1476103"/>
            <a:ext cx="6727371" cy="4493623"/>
          </a:xfrm>
          <a:prstGeom prst="rect">
            <a:avLst/>
          </a:prstGeom>
        </p:spPr>
      </p:pic>
    </p:spTree>
    <p:extLst>
      <p:ext uri="{BB962C8B-B14F-4D97-AF65-F5344CB8AC3E}">
        <p14:creationId xmlns:p14="http://schemas.microsoft.com/office/powerpoint/2010/main" val="1695273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spc="10" dirty="0">
                <a:latin typeface="Times New Roman" panose="02020603050405020304" pitchFamily="18" charset="0"/>
                <a:cs typeface="Times New Roman" panose="02020603050405020304" pitchFamily="18" charset="0"/>
              </a:rPr>
              <a:t>CSS: Cascading Style Sheet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9390" y="1742303"/>
            <a:ext cx="6021976" cy="4485502"/>
          </a:xfrm>
          <a:prstGeom prst="rect">
            <a:avLst/>
          </a:prstGeom>
        </p:spPr>
      </p:pic>
      <p:sp>
        <p:nvSpPr>
          <p:cNvPr id="8" name="object 5">
            <a:extLst>
              <a:ext uri="{FF2B5EF4-FFF2-40B4-BE49-F238E27FC236}">
                <a16:creationId xmlns:a16="http://schemas.microsoft.com/office/drawing/2014/main" id="{2E2064A8-0105-4271-9760-E492B0E690A3}"/>
              </a:ext>
            </a:extLst>
          </p:cNvPr>
          <p:cNvSpPr txBox="1"/>
          <p:nvPr/>
        </p:nvSpPr>
        <p:spPr>
          <a:xfrm>
            <a:off x="1270046" y="1108881"/>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It will tell the browser : how to render and deal with this content.</a:t>
            </a:r>
          </a:p>
        </p:txBody>
      </p:sp>
    </p:spTree>
    <p:extLst>
      <p:ext uri="{BB962C8B-B14F-4D97-AF65-F5344CB8AC3E}">
        <p14:creationId xmlns:p14="http://schemas.microsoft.com/office/powerpoint/2010/main" val="80454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Plug-ins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983355"/>
            <a:ext cx="9483634" cy="4446730"/>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Browsers have limited functionalities, but people wants to do additional work </a:t>
            </a:r>
            <a:r>
              <a:rPr lang="en-GB" sz="2400" spc="15" dirty="0">
                <a:latin typeface="Times New Roman" panose="02020603050405020304" pitchFamily="18" charset="0"/>
                <a:cs typeface="Times New Roman" panose="02020603050405020304" pitchFamily="18" charset="0"/>
                <a:sym typeface="Wingdings" panose="05000000000000000000" pitchFamily="2" charset="2"/>
              </a:rPr>
              <a:t> So plug-ins help to do that</a:t>
            </a:r>
            <a:endParaRPr lang="en-GB" sz="2400" spc="15"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400" spc="15" dirty="0">
                <a:latin typeface="Times New Roman" panose="02020603050405020304" pitchFamily="18" charset="0"/>
                <a:cs typeface="Times New Roman" panose="02020603050405020304" pitchFamily="18" charset="0"/>
              </a:rPr>
              <a:t>The browser plug-ins are</a:t>
            </a:r>
            <a:r>
              <a:rPr lang="en-GB" sz="2400" dirty="0">
                <a:latin typeface="Times New Roman" panose="02020603050405020304" pitchFamily="18" charset="0"/>
                <a:cs typeface="Times New Roman" panose="02020603050405020304" pitchFamily="18" charset="0"/>
              </a:rPr>
              <a:t> a binary piece of code that manages Internet content that a browser is not designed to process. </a:t>
            </a:r>
          </a:p>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For example, you wanted to open a pdf file on website, you may need Adobe Acrobat Reader plugin to do so. If the plugin is not installed, your browser will not understand how to open pdf.</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plug-in lie inside protected gate of browser. The plugins are just like part of browser, so they can access to memory. </a:t>
            </a: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524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Vulnerability of Plug-ins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99338" y="1530667"/>
            <a:ext cx="9625050" cy="4816062"/>
          </a:xfrm>
          <a:prstGeom prst="rect">
            <a:avLst/>
          </a:prstGeom>
        </p:spPr>
        <p:txBody>
          <a:bodyPr vert="horz" wrap="square" lIns="0" tIns="85725" rIns="0" bIns="0" rtlCol="0">
            <a:spAutoFit/>
          </a:bodyPr>
          <a:lstStyle/>
          <a:p>
            <a:pPr marL="354965" indent="-342900" algn="just">
              <a:spcBef>
                <a:spcPts val="1325"/>
              </a:spcBef>
              <a:buFont typeface="Wingdings" panose="05000000000000000000" pitchFamily="2" charset="2"/>
              <a:buChar char="v"/>
              <a:tabLst>
                <a:tab pos="241935" algn="l"/>
              </a:tabLst>
            </a:pPr>
            <a:r>
              <a:rPr lang="en-US" sz="2400" b="1" dirty="0">
                <a:latin typeface="Times New Roman" panose="02020603050405020304" pitchFamily="18" charset="0"/>
                <a:cs typeface="Times New Roman" panose="02020603050405020304" pitchFamily="18" charset="0"/>
              </a:rPr>
              <a:t>Vulnerability</a:t>
            </a:r>
            <a:r>
              <a:rPr lang="en-US" sz="2400" dirty="0">
                <a:latin typeface="Times New Roman" panose="02020603050405020304" pitchFamily="18" charset="0"/>
                <a:cs typeface="Times New Roman" panose="02020603050405020304" pitchFamily="18" charset="0"/>
              </a:rPr>
              <a:t>:</a:t>
            </a:r>
          </a:p>
          <a:p>
            <a:pPr marL="469265" lvl="1" algn="just">
              <a:spcBef>
                <a:spcPts val="1325"/>
              </a:spcBef>
              <a:tabLst>
                <a:tab pos="241935" algn="l"/>
              </a:tabLst>
            </a:pPr>
            <a:r>
              <a:rPr lang="en-US" sz="2400" dirty="0">
                <a:latin typeface="Times New Roman" panose="02020603050405020304" pitchFamily="18" charset="0"/>
                <a:cs typeface="Times New Roman" panose="02020603050405020304" pitchFamily="18" charset="0"/>
              </a:rPr>
              <a:t>The plug-ins can one of the vulnerability source, because plug-ins are developed by 3</a:t>
            </a:r>
            <a:r>
              <a:rPr lang="en-US" sz="2400" baseline="30000" dirty="0">
                <a:latin typeface="Times New Roman" panose="02020603050405020304" pitchFamily="18" charset="0"/>
                <a:cs typeface="Times New Roman" panose="02020603050405020304" pitchFamily="18" charset="0"/>
              </a:rPr>
              <a:t>rd</a:t>
            </a:r>
            <a:r>
              <a:rPr lang="en-US" sz="2400" dirty="0">
                <a:latin typeface="Times New Roman" panose="02020603050405020304" pitchFamily="18" charset="0"/>
                <a:cs typeface="Times New Roman" panose="02020603050405020304" pitchFamily="18" charset="0"/>
              </a:rPr>
              <a:t> parties so it might be from attacker-side. The attacker can embed malicious code inside plug-ins and plug-ins can access to memory directly.</a:t>
            </a:r>
          </a:p>
          <a:p>
            <a:pPr marL="354965" indent="-342900" algn="just">
              <a:spcBef>
                <a:spcPts val="1325"/>
              </a:spcBef>
              <a:buFont typeface="Wingdings" panose="05000000000000000000" pitchFamily="2" charset="2"/>
              <a:buChar char="v"/>
              <a:tabLst>
                <a:tab pos="241935" algn="l"/>
              </a:tabLst>
            </a:pPr>
            <a:r>
              <a:rPr lang="en-US" sz="2400" b="1" dirty="0">
                <a:latin typeface="Times New Roman" panose="02020603050405020304" pitchFamily="18" charset="0"/>
                <a:cs typeface="Times New Roman" panose="02020603050405020304" pitchFamily="18" charset="0"/>
              </a:rPr>
              <a:t>Solution:</a:t>
            </a:r>
          </a:p>
          <a:p>
            <a:pPr marL="469265" lvl="1" algn="just">
              <a:spcBef>
                <a:spcPts val="1325"/>
              </a:spcBef>
              <a:tabLst>
                <a:tab pos="241935" algn="l"/>
              </a:tabLst>
            </a:pPr>
            <a:r>
              <a:rPr lang="en-US" sz="2400" dirty="0">
                <a:latin typeface="Times New Roman" panose="02020603050405020304" pitchFamily="18" charset="0"/>
                <a:cs typeface="Times New Roman" panose="02020603050405020304" pitchFamily="18" charset="0"/>
              </a:rPr>
              <a:t>The browser developer are trying to add maximum functionality in the browser. So, the need of plug-ins are gradually decreasing. For example, there is no need to install </a:t>
            </a:r>
            <a:r>
              <a:rPr lang="en-GB" sz="2400" dirty="0">
                <a:latin typeface="Times New Roman" panose="02020603050405020304" pitchFamily="18" charset="0"/>
                <a:cs typeface="Times New Roman" panose="02020603050405020304" pitchFamily="18" charset="0"/>
              </a:rPr>
              <a:t>Adobe Acrobat Reader plug-in. Because HTML5 in browser support to open pdf file.</a:t>
            </a:r>
            <a:endParaRPr lang="en-US"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63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956207"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Extension</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77932" y="1290036"/>
            <a:ext cx="10289137" cy="3628557"/>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200" dirty="0"/>
              <a:t> </a:t>
            </a:r>
            <a:r>
              <a:rPr lang="en-GB" sz="2200" dirty="0">
                <a:latin typeface="Times New Roman" panose="02020603050405020304" pitchFamily="18" charset="0"/>
                <a:cs typeface="Times New Roman" panose="02020603050405020304" pitchFamily="18" charset="0"/>
              </a:rPr>
              <a:t>Browser extension is a small software application that adds a capacity or functionality to a web browser its own set of APIs. They can also be used to remove unwanted website elements such as pop-up ads and features such as auto-play for online videos.</a:t>
            </a:r>
            <a:endParaRPr lang="en-GB" sz="2200" spc="15"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200" spc="15" dirty="0">
                <a:latin typeface="Times New Roman" panose="02020603050405020304" pitchFamily="18" charset="0"/>
                <a:cs typeface="Times New Roman" panose="02020603050405020304" pitchFamily="18" charset="0"/>
              </a:rPr>
              <a:t>The browser extensions are</a:t>
            </a:r>
            <a:r>
              <a:rPr lang="en-GB" sz="2200" dirty="0">
                <a:latin typeface="Times New Roman" panose="02020603050405020304" pitchFamily="18" charset="0"/>
                <a:cs typeface="Times New Roman" panose="02020603050405020304" pitchFamily="18" charset="0"/>
              </a:rPr>
              <a:t> written in high level language i.e., scripts.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Extensions talk to the data and resources through APIs, in the browsers. </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They don’t have direct access to memory because they are outside the gate.</a:t>
            </a:r>
          </a:p>
          <a:p>
            <a:pPr marL="812165" lvl="1" indent="-342900" algn="just">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There are a lot of access control involve in this way.</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Plugins are inside the gate so they have direct access to resources of system.</a:t>
            </a:r>
          </a:p>
        </p:txBody>
      </p:sp>
      <p:pic>
        <p:nvPicPr>
          <p:cNvPr id="4" name="Picture 3">
            <a:extLst>
              <a:ext uri="{FF2B5EF4-FFF2-40B4-BE49-F238E27FC236}">
                <a16:creationId xmlns:a16="http://schemas.microsoft.com/office/drawing/2014/main" id="{76BBF532-18C4-4D29-A481-DF7E338AEB45}"/>
              </a:ext>
            </a:extLst>
          </p:cNvPr>
          <p:cNvPicPr>
            <a:picLocks noChangeAspect="1"/>
          </p:cNvPicPr>
          <p:nvPr/>
        </p:nvPicPr>
        <p:blipFill>
          <a:blip r:embed="rId4"/>
          <a:stretch>
            <a:fillRect/>
          </a:stretch>
        </p:blipFill>
        <p:spPr>
          <a:xfrm>
            <a:off x="10093413" y="2426567"/>
            <a:ext cx="1800225" cy="1695450"/>
          </a:xfrm>
          <a:prstGeom prst="rect">
            <a:avLst/>
          </a:prstGeom>
        </p:spPr>
      </p:pic>
    </p:spTree>
    <p:extLst>
      <p:ext uri="{BB962C8B-B14F-4D97-AF65-F5344CB8AC3E}">
        <p14:creationId xmlns:p14="http://schemas.microsoft.com/office/powerpoint/2010/main" val="4133005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Extension</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177933" y="1290036"/>
            <a:ext cx="9483634" cy="260007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Examples of browser extensions:</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AdBlock:</a:t>
            </a:r>
            <a:r>
              <a:rPr lang="en-GB" dirty="0">
                <a:latin typeface="Times New Roman" panose="02020603050405020304" pitchFamily="18" charset="0"/>
                <a:cs typeface="Times New Roman" panose="02020603050405020304" pitchFamily="18" charset="0"/>
              </a:rPr>
              <a:t> enables content filtering and ad blocking.</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StayFocusd:</a:t>
            </a:r>
            <a:r>
              <a:rPr lang="en-GB" dirty="0">
                <a:latin typeface="Times New Roman" panose="02020603050405020304" pitchFamily="18" charset="0"/>
                <a:cs typeface="Times New Roman" panose="02020603050405020304" pitchFamily="18" charset="0"/>
              </a:rPr>
              <a:t> limits the amount of time the user is allowed to spend on designated websites.</a:t>
            </a:r>
          </a:p>
          <a:p>
            <a:pPr marL="812165" lvl="1" indent="-342900" algn="just">
              <a:spcBef>
                <a:spcPts val="1325"/>
              </a:spcBef>
              <a:buFont typeface="Wingdings" panose="05000000000000000000" pitchFamily="2" charset="2"/>
              <a:buChar char="Ø"/>
              <a:tabLst>
                <a:tab pos="241935" algn="l"/>
              </a:tabLst>
            </a:pPr>
            <a:r>
              <a:rPr lang="en-GB" b="1" dirty="0">
                <a:latin typeface="Times New Roman" panose="02020603050405020304" pitchFamily="18" charset="0"/>
                <a:cs typeface="Times New Roman" panose="02020603050405020304" pitchFamily="18" charset="0"/>
              </a:rPr>
              <a:t>Highly:</a:t>
            </a:r>
            <a:r>
              <a:rPr lang="en-GB" dirty="0">
                <a:latin typeface="Times New Roman" panose="02020603050405020304" pitchFamily="18" charset="0"/>
                <a:cs typeface="Times New Roman" panose="02020603050405020304" pitchFamily="18" charset="0"/>
              </a:rPr>
              <a:t> allows the user to highlight webpage text and share it through social media, email.</a:t>
            </a:r>
          </a:p>
          <a:p>
            <a:pPr marL="354965" indent="-342900" algn="just">
              <a:lnSpc>
                <a:spcPct val="100000"/>
              </a:lnSpc>
              <a:spcBef>
                <a:spcPts val="1325"/>
              </a:spcBef>
              <a:buFont typeface="Wingdings" panose="05000000000000000000" pitchFamily="2" charset="2"/>
              <a:buChar char="v"/>
              <a:tabLst>
                <a:tab pos="241935" algn="l"/>
              </a:tabLst>
            </a:pPr>
            <a:r>
              <a:rPr lang="en-US" sz="2200" dirty="0">
                <a:latin typeface="Times New Roman" panose="02020603050405020304" pitchFamily="18" charset="0"/>
                <a:cs typeface="Times New Roman" panose="02020603050405020304" pitchFamily="18" charset="0"/>
              </a:rPr>
              <a:t>The extensions lie outside protected gate of browser. So, they can not access to memory. </a:t>
            </a:r>
          </a:p>
        </p:txBody>
      </p:sp>
    </p:spTree>
    <p:extLst>
      <p:ext uri="{BB962C8B-B14F-4D97-AF65-F5344CB8AC3E}">
        <p14:creationId xmlns:p14="http://schemas.microsoft.com/office/powerpoint/2010/main" val="1678347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Dynamic Content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56369"/>
            <a:ext cx="9483634" cy="3995325"/>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Dynamic content a web-page or email component that changes based on the user signals i.e., behavior, preferences, and interests of the user. The source of dynamic content are in-session behavior, user data, and user-characteristics.</a:t>
            </a:r>
          </a:p>
          <a:p>
            <a:pPr marL="800100" lvl="1" indent="-342900">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In-session behavior</a:t>
            </a:r>
            <a:r>
              <a:rPr lang="en-GB" sz="2000" dirty="0">
                <a:latin typeface="Times New Roman" panose="02020603050405020304" pitchFamily="18" charset="0"/>
                <a:cs typeface="Times New Roman" panose="02020603050405020304" pitchFamily="18" charset="0"/>
              </a:rPr>
              <a:t>: Adapt content based on what pages they visit, which products they add to cart, and how long they spend on site.</a:t>
            </a:r>
          </a:p>
          <a:p>
            <a:pPr marL="800100" lvl="1" indent="-342900" fontAlgn="base">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User data: </a:t>
            </a:r>
            <a:r>
              <a:rPr lang="en-GB" sz="2000" dirty="0">
                <a:latin typeface="Times New Roman" panose="02020603050405020304" pitchFamily="18" charset="0"/>
                <a:cs typeface="Times New Roman" panose="02020603050405020304" pitchFamily="18" charset="0"/>
              </a:rPr>
              <a:t>Change content based on past purchases, customer lifecycle, or past engagements.</a:t>
            </a:r>
          </a:p>
          <a:p>
            <a:pPr marL="800100" lvl="1" indent="-342900" fontAlgn="base">
              <a:buFont typeface="Wingdings" panose="05000000000000000000" pitchFamily="2" charset="2"/>
              <a:buChar char="Ø"/>
            </a:pPr>
            <a:r>
              <a:rPr lang="en-GB" sz="2000" b="1" dirty="0">
                <a:latin typeface="Times New Roman" panose="02020603050405020304" pitchFamily="18" charset="0"/>
                <a:cs typeface="Times New Roman" panose="02020603050405020304" pitchFamily="18" charset="0"/>
              </a:rPr>
              <a:t>User Characteristics:</a:t>
            </a:r>
            <a:r>
              <a:rPr lang="en-GB" sz="2000" dirty="0">
                <a:latin typeface="Times New Roman" panose="02020603050405020304" pitchFamily="18" charset="0"/>
                <a:cs typeface="Times New Roman" panose="02020603050405020304" pitchFamily="18" charset="0"/>
              </a:rPr>
              <a:t> geo-location or buyer personas.</a:t>
            </a:r>
          </a:p>
          <a:p>
            <a:pPr marL="285750" indent="-285750">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582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Technologies to Create Dynamic Content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56369"/>
            <a:ext cx="9483634" cy="3041217"/>
          </a:xfrm>
          <a:prstGeom prst="rect">
            <a:avLst/>
          </a:prstGeom>
        </p:spPr>
        <p:txBody>
          <a:bodyPr vert="horz" wrap="square" lIns="0" tIns="85725" rIns="0" bIns="0" rtlCol="0">
            <a:spAutoFit/>
          </a:bodyPr>
          <a:lstStyle/>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Adobe Flash (animation)</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Microsoft Silverlight</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ActiveX </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Java applets</a:t>
            </a:r>
          </a:p>
          <a:p>
            <a:pPr marL="285750"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JavaScript </a:t>
            </a:r>
          </a:p>
          <a:p>
            <a:pPr marL="742950" lvl="1" indent="-285750">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These days, most popular is java script for creating dynamic content</a:t>
            </a:r>
          </a:p>
          <a:p>
            <a:pPr marL="285750" indent="-285750">
              <a:buFont typeface="Wingdings" panose="05000000000000000000" pitchFamily="2" charset="2"/>
              <a:buChar char="v"/>
            </a:pPr>
            <a:endParaRPr lang="en-GB"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71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JavaScript and Sandbox</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7006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795569"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28157"/>
            <a:ext cx="10306790" cy="2956579"/>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JavaScript is a scripting language that enables you to create dynamically updating content, control multimedia, animate images and also implement complex features on web pages.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JavaScript can calculate, manipulate and validate data.  </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Suppose you download a file and execute it </a:t>
            </a:r>
            <a:r>
              <a:rPr lang="en-GB" sz="2200" dirty="0">
                <a:latin typeface="Times New Roman" panose="02020603050405020304" pitchFamily="18" charset="0"/>
                <a:cs typeface="Times New Roman" panose="02020603050405020304" pitchFamily="18" charset="0"/>
                <a:sym typeface="Wingdings" panose="05000000000000000000" pitchFamily="2" charset="2"/>
              </a:rPr>
              <a:t> Leads to risks</a:t>
            </a:r>
          </a:p>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sym typeface="Wingdings" panose="05000000000000000000" pitchFamily="2" charset="2"/>
              </a:rPr>
              <a:t>But on the web we do that on daily basis, we invite codes to come and execute on our computers</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39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6" y="1153138"/>
            <a:ext cx="10795569"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728157"/>
            <a:ext cx="10306790" cy="257955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200" dirty="0">
                <a:latin typeface="Times New Roman" panose="02020603050405020304" pitchFamily="18" charset="0"/>
                <a:cs typeface="Times New Roman" panose="02020603050405020304" pitchFamily="18" charset="0"/>
              </a:rPr>
              <a:t>How JavaScript Makes Things Dynamic:</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HTML defines the structure of your web document and the content therein. CSS declares various styles for the contents provided on the web document. </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HTML and CSS are often called markup languages rather than programming languages, because they, at their core, provide markups for documents with very little dynamism.</a:t>
            </a:r>
          </a:p>
          <a:p>
            <a:pPr marL="742950" lvl="1" indent="-285750" algn="just" fontAlgn="base">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JavaScript, on the other hand, is a dynamic programming language that supports </a:t>
            </a:r>
            <a:r>
              <a:rPr lang="en-GB" sz="2000" dirty="0">
                <a:solidFill>
                  <a:srgbClr val="FF0000"/>
                </a:solidFill>
                <a:latin typeface="Times New Roman" panose="02020603050405020304" pitchFamily="18" charset="0"/>
                <a:cs typeface="Times New Roman" panose="02020603050405020304" pitchFamily="18" charset="0"/>
              </a:rPr>
              <a:t>Math calculations</a:t>
            </a:r>
            <a:r>
              <a:rPr lang="en-GB" sz="2000" dirty="0">
                <a:latin typeface="Times New Roman" panose="02020603050405020304" pitchFamily="18" charset="0"/>
                <a:cs typeface="Times New Roman" panose="02020603050405020304" pitchFamily="18" charset="0"/>
              </a:rPr>
              <a:t>, allows you to </a:t>
            </a:r>
            <a:r>
              <a:rPr lang="en-GB" sz="2000" dirty="0">
                <a:solidFill>
                  <a:srgbClr val="FF0000"/>
                </a:solidFill>
                <a:latin typeface="Times New Roman" panose="02020603050405020304" pitchFamily="18" charset="0"/>
                <a:cs typeface="Times New Roman" panose="02020603050405020304" pitchFamily="18" charset="0"/>
              </a:rPr>
              <a:t>dynamically add HTML contents </a:t>
            </a:r>
            <a:r>
              <a:rPr lang="en-GB" sz="2000" dirty="0">
                <a:latin typeface="Times New Roman" panose="02020603050405020304" pitchFamily="18" charset="0"/>
                <a:cs typeface="Times New Roman" panose="02020603050405020304" pitchFamily="18" charset="0"/>
              </a:rPr>
              <a:t>to the DOM, fetches contents from another website, and lots more.</a:t>
            </a:r>
          </a:p>
        </p:txBody>
      </p:sp>
    </p:spTree>
    <p:extLst>
      <p:ext uri="{BB962C8B-B14F-4D97-AF65-F5344CB8AC3E}">
        <p14:creationId xmlns:p14="http://schemas.microsoft.com/office/powerpoint/2010/main" val="3452307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Include JavaScript Inside Page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5">
            <a:extLst>
              <a:ext uri="{28A0092B-C50C-407E-A947-70E740481C1C}">
                <a14:useLocalDpi xmlns:a14="http://schemas.microsoft.com/office/drawing/2010/main" val="0"/>
              </a:ext>
            </a:extLst>
          </a:blip>
          <a:srcRect t="33640"/>
          <a:stretch/>
        </p:blipFill>
        <p:spPr>
          <a:xfrm>
            <a:off x="1812859" y="1961788"/>
            <a:ext cx="8475037" cy="3584487"/>
          </a:xfrm>
          <a:prstGeom prst="rect">
            <a:avLst/>
          </a:prstGeom>
        </p:spPr>
      </p:pic>
    </p:spTree>
    <p:extLst>
      <p:ext uri="{BB962C8B-B14F-4D97-AF65-F5344CB8AC3E}">
        <p14:creationId xmlns:p14="http://schemas.microsoft.com/office/powerpoint/2010/main" val="2241583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992777" y="1153138"/>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JavaScript Engine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386372"/>
            <a:ext cx="9483634" cy="482375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javaScript engines are used to compile javaScript byte code.</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Java script engine is inside your browser. Also, you can consider the engine as JavaScript VM.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javaScript engines also enforce security polices, So sandbox run inside the javaScript engine.</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Different web browser have different javascript engine: </a:t>
            </a:r>
            <a:endParaRPr lang="en-GB" sz="2400" dirty="0">
              <a:latin typeface="Times New Roman" panose="02020603050405020304" pitchFamily="18" charset="0"/>
              <a:cs typeface="Times New Roman" panose="02020603050405020304" pitchFamily="18" charset="0"/>
            </a:endParaRP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V8 from Google (for Chrome and Microsoft Edge) </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SpiderMonkey from Mozilla (for Firefox)</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JavaScriptCore from Apple (for Safari)</a:t>
            </a:r>
          </a:p>
          <a:p>
            <a:pPr marL="354965" indent="-342900" algn="just">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All Engines run bytecode and enforce security</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08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Security Consideration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667674"/>
            <a:ext cx="9483634" cy="3154069"/>
          </a:xfrm>
          <a:prstGeom prst="rect">
            <a:avLst/>
          </a:prstGeom>
        </p:spPr>
        <p:txBody>
          <a:bodyPr vert="horz" wrap="square" lIns="0" tIns="85725" rIns="0" bIns="0" rtlCol="0">
            <a:spAutoFit/>
          </a:bodyPr>
          <a:lstStyle/>
          <a:p>
            <a:pPr marL="12065" algn="just">
              <a:lnSpc>
                <a:spcPct val="100000"/>
              </a:lnSpc>
              <a:spcBef>
                <a:spcPts val="1325"/>
              </a:spcBef>
              <a:tabLst>
                <a:tab pos="241935" algn="l"/>
              </a:tabLst>
            </a:pPr>
            <a:r>
              <a:rPr lang="en-GB" sz="2400" dirty="0">
                <a:latin typeface="Times New Roman" panose="02020603050405020304" pitchFamily="18" charset="0"/>
                <a:cs typeface="Times New Roman" panose="02020603050405020304" pitchFamily="18" charset="0"/>
              </a:rPr>
              <a:t>Question: why can't we just use binary code?</a:t>
            </a:r>
          </a:p>
          <a:p>
            <a:pPr marL="12065" algn="just">
              <a:lnSpc>
                <a:spcPct val="100000"/>
              </a:lnSpc>
              <a:spcBef>
                <a:spcPts val="1325"/>
              </a:spcBef>
              <a:tabLst>
                <a:tab pos="241935" algn="l"/>
              </a:tabLst>
            </a:pPr>
            <a:r>
              <a:rPr lang="en-US" sz="2200" dirty="0">
                <a:latin typeface="Times New Roman" panose="02020603050405020304" pitchFamily="18" charset="0"/>
                <a:cs typeface="Times New Roman" panose="02020603050405020304" pitchFamily="18" charset="0"/>
              </a:rPr>
              <a:t>&lt;binary src=“https://www.example.com/</a:t>
            </a:r>
            <a:r>
              <a:rPr lang="en-US" sz="2200" dirty="0" err="1">
                <a:latin typeface="Times New Roman" panose="02020603050405020304" pitchFamily="18" charset="0"/>
                <a:cs typeface="Times New Roman" panose="02020603050405020304" pitchFamily="18" charset="0"/>
              </a:rPr>
              <a:t>code.bin</a:t>
            </a:r>
            <a:r>
              <a:rPr lang="en-US" sz="2200" dirty="0">
                <a:latin typeface="Times New Roman" panose="02020603050405020304" pitchFamily="18" charset="0"/>
                <a:cs typeface="Times New Roman" panose="02020603050405020304" pitchFamily="18" charset="0"/>
              </a:rPr>
              <a:t>”&gt;&lt;/binary&gt;</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rPr>
              <a:t>It is very difficult to enforce security on binary because binary run-on top of CPU</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rPr>
              <a:t>So it talk/ deal directly with CPU </a:t>
            </a:r>
            <a:r>
              <a:rPr lang="en-US" sz="2200" dirty="0">
                <a:latin typeface="Times New Roman" panose="02020603050405020304" pitchFamily="18" charset="0"/>
                <a:cs typeface="Times New Roman" panose="02020603050405020304" pitchFamily="18" charset="0"/>
                <a:sym typeface="Wingdings" panose="05000000000000000000" pitchFamily="2" charset="2"/>
              </a:rPr>
              <a:t> OS can handle on that stage</a:t>
            </a:r>
          </a:p>
          <a:p>
            <a:pPr marL="812165" lvl="1" indent="-342900" algn="just">
              <a:spcBef>
                <a:spcPts val="1325"/>
              </a:spcBef>
              <a:buFont typeface="Arial" panose="020B0604020202020204" pitchFamily="34" charset="0"/>
              <a:buChar char="•"/>
              <a:tabLst>
                <a:tab pos="241935" algn="l"/>
              </a:tabLst>
            </a:pPr>
            <a:r>
              <a:rPr lang="en-US" sz="2200" dirty="0">
                <a:latin typeface="Times New Roman" panose="02020603050405020304" pitchFamily="18" charset="0"/>
                <a:cs typeface="Times New Roman" panose="02020603050405020304" pitchFamily="18" charset="0"/>
                <a:sym typeface="Wingdings" panose="05000000000000000000" pitchFamily="2" charset="2"/>
              </a:rPr>
              <a:t>But OS doesn’t know which binary related to browser and which related to untrusted code. OS doesn’t have such granularity to separate them.</a:t>
            </a:r>
            <a:endParaRPr lang="en-US" sz="22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979712" y="5199225"/>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Byte Code</a:t>
            </a:r>
            <a:endParaRPr lang="en-GB" sz="2800" b="1"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3553095" y="5199224"/>
            <a:ext cx="1841863" cy="488069"/>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Engine</a:t>
            </a:r>
            <a:endParaRPr lang="en-GB" sz="2800" b="1" dirty="0">
              <a:latin typeface="Times New Roman" panose="02020603050405020304" pitchFamily="18" charset="0"/>
              <a:cs typeface="Times New Roman" panose="02020603050405020304" pitchFamily="18" charset="0"/>
            </a:endParaRPr>
          </a:p>
        </p:txBody>
      </p:sp>
      <p:sp>
        <p:nvSpPr>
          <p:cNvPr id="17" name="Rounded Rectangle 16"/>
          <p:cNvSpPr/>
          <p:nvPr/>
        </p:nvSpPr>
        <p:spPr>
          <a:xfrm>
            <a:off x="8891450"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CPU</a:t>
            </a:r>
            <a:endParaRPr lang="en-GB" sz="2800" b="1"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6126478"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OS</a:t>
            </a:r>
            <a:endParaRPr lang="en-GB" sz="2800" b="1" dirty="0">
              <a:latin typeface="Times New Roman" panose="02020603050405020304" pitchFamily="18" charset="0"/>
              <a:cs typeface="Times New Roman" panose="02020603050405020304" pitchFamily="18" charset="0"/>
            </a:endParaRPr>
          </a:p>
        </p:txBody>
      </p:sp>
      <p:sp>
        <p:nvSpPr>
          <p:cNvPr id="4" name="Right Arrow 3"/>
          <p:cNvSpPr/>
          <p:nvPr/>
        </p:nvSpPr>
        <p:spPr>
          <a:xfrm>
            <a:off x="2945038"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9" name="Right Arrow 18"/>
          <p:cNvSpPr/>
          <p:nvPr/>
        </p:nvSpPr>
        <p:spPr>
          <a:xfrm>
            <a:off x="8212181" y="5353605"/>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0" name="Right Arrow 19"/>
          <p:cNvSpPr/>
          <p:nvPr/>
        </p:nvSpPr>
        <p:spPr>
          <a:xfrm>
            <a:off x="5534392"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9374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Security Consideration</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308561" y="1667674"/>
            <a:ext cx="9483634" cy="243335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So you have this layer (Engine layer)</a:t>
            </a:r>
            <a:r>
              <a:rPr lang="en-US" sz="2400" dirty="0">
                <a:latin typeface="Times New Roman" panose="02020603050405020304" pitchFamily="18" charset="0"/>
                <a:cs typeface="Times New Roman" panose="02020603050405020304" pitchFamily="18" charset="0"/>
                <a:sym typeface="Wingdings" panose="05000000000000000000" pitchFamily="2" charset="2"/>
              </a:rPr>
              <a:t> This layer is part of browser</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sym typeface="Wingdings" panose="05000000000000000000" pitchFamily="2" charset="2"/>
              </a:rPr>
              <a:t>Any bytecode will come browser knows about it that it is coming from a trusted party or untrusted party etc.</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sym typeface="Wingdings" panose="05000000000000000000" pitchFamily="2" charset="2"/>
              </a:rPr>
              <a:t>In this way, we can apply </a:t>
            </a:r>
            <a:r>
              <a:rPr 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access control </a:t>
            </a:r>
            <a:r>
              <a:rPr lang="en-US" sz="2400" dirty="0">
                <a:latin typeface="Times New Roman" panose="02020603050405020304" pitchFamily="18" charset="0"/>
                <a:cs typeface="Times New Roman" panose="02020603050405020304" pitchFamily="18" charset="0"/>
                <a:sym typeface="Wingdings" panose="05000000000000000000" pitchFamily="2" charset="2"/>
              </a:rPr>
              <a:t>on the behavior of byte codes.</a:t>
            </a:r>
          </a:p>
          <a:p>
            <a:pPr marL="354965" indent="-342900" algn="just">
              <a:lnSpc>
                <a:spcPct val="100000"/>
              </a:lnSpc>
              <a:spcBef>
                <a:spcPts val="1325"/>
              </a:spcBef>
              <a:buFont typeface="Wingdings" panose="05000000000000000000" pitchFamily="2" charset="2"/>
              <a:buChar char="v"/>
              <a:tabLst>
                <a:tab pos="241935" algn="l"/>
              </a:tabLst>
            </a:pPr>
            <a:endParaRPr lang="en-US" sz="24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3" name="Rounded Rectangle 2"/>
          <p:cNvSpPr/>
          <p:nvPr/>
        </p:nvSpPr>
        <p:spPr>
          <a:xfrm>
            <a:off x="979712" y="5199225"/>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Byte Code</a:t>
            </a:r>
            <a:endParaRPr lang="en-GB" sz="2800" b="1"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3553095" y="5199224"/>
            <a:ext cx="1841863" cy="488069"/>
          </a:xfrm>
          <a:prstGeom prst="roundRect">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Engine</a:t>
            </a:r>
            <a:endParaRPr lang="en-GB" sz="2800" b="1" dirty="0">
              <a:latin typeface="Times New Roman" panose="02020603050405020304" pitchFamily="18" charset="0"/>
              <a:cs typeface="Times New Roman" panose="02020603050405020304" pitchFamily="18" charset="0"/>
            </a:endParaRPr>
          </a:p>
        </p:txBody>
      </p:sp>
      <p:sp>
        <p:nvSpPr>
          <p:cNvPr id="17" name="Rounded Rectangle 16"/>
          <p:cNvSpPr/>
          <p:nvPr/>
        </p:nvSpPr>
        <p:spPr>
          <a:xfrm>
            <a:off x="8891450"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CPU</a:t>
            </a:r>
            <a:endParaRPr lang="en-GB" sz="2800" b="1" dirty="0">
              <a:latin typeface="Times New Roman" panose="02020603050405020304" pitchFamily="18" charset="0"/>
              <a:cs typeface="Times New Roman" panose="02020603050405020304" pitchFamily="18" charset="0"/>
            </a:endParaRPr>
          </a:p>
        </p:txBody>
      </p:sp>
      <p:sp>
        <p:nvSpPr>
          <p:cNvPr id="18" name="Rounded Rectangle 17"/>
          <p:cNvSpPr/>
          <p:nvPr/>
        </p:nvSpPr>
        <p:spPr>
          <a:xfrm>
            <a:off x="6126478" y="5211706"/>
            <a:ext cx="1841863" cy="48806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OS</a:t>
            </a:r>
            <a:endParaRPr lang="en-GB" sz="2800" b="1" dirty="0">
              <a:latin typeface="Times New Roman" panose="02020603050405020304" pitchFamily="18" charset="0"/>
              <a:cs typeface="Times New Roman" panose="02020603050405020304" pitchFamily="18" charset="0"/>
            </a:endParaRPr>
          </a:p>
        </p:txBody>
      </p:sp>
      <p:sp>
        <p:nvSpPr>
          <p:cNvPr id="4" name="Right Arrow 3"/>
          <p:cNvSpPr/>
          <p:nvPr/>
        </p:nvSpPr>
        <p:spPr>
          <a:xfrm>
            <a:off x="2945038"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9" name="Right Arrow 18"/>
          <p:cNvSpPr/>
          <p:nvPr/>
        </p:nvSpPr>
        <p:spPr>
          <a:xfrm>
            <a:off x="8212181" y="5353605"/>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0" name="Right Arrow 19"/>
          <p:cNvSpPr/>
          <p:nvPr/>
        </p:nvSpPr>
        <p:spPr>
          <a:xfrm>
            <a:off x="5534392" y="5353606"/>
            <a:ext cx="518161" cy="2030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52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Sandboxing JavaScript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270046" y="1391708"/>
            <a:ext cx="9483634" cy="441082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Sandboxing is a security mechanism that allow you to run piece of code in isolated space.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Benefits: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Helpful for executing untrusted applications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Prevent </a:t>
            </a:r>
            <a:r>
              <a:rPr lang="en-US" sz="2200" dirty="0" smtClean="0">
                <a:latin typeface="Times New Roman" panose="02020603050405020304" pitchFamily="18" charset="0"/>
                <a:cs typeface="Times New Roman" panose="02020603050405020304" pitchFamily="18" charset="0"/>
              </a:rPr>
              <a:t>the</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system from permanent changings</a:t>
            </a:r>
          </a:p>
          <a:p>
            <a:pPr marL="926465" lvl="1" indent="-4572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Secure web browsing: a malware downloaded from website can not harm to your system</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Example:</a:t>
            </a:r>
          </a:p>
          <a:p>
            <a:pPr marL="812165" lvl="1" indent="-3429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The most popular tools is sandboxie</a:t>
            </a:r>
            <a:r>
              <a:rPr lang="en-US" sz="2400" dirty="0">
                <a:latin typeface="Times New Roman" panose="02020603050405020304" pitchFamily="18" charset="0"/>
                <a:cs typeface="Times New Roman" panose="02020603050405020304" pitchFamily="18" charset="0"/>
              </a:rPr>
              <a:t>.</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2023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Behavior of Sandbox</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3018" y="2226129"/>
            <a:ext cx="6048102" cy="3918974"/>
          </a:xfrm>
          <a:prstGeom prst="rect">
            <a:avLst/>
          </a:prstGeom>
        </p:spPr>
      </p:pic>
      <p:sp>
        <p:nvSpPr>
          <p:cNvPr id="10" name="object 5"/>
          <p:cNvSpPr txBox="1"/>
          <p:nvPr/>
        </p:nvSpPr>
        <p:spPr>
          <a:xfrm>
            <a:off x="1103713" y="1254892"/>
            <a:ext cx="9483634" cy="82522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sandbox decided that what kind of things can be accessed. As shown in following figure that 1, 2 , 3, 4 and 5 are assessable to sandbox.</a:t>
            </a:r>
          </a:p>
        </p:txBody>
      </p:sp>
    </p:spTree>
    <p:extLst>
      <p:ext uri="{BB962C8B-B14F-4D97-AF65-F5344CB8AC3E}">
        <p14:creationId xmlns:p14="http://schemas.microsoft.com/office/powerpoint/2010/main" val="2326964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1323684"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Page Content (1/2)</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11007900" cy="189731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t>HTML DOM (Document Object Model)</a:t>
            </a:r>
          </a:p>
          <a:p>
            <a:pPr marL="812165" lvl="1" indent="-342900" algn="just">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Every element is a node. You can access with the list of APIs provided by the browser. </a:t>
            </a:r>
            <a:r>
              <a:rPr lang="nl-NL" sz="2400" dirty="0">
                <a:latin typeface="Times New Roman" panose="02020603050405020304" pitchFamily="18" charset="0"/>
                <a:cs typeface="Times New Roman" panose="02020603050405020304" pitchFamily="18" charset="0"/>
                <a:sym typeface="Wingdings" panose="05000000000000000000" pitchFamily="2" charset="2"/>
              </a:rPr>
              <a:t> every element has id</a:t>
            </a:r>
            <a:endParaRPr lang="nl-NL" sz="2400" dirty="0">
              <a:latin typeface="Times New Roman" panose="02020603050405020304" pitchFamily="18" charset="0"/>
              <a:cs typeface="Times New Roman" panose="02020603050405020304" pitchFamily="18" charset="0"/>
            </a:endParaRPr>
          </a:p>
          <a:p>
            <a:pPr marL="12065" algn="ctr">
              <a:lnSpc>
                <a:spcPct val="100000"/>
              </a:lnSpc>
              <a:spcBef>
                <a:spcPts val="1325"/>
              </a:spcBef>
              <a:tabLst>
                <a:tab pos="241935" algn="l"/>
              </a:tabLst>
            </a:pPr>
            <a:r>
              <a:rPr lang="nl-NL" sz="2400" b="1" dirty="0">
                <a:latin typeface="Times New Roman" panose="02020603050405020304" pitchFamily="18" charset="0"/>
                <a:cs typeface="Times New Roman" panose="02020603050405020304" pitchFamily="18" charset="0"/>
              </a:rPr>
              <a:t>Document.getElemmentById(“demo”).innerHTML=“Hello World”</a:t>
            </a:r>
            <a:endParaRPr lang="nl-NL" sz="2400" b="1" dirty="0"/>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3652" t="3273" b="4370"/>
          <a:stretch/>
        </p:blipFill>
        <p:spPr>
          <a:xfrm>
            <a:off x="3413126" y="3298217"/>
            <a:ext cx="6312592" cy="3422548"/>
          </a:xfrm>
          <a:prstGeom prst="rect">
            <a:avLst/>
          </a:prstGeom>
        </p:spPr>
      </p:pic>
    </p:spTree>
    <p:extLst>
      <p:ext uri="{BB962C8B-B14F-4D97-AF65-F5344CB8AC3E}">
        <p14:creationId xmlns:p14="http://schemas.microsoft.com/office/powerpoint/2010/main" val="233306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Page Content (2/2)</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65704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t>Once you find the reference of element through API, then you can change the content of same page. But you can’t modify to another page, you have not reference of another page.</a:t>
            </a:r>
          </a:p>
          <a:p>
            <a:pPr marL="354965" indent="-342900" algn="just">
              <a:lnSpc>
                <a:spcPct val="100000"/>
              </a:lnSpc>
              <a:spcBef>
                <a:spcPts val="1325"/>
              </a:spcBef>
              <a:buFont typeface="Wingdings" panose="05000000000000000000" pitchFamily="2" charset="2"/>
              <a:buChar char="v"/>
              <a:tabLst>
                <a:tab pos="241935" algn="l"/>
              </a:tabLst>
            </a:pPr>
            <a:r>
              <a:rPr lang="nl-NL" sz="2400" dirty="0"/>
              <a:t>These things get complicated when developer use iframes inside a side web page, because each iframe behave as web page inside a web page.</a:t>
            </a:r>
          </a:p>
          <a:p>
            <a:pPr marL="354965" indent="-342900" algn="just">
              <a:lnSpc>
                <a:spcPct val="100000"/>
              </a:lnSpc>
              <a:spcBef>
                <a:spcPts val="1325"/>
              </a:spcBef>
              <a:buFont typeface="Wingdings" panose="05000000000000000000" pitchFamily="2" charset="2"/>
              <a:buChar char="v"/>
              <a:tabLst>
                <a:tab pos="241935" algn="l"/>
              </a:tabLst>
            </a:pPr>
            <a:r>
              <a:rPr lang="en-GB" sz="2400" dirty="0"/>
              <a:t>HTML Objects (examples)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document.cookies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document.images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document.forms</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document.URL</a:t>
            </a:r>
            <a:r>
              <a:rPr lang="nl-NL" sz="2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84420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Accessing Browser Data</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36209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The Browser Object Model (BOM)</a:t>
            </a:r>
          </a:p>
          <a:p>
            <a:pPr marL="812165" lvl="1" indent="-342900" algn="just">
              <a:spcBef>
                <a:spcPts val="1325"/>
              </a:spcBef>
              <a:buFont typeface="Wingdings" panose="05000000000000000000" pitchFamily="2" charset="2"/>
              <a:buChar char="Ø"/>
              <a:tabLst>
                <a:tab pos="241935" algn="l"/>
              </a:tabLst>
            </a:pPr>
            <a:r>
              <a:rPr lang="en-GB" sz="24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The window object</a:t>
            </a:r>
          </a:p>
          <a:p>
            <a:pPr marL="812165" lvl="1" indent="-342900" algn="just">
              <a:spcBef>
                <a:spcPts val="1325"/>
              </a:spcBef>
              <a:buFont typeface="Wingdings" panose="05000000000000000000" pitchFamily="2" charset="2"/>
              <a:buChar char="Ø"/>
              <a:tabLst>
                <a:tab pos="241935" algn="l"/>
              </a:tabLst>
            </a:pPr>
            <a:r>
              <a:rPr lang="en-US" sz="2200" dirty="0">
                <a:latin typeface="Times New Roman" panose="02020603050405020304" pitchFamily="18" charset="0"/>
                <a:cs typeface="Times New Roman" panose="02020603050405020304" pitchFamily="18" charset="0"/>
              </a:rPr>
              <a:t>The browsing data belongs to user. The server and 3</a:t>
            </a:r>
            <a:r>
              <a:rPr lang="en-US" sz="2200" baseline="30000" dirty="0">
                <a:latin typeface="Times New Roman" panose="02020603050405020304" pitchFamily="18" charset="0"/>
                <a:cs typeface="Times New Roman" panose="02020603050405020304" pitchFamily="18" charset="0"/>
              </a:rPr>
              <a:t>rd</a:t>
            </a:r>
            <a:r>
              <a:rPr lang="en-US" sz="2200" dirty="0">
                <a:latin typeface="Times New Roman" panose="02020603050405020304" pitchFamily="18" charset="0"/>
                <a:cs typeface="Times New Roman" panose="02020603050405020304" pitchFamily="18" charset="0"/>
              </a:rPr>
              <a:t> parties can access user browsing data through APIs with user permission. </a:t>
            </a:r>
            <a:endParaRPr lang="en-GB" sz="22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Objects (examples) </a:t>
            </a:r>
          </a:p>
          <a:p>
            <a:pPr marL="812165" lvl="1" indent="-342900" algn="just">
              <a:spcBef>
                <a:spcPts val="1325"/>
              </a:spcBef>
              <a:buFont typeface="Wingdings" panose="05000000000000000000" pitchFamily="2" charset="2"/>
              <a:buChar char="Ø"/>
              <a:tabLst>
                <a:tab pos="241935" algn="l"/>
              </a:tabLst>
            </a:pPr>
            <a:r>
              <a:rPr lang="en-GB" sz="2200" dirty="0">
                <a:latin typeface="Times New Roman" panose="02020603050405020304" pitchFamily="18" charset="0"/>
                <a:cs typeface="Times New Roman" panose="02020603050405020304" pitchFamily="18" charset="0"/>
              </a:rPr>
              <a:t>window.history</a:t>
            </a:r>
          </a:p>
          <a:p>
            <a:pPr marL="1269365" lvl="2" indent="-342900" algn="just">
              <a:spcBef>
                <a:spcPts val="1325"/>
              </a:spcBef>
              <a:buFont typeface="Wingdings" panose="05000000000000000000" pitchFamily="2" charset="2"/>
              <a:buChar char="ü"/>
              <a:tabLst>
                <a:tab pos="241935" algn="l"/>
              </a:tabLst>
            </a:pPr>
            <a:r>
              <a:rPr lang="en-GB" sz="2000" dirty="0">
                <a:latin typeface="Times New Roman" panose="02020603050405020304" pitchFamily="18" charset="0"/>
                <a:cs typeface="Times New Roman" panose="02020603050405020304" pitchFamily="18" charset="0"/>
              </a:rPr>
              <a:t>back() and forward() APIs</a:t>
            </a:r>
          </a:p>
          <a:p>
            <a:pPr marL="812165" lvl="1" indent="-342900" algn="just">
              <a:spcBef>
                <a:spcPts val="1325"/>
              </a:spcBef>
              <a:buFont typeface="Wingdings" panose="05000000000000000000" pitchFamily="2" charset="2"/>
              <a:buChar char="Ø"/>
              <a:tabLst>
                <a:tab pos="241935" algn="l"/>
              </a:tabLst>
            </a:pPr>
            <a:r>
              <a:rPr lang="en-GB" sz="24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window.navigator </a:t>
            </a:r>
          </a:p>
          <a:p>
            <a:pPr marL="1269365" lvl="2" indent="-342900" algn="just">
              <a:spcBef>
                <a:spcPts val="1325"/>
              </a:spcBef>
              <a:buFont typeface="Wingdings" panose="05000000000000000000" pitchFamily="2" charset="2"/>
              <a:buChar char="ü"/>
              <a:tabLst>
                <a:tab pos="241935" algn="l"/>
              </a:tabLst>
            </a:pPr>
            <a:r>
              <a:rPr lang="en-GB" sz="2000" dirty="0">
                <a:latin typeface="Times New Roman" panose="02020603050405020304" pitchFamily="18" charset="0"/>
                <a:cs typeface="Times New Roman" panose="02020603050405020304" pitchFamily="18" charset="0"/>
              </a:rPr>
              <a:t>navigator.geolocation.getCurrentPosition()</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5530" y="3435938"/>
            <a:ext cx="4436451" cy="1589942"/>
          </a:xfrm>
          <a:prstGeom prst="rect">
            <a:avLst/>
          </a:prstGeom>
        </p:spPr>
      </p:pic>
    </p:spTree>
    <p:extLst>
      <p:ext uri="{BB962C8B-B14F-4D97-AF65-F5344CB8AC3E}">
        <p14:creationId xmlns:p14="http://schemas.microsoft.com/office/powerpoint/2010/main" val="2703211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JavaScript Access to Files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189577"/>
            <a:ext cx="9483634" cy="165109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There is no API who can access the file directly from memory.</a:t>
            </a:r>
          </a:p>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The file is open in the browser when user browse the file to upload. Then the reference of file from browser is given to javaScript Code.</a:t>
            </a:r>
          </a:p>
          <a:p>
            <a:pPr marL="354965" indent="-342900" algn="just">
              <a:lnSpc>
                <a:spcPct val="100000"/>
              </a:lnSpc>
              <a:spcBef>
                <a:spcPts val="1325"/>
              </a:spcBef>
              <a:buFont typeface="Wingdings" panose="05000000000000000000" pitchFamily="2" charset="2"/>
              <a:buChar char="v"/>
              <a:tabLst>
                <a:tab pos="241935" algn="l"/>
              </a:tabLst>
            </a:pPr>
            <a:r>
              <a:rPr lang="en-US" sz="2000" dirty="0">
                <a:latin typeface="Times New Roman" panose="02020603050405020304" pitchFamily="18" charset="0"/>
                <a:cs typeface="Times New Roman" panose="02020603050405020304" pitchFamily="18" charset="0"/>
              </a:rPr>
              <a:t>This is beauty of Access Control.</a:t>
            </a:r>
            <a:endParaRPr lang="en-GB"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04326" y="2840670"/>
            <a:ext cx="5856793" cy="3438455"/>
          </a:xfrm>
          <a:prstGeom prst="rect">
            <a:avLst/>
          </a:prstGeom>
        </p:spPr>
      </p:pic>
    </p:spTree>
    <p:extLst>
      <p:ext uri="{BB962C8B-B14F-4D97-AF65-F5344CB8AC3E}">
        <p14:creationId xmlns:p14="http://schemas.microsoft.com/office/powerpoint/2010/main" val="3725326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Web Server</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606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Web Server</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4690424"/>
            <a:ext cx="9483634" cy="148438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000" dirty="0">
                <a:latin typeface="Times New Roman" panose="02020603050405020304" pitchFamily="18" charset="0"/>
                <a:cs typeface="Times New Roman" panose="02020603050405020304" pitchFamily="18" charset="0"/>
              </a:rPr>
              <a:t>The HTTP server only respond to static content. So, Web Application Server are used to respond dynamic content.</a:t>
            </a:r>
          </a:p>
          <a:p>
            <a:pPr marL="354965" indent="-342900" algn="just">
              <a:lnSpc>
                <a:spcPct val="100000"/>
              </a:lnSpc>
              <a:spcBef>
                <a:spcPts val="1325"/>
              </a:spcBef>
              <a:buFont typeface="Wingdings" panose="05000000000000000000" pitchFamily="2" charset="2"/>
              <a:buChar char="v"/>
              <a:tabLst>
                <a:tab pos="241935" algn="l"/>
              </a:tabLst>
            </a:pPr>
            <a:r>
              <a:rPr lang="nl-NL" sz="2000" dirty="0">
                <a:latin typeface="Times New Roman" panose="02020603050405020304" pitchFamily="18" charset="0"/>
                <a:cs typeface="Times New Roman" panose="02020603050405020304" pitchFamily="18" charset="0"/>
              </a:rPr>
              <a:t>Th HTTP server communicate with web application server using CGI (Common Gateway Interface), Fast CGI or Modules (apache) </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2786" y="1568247"/>
            <a:ext cx="7905487" cy="2662811"/>
          </a:xfrm>
          <a:prstGeom prst="rect">
            <a:avLst/>
          </a:prstGeom>
        </p:spPr>
      </p:pic>
    </p:spTree>
    <p:extLst>
      <p:ext uri="{BB962C8B-B14F-4D97-AF65-F5344CB8AC3E}">
        <p14:creationId xmlns:p14="http://schemas.microsoft.com/office/powerpoint/2010/main" val="2678894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87929"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4244111"/>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Mostly server provide dynamic content. They also create dynamic pages. The technologies used to create dynamic content are php, python and javaScript etc.</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a:t>
            </a: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  </a:t>
            </a: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The apache server knows the php tags and it will replace response against “.date(“h:i:sa”)”</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0101" y="3232053"/>
            <a:ext cx="6469150" cy="1183193"/>
          </a:xfrm>
          <a:prstGeom prst="rect">
            <a:avLst/>
          </a:prstGeom>
        </p:spPr>
      </p:pic>
    </p:spTree>
    <p:extLst>
      <p:ext uri="{BB962C8B-B14F-4D97-AF65-F5344CB8AC3E}">
        <p14:creationId xmlns:p14="http://schemas.microsoft.com/office/powerpoint/2010/main" val="3981071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99193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 on HTML page: Inline</a:t>
            </a:r>
          </a:p>
          <a:p>
            <a:pPr marL="12065" algn="just">
              <a:lnSpc>
                <a:spcPct val="100000"/>
              </a:lnSpc>
              <a:spcBef>
                <a:spcPts val="1325"/>
              </a:spcBef>
              <a:tabLst>
                <a:tab pos="241935" algn="l"/>
              </a:tabLst>
            </a:pPr>
            <a:r>
              <a:rPr lang="nl-NL" sz="2400" dirty="0">
                <a:latin typeface="Times New Roman" panose="02020603050405020304" pitchFamily="18" charset="0"/>
                <a:cs typeface="Times New Roman" panose="02020603050405020304" pitchFamily="18" charset="0"/>
              </a:rPr>
              <a:t>  </a:t>
            </a: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7185" y="1963603"/>
            <a:ext cx="5972186" cy="3492344"/>
          </a:xfrm>
          <a:prstGeom prst="rect">
            <a:avLst/>
          </a:prstGeom>
        </p:spPr>
      </p:pic>
    </p:spTree>
    <p:extLst>
      <p:ext uri="{BB962C8B-B14F-4D97-AF65-F5344CB8AC3E}">
        <p14:creationId xmlns:p14="http://schemas.microsoft.com/office/powerpoint/2010/main" val="1746344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Server Side Script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103713" y="1254892"/>
            <a:ext cx="9483634" cy="82522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Return Data on HTML page: Use Template (Use for Large number of files).  </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2797" y="2061010"/>
            <a:ext cx="5717803" cy="4125341"/>
          </a:xfrm>
          <a:prstGeom prst="rect">
            <a:avLst/>
          </a:prstGeom>
        </p:spPr>
      </p:pic>
    </p:spTree>
    <p:extLst>
      <p:ext uri="{BB962C8B-B14F-4D97-AF65-F5344CB8AC3E}">
        <p14:creationId xmlns:p14="http://schemas.microsoft.com/office/powerpoint/2010/main" val="2251231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Client Interact with Server </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96940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The javaScript is runing on browser side and scripts are used at server side. How server and browser interact with each other?</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There are three ways as follows:</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HTTP Request</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Ajax Request</a:t>
            </a:r>
          </a:p>
          <a:p>
            <a:pPr marL="812165" lvl="1" indent="-342900" algn="just">
              <a:spcBef>
                <a:spcPts val="1325"/>
              </a:spcBef>
              <a:buFont typeface="Wingdings" panose="05000000000000000000" pitchFamily="2" charset="2"/>
              <a:buChar char="Ø"/>
              <a:tabLst>
                <a:tab pos="241935" algn="l"/>
              </a:tabLst>
            </a:pPr>
            <a:r>
              <a:rPr lang="nl-NL" sz="2200" dirty="0">
                <a:latin typeface="Times New Roman" panose="02020603050405020304" pitchFamily="18" charset="0"/>
                <a:cs typeface="Times New Roman" panose="02020603050405020304" pitchFamily="18" charset="0"/>
              </a:rPr>
              <a:t>WebSocket</a:t>
            </a:r>
          </a:p>
        </p:txBody>
      </p:sp>
    </p:spTree>
    <p:extLst>
      <p:ext uri="{BB962C8B-B14F-4D97-AF65-F5344CB8AC3E}">
        <p14:creationId xmlns:p14="http://schemas.microsoft.com/office/powerpoint/2010/main" val="602267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HTTP Request and Response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136115"/>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HTTP Request </a:t>
            </a: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12065" algn="just">
              <a:lnSpc>
                <a:spcPct val="100000"/>
              </a:lnSpc>
              <a:spcBef>
                <a:spcPts val="1325"/>
              </a:spcBef>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HTTP Response</a:t>
            </a:r>
            <a:endParaRPr lang="nl-NL"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t="4923"/>
          <a:stretch/>
        </p:blipFill>
        <p:spPr>
          <a:xfrm>
            <a:off x="2203038" y="2011680"/>
            <a:ext cx="6849521" cy="1670809"/>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0310" y="3815652"/>
            <a:ext cx="5683146" cy="2383255"/>
          </a:xfrm>
          <a:prstGeom prst="rect">
            <a:avLst/>
          </a:prstGeom>
        </p:spPr>
      </p:pic>
    </p:spTree>
    <p:extLst>
      <p:ext uri="{BB962C8B-B14F-4D97-AF65-F5344CB8AC3E}">
        <p14:creationId xmlns:p14="http://schemas.microsoft.com/office/powerpoint/2010/main" val="2231002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GET and POST Methods</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r="42853"/>
          <a:stretch/>
        </p:blipFill>
        <p:spPr>
          <a:xfrm>
            <a:off x="1913862" y="1408031"/>
            <a:ext cx="7804904" cy="4426211"/>
          </a:xfrm>
          <a:prstGeom prst="rect">
            <a:avLst/>
          </a:prstGeom>
        </p:spPr>
      </p:pic>
    </p:spTree>
    <p:extLst>
      <p:ext uri="{BB962C8B-B14F-4D97-AF65-F5344CB8AC3E}">
        <p14:creationId xmlns:p14="http://schemas.microsoft.com/office/powerpoint/2010/main" val="1090288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Cookies and Sessions</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127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Stateless Nature of Web</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26664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a user send http request to server, the server process the request and respond to user. But, </a:t>
            </a:r>
            <a:r>
              <a:rPr lang="nl-NL" sz="2400" dirty="0">
                <a:solidFill>
                  <a:srgbClr val="FF0000"/>
                </a:solidFill>
                <a:latin typeface="Times New Roman" panose="02020603050405020304" pitchFamily="18" charset="0"/>
                <a:cs typeface="Times New Roman" panose="02020603050405020304" pitchFamily="18" charset="0"/>
              </a:rPr>
              <a:t>server did not keep the record </a:t>
            </a:r>
            <a:r>
              <a:rPr lang="nl-NL" sz="2400" dirty="0">
                <a:latin typeface="Times New Roman" panose="02020603050405020304" pitchFamily="18" charset="0"/>
                <a:cs typeface="Times New Roman" panose="02020603050405020304" pitchFamily="18" charset="0"/>
              </a:rPr>
              <a:t>of user.</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2nd time, when same user send http request to server. The server can not recognize the user, that this user visited the site before or not.</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So, this is problem </a:t>
            </a:r>
            <a:endParaRPr lang="nl-NL"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770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(1/3)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17202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Cookies are designed to keep track record of user at user end.</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a user send http request to server, the server process the request and respond to user with cookies. The cookies are </a:t>
            </a:r>
            <a:r>
              <a:rPr lang="nl-NL" sz="2400" dirty="0">
                <a:solidFill>
                  <a:srgbClr val="FF0000"/>
                </a:solidFill>
                <a:latin typeface="Times New Roman" panose="02020603050405020304" pitchFamily="18" charset="0"/>
                <a:cs typeface="Times New Roman" panose="02020603050405020304" pitchFamily="18" charset="0"/>
              </a:rPr>
              <a:t>saved on browser</a:t>
            </a:r>
            <a:r>
              <a:rPr lang="nl-NL" sz="2400" dirty="0">
                <a:latin typeface="Times New Roman" panose="02020603050405020304" pitchFamily="18" charset="0"/>
                <a:cs typeface="Times New Roman" panose="02020603050405020304" pitchFamily="18" charset="0"/>
              </a:rPr>
              <a:t>.</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2nd time, when same user send http request to server. The cookies will attach with request automatically. The server will recognize the user and treat him in a better way.</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PHP code example:</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329" y="4662045"/>
            <a:ext cx="5979068" cy="1577051"/>
          </a:xfrm>
          <a:prstGeom prst="rect">
            <a:avLst/>
          </a:prstGeom>
        </p:spPr>
      </p:pic>
    </p:spTree>
    <p:extLst>
      <p:ext uri="{BB962C8B-B14F-4D97-AF65-F5344CB8AC3E}">
        <p14:creationId xmlns:p14="http://schemas.microsoft.com/office/powerpoint/2010/main" val="1281257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(2/3)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0" y="1393954"/>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Setting cookies in HTTP response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0214"/>
          <a:stretch/>
        </p:blipFill>
        <p:spPr>
          <a:xfrm>
            <a:off x="1265946" y="2078150"/>
            <a:ext cx="9054663" cy="2739726"/>
          </a:xfrm>
          <a:prstGeom prst="rect">
            <a:avLst/>
          </a:prstGeom>
        </p:spPr>
      </p:pic>
    </p:spTree>
    <p:extLst>
      <p:ext uri="{BB962C8B-B14F-4D97-AF65-F5344CB8AC3E}">
        <p14:creationId xmlns:p14="http://schemas.microsoft.com/office/powerpoint/2010/main" val="4076682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Cookies (3/3)</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0" y="1393954"/>
            <a:ext cx="9483634" cy="455894"/>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GB" sz="2400" dirty="0">
                <a:latin typeface="Times New Roman" panose="02020603050405020304" pitchFamily="18" charset="0"/>
                <a:cs typeface="Times New Roman" panose="02020603050405020304" pitchFamily="18" charset="0"/>
              </a:rPr>
              <a:t>Attaching cookies in HTTP request</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2584" y="2304738"/>
            <a:ext cx="6849572" cy="3207788"/>
          </a:xfrm>
          <a:prstGeom prst="rect">
            <a:avLst/>
          </a:prstGeom>
        </p:spPr>
      </p:pic>
    </p:spTree>
    <p:extLst>
      <p:ext uri="{BB962C8B-B14F-4D97-AF65-F5344CB8AC3E}">
        <p14:creationId xmlns:p14="http://schemas.microsoft.com/office/powerpoint/2010/main" val="888539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Web Tracking Using 3rd-Party Cookies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6668" y="1310605"/>
            <a:ext cx="7002829" cy="4721825"/>
          </a:xfrm>
          <a:prstGeom prst="rect">
            <a:avLst/>
          </a:prstGeom>
        </p:spPr>
      </p:pic>
    </p:spTree>
    <p:extLst>
      <p:ext uri="{BB962C8B-B14F-4D97-AF65-F5344CB8AC3E}">
        <p14:creationId xmlns:p14="http://schemas.microsoft.com/office/powerpoint/2010/main" val="3081868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Session and Session Cookie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object 5"/>
          <p:cNvSpPr txBox="1"/>
          <p:nvPr/>
        </p:nvSpPr>
        <p:spPr>
          <a:xfrm>
            <a:off x="1051460" y="1002064"/>
            <a:ext cx="9483634" cy="5388013"/>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cookies are stored in browser of user. But every data of user can not store on user side. Suppose a shopping website store all user data at user side in form of cookies i.e., quantity, price, size etc. The user’s bill is created 1000$ that is also saved in form of cookie at user end. The </a:t>
            </a:r>
            <a:r>
              <a:rPr lang="en-US" sz="2400" dirty="0">
                <a:solidFill>
                  <a:srgbClr val="FF0000"/>
                </a:solidFill>
                <a:latin typeface="Times New Roman" panose="02020603050405020304" pitchFamily="18" charset="0"/>
                <a:cs typeface="Times New Roman" panose="02020603050405020304" pitchFamily="18" charset="0"/>
              </a:rPr>
              <a:t>user can change the price</a:t>
            </a:r>
            <a:r>
              <a:rPr lang="en-US" sz="2400" dirty="0">
                <a:latin typeface="Times New Roman" panose="02020603050405020304" pitchFamily="18" charset="0"/>
                <a:cs typeface="Times New Roman" panose="02020603050405020304" pitchFamily="18" charset="0"/>
              </a:rPr>
              <a:t>. So, this is vulnerability.</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solution is that price must be saved on server. But problem is that how server will recognize that which price is belong to which user. So, </a:t>
            </a:r>
            <a:r>
              <a:rPr lang="en-US" sz="2400" dirty="0">
                <a:solidFill>
                  <a:srgbClr val="FF0000"/>
                </a:solidFill>
                <a:latin typeface="Times New Roman" panose="02020603050405020304" pitchFamily="18" charset="0"/>
                <a:cs typeface="Times New Roman" panose="02020603050405020304" pitchFamily="18" charset="0"/>
              </a:rPr>
              <a:t>Session Id is used </a:t>
            </a:r>
            <a:r>
              <a:rPr lang="en-US" sz="2400" dirty="0">
                <a:latin typeface="Times New Roman" panose="02020603050405020304" pitchFamily="18" charset="0"/>
                <a:cs typeface="Times New Roman" panose="02020603050405020304" pitchFamily="18" charset="0"/>
              </a:rPr>
              <a:t>for this problem.</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Session ID is a cookie that is assign to user on the time of login. The session ID expired as user logout. </a:t>
            </a:r>
          </a:p>
          <a:p>
            <a:pPr marL="354965" indent="-342900" algn="just">
              <a:lnSpc>
                <a:spcPct val="100000"/>
              </a:lnSpc>
              <a:spcBef>
                <a:spcPts val="1325"/>
              </a:spcBef>
              <a:buFont typeface="Wingdings" panose="05000000000000000000" pitchFamily="2" charset="2"/>
              <a:buChar char="v"/>
              <a:tabLst>
                <a:tab pos="241935" algn="l"/>
              </a:tabLst>
            </a:pPr>
            <a:r>
              <a:rPr lang="en-US" sz="2400" dirty="0">
                <a:latin typeface="Times New Roman" panose="02020603050405020304" pitchFamily="18" charset="0"/>
                <a:cs typeface="Times New Roman" panose="02020603050405020304" pitchFamily="18" charset="0"/>
              </a:rPr>
              <a:t>The session ID must be secure. If attacker can steal session ID using sniffing attack, then he/she don’t need to steal username or password to login into user account.</a:t>
            </a:r>
          </a:p>
        </p:txBody>
      </p:sp>
    </p:spTree>
    <p:extLst>
      <p:ext uri="{BB962C8B-B14F-4D97-AF65-F5344CB8AC3E}">
        <p14:creationId xmlns:p14="http://schemas.microsoft.com/office/powerpoint/2010/main" val="492437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grpSp>
        <p:nvGrpSpPr>
          <p:cNvPr id="10" name="object 10"/>
          <p:cNvGrpSpPr/>
          <p:nvPr/>
        </p:nvGrpSpPr>
        <p:grpSpPr>
          <a:xfrm>
            <a:off x="3095500" y="2086208"/>
            <a:ext cx="6756400" cy="1584455"/>
            <a:chOff x="446087" y="3055873"/>
            <a:chExt cx="6946900" cy="2244725"/>
          </a:xfrm>
          <a:solidFill>
            <a:schemeClr val="accent2"/>
          </a:solidFill>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gr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4" name="object 14"/>
          <p:cNvSpPr txBox="1"/>
          <p:nvPr/>
        </p:nvSpPr>
        <p:spPr>
          <a:xfrm>
            <a:off x="3044764" y="2645753"/>
            <a:ext cx="6756400" cy="629018"/>
          </a:xfrm>
          <a:prstGeom prst="rect">
            <a:avLst/>
          </a:prstGeom>
        </p:spPr>
        <p:txBody>
          <a:bodyPr vert="horz" wrap="square" lIns="0" tIns="13335" rIns="0" bIns="0" rtlCol="0">
            <a:spAutoFit/>
          </a:bodyPr>
          <a:lstStyle/>
          <a:p>
            <a:pPr marL="12700" marR="5080" algn="ctr">
              <a:spcBef>
                <a:spcPts val="105"/>
              </a:spcBef>
            </a:pPr>
            <a:r>
              <a:rPr lang="en-GB" sz="4000" b="1" dirty="0">
                <a:latin typeface="Times New Roman" panose="02020603050405020304" pitchFamily="18" charset="0"/>
                <a:cs typeface="Times New Roman" panose="02020603050405020304" pitchFamily="18" charset="0"/>
              </a:rPr>
              <a:t>Ajax &amp; Its Security Policy</a:t>
            </a:r>
            <a:endParaRPr lang="en-US"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820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Ajax versus Normal HTTP Requests</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3300262"/>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In the </a:t>
            </a:r>
            <a:r>
              <a:rPr lang="nl-NL" sz="2200" dirty="0">
                <a:solidFill>
                  <a:srgbClr val="FF0000"/>
                </a:solidFill>
                <a:latin typeface="Times New Roman" panose="02020603050405020304" pitchFamily="18" charset="0"/>
                <a:cs typeface="Times New Roman" panose="02020603050405020304" pitchFamily="18" charset="0"/>
              </a:rPr>
              <a:t>normal http request</a:t>
            </a:r>
            <a:r>
              <a:rPr lang="nl-NL" sz="2200" dirty="0">
                <a:latin typeface="Times New Roman" panose="02020603050405020304" pitchFamily="18" charset="0"/>
                <a:cs typeface="Times New Roman" panose="02020603050405020304" pitchFamily="18" charset="0"/>
              </a:rPr>
              <a:t>, the request send to http server from web page. The server process the request and respond to browser. When response come from server then </a:t>
            </a:r>
            <a:r>
              <a:rPr lang="nl-NL" sz="2200" dirty="0">
                <a:solidFill>
                  <a:srgbClr val="FF0000"/>
                </a:solidFill>
                <a:latin typeface="Times New Roman" panose="02020603050405020304" pitchFamily="18" charset="0"/>
                <a:cs typeface="Times New Roman" panose="02020603050405020304" pitchFamily="18" charset="0"/>
              </a:rPr>
              <a:t>previous page </a:t>
            </a:r>
            <a:r>
              <a:rPr lang="nl-NL" sz="2200" dirty="0">
                <a:latin typeface="Times New Roman" panose="02020603050405020304" pitchFamily="18" charset="0"/>
                <a:cs typeface="Times New Roman" panose="02020603050405020304" pitchFamily="18" charset="0"/>
              </a:rPr>
              <a:t>on browser will be </a:t>
            </a:r>
            <a:r>
              <a:rPr lang="nl-NL" sz="2200" dirty="0">
                <a:solidFill>
                  <a:srgbClr val="FF0000"/>
                </a:solidFill>
                <a:latin typeface="Times New Roman" panose="02020603050405020304" pitchFamily="18" charset="0"/>
                <a:cs typeface="Times New Roman" panose="02020603050405020304" pitchFamily="18" charset="0"/>
              </a:rPr>
              <a:t>discarded</a:t>
            </a:r>
            <a:r>
              <a:rPr lang="nl-NL" sz="2200" dirty="0">
                <a:latin typeface="Times New Roman" panose="02020603050405020304" pitchFamily="18" charset="0"/>
                <a:cs typeface="Times New Roman" panose="02020603050405020304" pitchFamily="18" charset="0"/>
              </a:rPr>
              <a:t> (where from the http request sent). And the new page will be displayed/loaded on browser (this new page is response of server).</a:t>
            </a:r>
          </a:p>
          <a:p>
            <a:pPr marL="354965" indent="-342900" algn="just">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But In the </a:t>
            </a:r>
            <a:r>
              <a:rPr lang="nl-NL" sz="2200" dirty="0">
                <a:solidFill>
                  <a:srgbClr val="FF0000"/>
                </a:solidFill>
                <a:latin typeface="Times New Roman" panose="02020603050405020304" pitchFamily="18" charset="0"/>
                <a:cs typeface="Times New Roman" panose="02020603050405020304" pitchFamily="18" charset="0"/>
              </a:rPr>
              <a:t>Ajax request</a:t>
            </a:r>
            <a:r>
              <a:rPr lang="nl-NL" sz="2200" dirty="0">
                <a:latin typeface="Times New Roman" panose="02020603050405020304" pitchFamily="18" charset="0"/>
                <a:cs typeface="Times New Roman" panose="02020603050405020304" pitchFamily="18" charset="0"/>
              </a:rPr>
              <a:t>, the request send to http server from web page. The server process the request and respond to browser. When response come from server then previous page (where from the http request sent) is </a:t>
            </a:r>
            <a:r>
              <a:rPr lang="nl-NL" sz="2200" dirty="0">
                <a:solidFill>
                  <a:srgbClr val="FF0000"/>
                </a:solidFill>
                <a:latin typeface="Times New Roman" panose="02020603050405020304" pitchFamily="18" charset="0"/>
                <a:cs typeface="Times New Roman" panose="02020603050405020304" pitchFamily="18" charset="0"/>
              </a:rPr>
              <a:t>updated according to server response</a:t>
            </a:r>
            <a:r>
              <a:rPr lang="nl-NL"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22355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735677" y="38813"/>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to write Ajax Code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a:xfrm>
            <a:off x="8610600" y="6460854"/>
            <a:ext cx="2743200" cy="365125"/>
          </a:xfrm>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460143"/>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153850"/>
            <a:ext cx="9483634" cy="425116"/>
          </a:xfrm>
          <a:prstGeom prst="rect">
            <a:avLst/>
          </a:prstGeom>
        </p:spPr>
        <p:txBody>
          <a:bodyPr vert="horz" wrap="square" lIns="0" tIns="85725" rIns="0" bIns="0" rtlCol="0">
            <a:spAutoFit/>
          </a:bodyPr>
          <a:lstStyle/>
          <a:p>
            <a:pPr marL="12065" algn="just">
              <a:lnSpc>
                <a:spcPct val="100000"/>
              </a:lnSpc>
              <a:spcBef>
                <a:spcPts val="1325"/>
              </a:spcBef>
              <a:tabLst>
                <a:tab pos="241935" algn="l"/>
              </a:tabLst>
            </a:pPr>
            <a:endParaRPr lang="nl-NL"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1646" y="781934"/>
            <a:ext cx="8840434" cy="5677497"/>
          </a:xfrm>
          <a:prstGeom prst="rect">
            <a:avLst/>
          </a:prstGeom>
        </p:spPr>
      </p:pic>
    </p:spTree>
    <p:extLst>
      <p:ext uri="{BB962C8B-B14F-4D97-AF65-F5344CB8AC3E}">
        <p14:creationId xmlns:p14="http://schemas.microsoft.com/office/powerpoint/2010/main" val="2069643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How to write Ajax Code</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2112758"/>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You need http object to send request</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Ajax is a asynchronous. Its means that when user send request to server, then current page don’t block. Even user can use other feature of page.</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As server response comeback, then browser will notify you if you have register call back function. User get server response in the call back function. </a:t>
            </a:r>
          </a:p>
        </p:txBody>
      </p:sp>
    </p:spTree>
    <p:extLst>
      <p:ext uri="{BB962C8B-B14F-4D97-AF65-F5344CB8AC3E}">
        <p14:creationId xmlns:p14="http://schemas.microsoft.com/office/powerpoint/2010/main" val="4063822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Origin Policy on Ajax</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4710905"/>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b="1" dirty="0">
                <a:latin typeface="Times New Roman" panose="02020603050405020304" pitchFamily="18" charset="0"/>
                <a:cs typeface="Times New Roman" panose="02020603050405020304" pitchFamily="18" charset="0"/>
              </a:rPr>
              <a:t>HTTP Case</a:t>
            </a:r>
            <a:endParaRPr lang="nl-NL" sz="2200" dirty="0">
              <a:latin typeface="Times New Roman" panose="02020603050405020304" pitchFamily="18" charset="0"/>
              <a:cs typeface="Times New Roman" panose="02020603050405020304" pitchFamily="18" charset="0"/>
            </a:endParaRPr>
          </a:p>
          <a:p>
            <a:pPr marL="469265" lvl="1" algn="just">
              <a:spcBef>
                <a:spcPts val="1325"/>
              </a:spcBef>
              <a:tabLst>
                <a:tab pos="241935" algn="l"/>
              </a:tabLst>
            </a:pPr>
            <a:r>
              <a:rPr lang="nl-NL" sz="2200" dirty="0">
                <a:latin typeface="Times New Roman" panose="02020603050405020304" pitchFamily="18" charset="0"/>
                <a:cs typeface="Times New Roman" panose="02020603050405020304" pitchFamily="18" charset="0"/>
              </a:rPr>
              <a:t>Suppose you have active session of facebook.com. You are also using google.com. You send a request from google.com to facebook.com. The server of facebook.com will respond. The response will show you on facebook.com instead of google.com. Because http discard the page that send request to server and show response page on new window. This case has </a:t>
            </a:r>
            <a:r>
              <a:rPr lang="nl-NL" sz="2200" dirty="0">
                <a:solidFill>
                  <a:srgbClr val="FF0000"/>
                </a:solidFill>
                <a:latin typeface="Times New Roman" panose="02020603050405020304" pitchFamily="18" charset="0"/>
                <a:cs typeface="Times New Roman" panose="02020603050405020304" pitchFamily="18" charset="0"/>
              </a:rPr>
              <a:t>no vulnerability</a:t>
            </a:r>
            <a:r>
              <a:rPr lang="nl-NL" sz="2200" dirty="0">
                <a:latin typeface="Times New Roman" panose="02020603050405020304" pitchFamily="18" charset="0"/>
                <a:cs typeface="Times New Roman" panose="02020603050405020304" pitchFamily="18" charset="0"/>
              </a:rPr>
              <a:t>.</a:t>
            </a:r>
          </a:p>
          <a:p>
            <a:pPr marL="354965" indent="-342900" algn="just">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 </a:t>
            </a:r>
            <a:r>
              <a:rPr lang="nl-NL" sz="2400" b="1" dirty="0">
                <a:latin typeface="Times New Roman" panose="02020603050405020304" pitchFamily="18" charset="0"/>
                <a:cs typeface="Times New Roman" panose="02020603050405020304" pitchFamily="18" charset="0"/>
              </a:rPr>
              <a:t>Ajax Case</a:t>
            </a:r>
          </a:p>
          <a:p>
            <a:pPr marL="469265" lvl="1" algn="just">
              <a:spcBef>
                <a:spcPts val="1325"/>
              </a:spcBef>
              <a:tabLst>
                <a:tab pos="241935" algn="l"/>
              </a:tabLst>
            </a:pPr>
            <a:r>
              <a:rPr lang="nl-NL" sz="2200" dirty="0">
                <a:latin typeface="Times New Roman" panose="02020603050405020304" pitchFamily="18" charset="0"/>
                <a:cs typeface="Times New Roman" panose="02020603050405020304" pitchFamily="18" charset="0"/>
              </a:rPr>
              <a:t>Suppose you have active session of facebook.com. You are also using google.com. You send a request from google.com to facebook.com. The server of facebook.com will respond. The response will show you on google.com. </a:t>
            </a:r>
            <a:r>
              <a:rPr lang="nl-NL" sz="2200" dirty="0">
                <a:solidFill>
                  <a:srgbClr val="FF0000"/>
                </a:solidFill>
                <a:latin typeface="Times New Roman" panose="02020603050405020304" pitchFamily="18" charset="0"/>
                <a:cs typeface="Times New Roman" panose="02020603050405020304" pitchFamily="18" charset="0"/>
              </a:rPr>
              <a:t>Because ajax update same page</a:t>
            </a:r>
            <a:r>
              <a:rPr lang="nl-NL" sz="2200" dirty="0">
                <a:latin typeface="Times New Roman" panose="02020603050405020304" pitchFamily="18" charset="0"/>
                <a:cs typeface="Times New Roman" panose="02020603050405020304" pitchFamily="18" charset="0"/>
              </a:rPr>
              <a:t>. This </a:t>
            </a:r>
            <a:r>
              <a:rPr lang="nl-NL" sz="2200" dirty="0">
                <a:solidFill>
                  <a:srgbClr val="FF0000"/>
                </a:solidFill>
                <a:latin typeface="Times New Roman" panose="02020603050405020304" pitchFamily="18" charset="0"/>
                <a:cs typeface="Times New Roman" panose="02020603050405020304" pitchFamily="18" charset="0"/>
              </a:rPr>
              <a:t>case has vulnerability</a:t>
            </a:r>
            <a:r>
              <a:rPr lang="nl-NL" sz="2200" dirty="0">
                <a:latin typeface="Times New Roman" panose="02020603050405020304" pitchFamily="18" charset="0"/>
                <a:cs typeface="Times New Roman" panose="02020603050405020304" pitchFamily="18" charset="0"/>
              </a:rPr>
              <a:t>, because the data of some website is showing on another website.</a:t>
            </a:r>
          </a:p>
        </p:txBody>
      </p:sp>
    </p:spTree>
    <p:extLst>
      <p:ext uri="{BB962C8B-B14F-4D97-AF65-F5344CB8AC3E}">
        <p14:creationId xmlns:p14="http://schemas.microsoft.com/office/powerpoint/2010/main" val="33708204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Ajax Security Policy</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189574"/>
            <a:ext cx="9483634" cy="5149487"/>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In the  ajax security policy, the browser will </a:t>
            </a:r>
            <a:r>
              <a:rPr lang="nl-NL" sz="2400" dirty="0">
                <a:solidFill>
                  <a:srgbClr val="FF0000"/>
                </a:solidFill>
                <a:latin typeface="Times New Roman" panose="02020603050405020304" pitchFamily="18" charset="0"/>
                <a:cs typeface="Times New Roman" panose="02020603050405020304" pitchFamily="18" charset="0"/>
              </a:rPr>
              <a:t>block to cross origion response</a:t>
            </a:r>
            <a:r>
              <a:rPr lang="nl-NL" sz="2400" dirty="0">
                <a:latin typeface="Times New Roman" panose="02020603050405020304" pitchFamily="18" charset="0"/>
                <a:cs typeface="Times New Roman" panose="02020603050405020304" pitchFamily="18" charset="0"/>
              </a:rPr>
              <a:t>.</a:t>
            </a: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Suppose the request is send from google.com to facebook.com. The server of facebook.com will respose the request. But, browser will block the response.</a:t>
            </a: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endParaRPr lang="nl-NL" sz="2400" dirty="0">
              <a:latin typeface="Times New Roman" panose="02020603050405020304" pitchFamily="18" charset="0"/>
              <a:cs typeface="Times New Roman" panose="02020603050405020304" pitchFamily="18" charset="0"/>
            </a:endParaRPr>
          </a:p>
          <a:p>
            <a:pPr marL="354965" indent="-342900" algn="just">
              <a:lnSpc>
                <a:spcPct val="100000"/>
              </a:lnSpc>
              <a:spcBef>
                <a:spcPts val="1325"/>
              </a:spcBef>
              <a:buFont typeface="Wingdings" panose="05000000000000000000" pitchFamily="2" charset="2"/>
              <a:buChar char="v"/>
              <a:tabLst>
                <a:tab pos="241935" algn="l"/>
              </a:tabLst>
            </a:pPr>
            <a:r>
              <a:rPr lang="nl-NL" sz="2400" dirty="0">
                <a:latin typeface="Times New Roman" panose="02020603050405020304" pitchFamily="18" charset="0"/>
                <a:cs typeface="Times New Roman" panose="02020603050405020304" pitchFamily="18" charset="0"/>
              </a:rPr>
              <a:t> If facebook.com add permission to display data on other site in response header, then browser will release the response.</a:t>
            </a:r>
            <a:endParaRPr lang="nl-NL" sz="2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1003" y="2952206"/>
            <a:ext cx="5001323" cy="2529767"/>
          </a:xfrm>
          <a:prstGeom prst="rect">
            <a:avLst/>
          </a:prstGeom>
        </p:spPr>
      </p:pic>
    </p:spTree>
    <p:extLst>
      <p:ext uri="{BB962C8B-B14F-4D97-AF65-F5344CB8AC3E}">
        <p14:creationId xmlns:p14="http://schemas.microsoft.com/office/powerpoint/2010/main" val="581311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3"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Bypassing Same-Origin Policy via DNS Rebinding</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5138" y="1625810"/>
            <a:ext cx="8126818" cy="4056533"/>
          </a:xfrm>
          <a:prstGeom prst="rect">
            <a:avLst/>
          </a:prstGeom>
        </p:spPr>
      </p:pic>
    </p:spTree>
    <p:extLst>
      <p:ext uri="{BB962C8B-B14F-4D97-AF65-F5344CB8AC3E}">
        <p14:creationId xmlns:p14="http://schemas.microsoft.com/office/powerpoint/2010/main" val="36346211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1108881"/>
            <a:ext cx="10115202" cy="52017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809897" y="365760"/>
            <a:ext cx="8908869" cy="74312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Websocket</a:t>
            </a:r>
            <a:endParaRPr lang="en-GB" sz="4000" b="1" dirty="0">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bject 5"/>
          <p:cNvSpPr txBox="1"/>
          <p:nvPr/>
        </p:nvSpPr>
        <p:spPr>
          <a:xfrm>
            <a:off x="1051461" y="1490023"/>
            <a:ext cx="9483634" cy="1946046"/>
          </a:xfrm>
          <a:prstGeom prst="rect">
            <a:avLst/>
          </a:prstGeom>
        </p:spPr>
        <p:txBody>
          <a:bodyPr vert="horz" wrap="square" lIns="0" tIns="85725" rIns="0" bIns="0" rtlCol="0">
            <a:spAutoFit/>
          </a:bodyPr>
          <a:lstStyle/>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The websocket is also used to communicate the browser with server. But the problem in http and ajax is that user has to establish connection again and again to get updated with the data from server.</a:t>
            </a:r>
          </a:p>
          <a:p>
            <a:pPr marL="354965" indent="-342900" algn="just">
              <a:lnSpc>
                <a:spcPct val="100000"/>
              </a:lnSpc>
              <a:spcBef>
                <a:spcPts val="1325"/>
              </a:spcBef>
              <a:buFont typeface="Wingdings" panose="05000000000000000000" pitchFamily="2" charset="2"/>
              <a:buChar char="v"/>
              <a:tabLst>
                <a:tab pos="241935" algn="l"/>
              </a:tabLst>
            </a:pPr>
            <a:r>
              <a:rPr lang="nl-NL" sz="2200" dirty="0">
                <a:latin typeface="Times New Roman" panose="02020603050405020304" pitchFamily="18" charset="0"/>
                <a:cs typeface="Times New Roman" panose="02020603050405020304" pitchFamily="18" charset="0"/>
              </a:rPr>
              <a:t>But in the websocket, one connection is established. The server automatically send updated data to client.  </a:t>
            </a:r>
          </a:p>
        </p:txBody>
      </p:sp>
    </p:spTree>
    <p:extLst>
      <p:ext uri="{BB962C8B-B14F-4D97-AF65-F5344CB8AC3E}">
        <p14:creationId xmlns:p14="http://schemas.microsoft.com/office/powerpoint/2010/main" val="397161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735677" y="654149"/>
            <a:ext cx="10115202" cy="5656522"/>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864312" y="1367926"/>
            <a:ext cx="8181920" cy="3804966"/>
          </a:xfrm>
          <a:prstGeom prst="rect">
            <a:avLst/>
          </a:prstGeom>
        </p:spPr>
      </p:pic>
    </p:spTree>
    <p:extLst>
      <p:ext uri="{BB962C8B-B14F-4D97-AF65-F5344CB8AC3E}">
        <p14:creationId xmlns:p14="http://schemas.microsoft.com/office/powerpoint/2010/main" val="2915633798"/>
      </p:ext>
    </p:extLst>
  </p:cSld>
  <p:clrMapOvr>
    <a:masterClrMapping/>
  </p:clrMapOvr>
</p:sld>
</file>

<file path=ppt/theme/theme1.xml><?xml version="1.0" encoding="utf-8"?>
<a:theme xmlns:a="http://schemas.openxmlformats.org/drawingml/2006/main" name="Lecture 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 01</Template>
  <TotalTime>2175</TotalTime>
  <Words>2627</Words>
  <Application>Microsoft Office PowerPoint</Application>
  <PresentationFormat>Widescreen</PresentationFormat>
  <Paragraphs>341</Paragraphs>
  <Slides>50</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Times New Roman</vt:lpstr>
      <vt:lpstr>Wingdings</vt:lpstr>
      <vt:lpstr>Lecture 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HaMza</dc:creator>
  <cp:lastModifiedBy>Umar</cp:lastModifiedBy>
  <cp:revision>169</cp:revision>
  <dcterms:created xsi:type="dcterms:W3CDTF">2021-10-20T10:54:54Z</dcterms:created>
  <dcterms:modified xsi:type="dcterms:W3CDTF">2025-09-08T06:26:07Z</dcterms:modified>
</cp:coreProperties>
</file>