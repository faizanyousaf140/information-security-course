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notesSlides/notesSlide2.xml" ContentType="application/vnd.openxmlformats-officedocument.presentationml.notesSlide+xml"/>
  <Override PartName="/ppt/theme/themeOverride5.xml" ContentType="application/vnd.openxmlformats-officedocument.themeOverride+xml"/>
  <Override PartName="/ppt/theme/themeOverride6.xml" ContentType="application/vnd.openxmlformats-officedocument.themeOverr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69" r:id="rId1"/>
  </p:sldMasterIdLst>
  <p:notesMasterIdLst>
    <p:notesMasterId r:id="rId34"/>
  </p:notesMasterIdLst>
  <p:handoutMasterIdLst>
    <p:handoutMasterId r:id="rId35"/>
  </p:handoutMasterIdLst>
  <p:sldIdLst>
    <p:sldId id="258" r:id="rId2"/>
    <p:sldId id="260" r:id="rId3"/>
    <p:sldId id="673" r:id="rId4"/>
    <p:sldId id="757" r:id="rId5"/>
    <p:sldId id="746" r:id="rId6"/>
    <p:sldId id="758" r:id="rId7"/>
    <p:sldId id="759" r:id="rId8"/>
    <p:sldId id="761" r:id="rId9"/>
    <p:sldId id="762" r:id="rId10"/>
    <p:sldId id="741" r:id="rId11"/>
    <p:sldId id="764" r:id="rId12"/>
    <p:sldId id="763" r:id="rId13"/>
    <p:sldId id="765" r:id="rId14"/>
    <p:sldId id="766" r:id="rId15"/>
    <p:sldId id="747" r:id="rId16"/>
    <p:sldId id="767" r:id="rId17"/>
    <p:sldId id="768" r:id="rId18"/>
    <p:sldId id="753" r:id="rId19"/>
    <p:sldId id="745" r:id="rId20"/>
    <p:sldId id="744" r:id="rId21"/>
    <p:sldId id="749" r:id="rId22"/>
    <p:sldId id="750" r:id="rId23"/>
    <p:sldId id="752" r:id="rId24"/>
    <p:sldId id="266" r:id="rId25"/>
    <p:sldId id="773" r:id="rId26"/>
    <p:sldId id="770" r:id="rId27"/>
    <p:sldId id="771" r:id="rId28"/>
    <p:sldId id="261" r:id="rId29"/>
    <p:sldId id="755" r:id="rId30"/>
    <p:sldId id="756" r:id="rId31"/>
    <p:sldId id="769" r:id="rId32"/>
    <p:sldId id="317" r:id="rId33"/>
  </p:sldIdLst>
  <p:sldSz cx="12192000" cy="6858000"/>
  <p:notesSz cx="7053263" cy="93091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i Hamza" initials="AH" lastIdx="3" clrIdx="0">
    <p:extLst>
      <p:ext uri="{19B8F6BF-5375-455C-9EA6-DF929625EA0E}">
        <p15:presenceInfo xmlns:p15="http://schemas.microsoft.com/office/powerpoint/2012/main" userId="S::f179026@cfd.nu.edu.pk::fc9d8215-e733-4df3-b2ca-e28ecc6820c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956" autoAdjust="0"/>
    <p:restoredTop sz="88031" autoAdjust="0"/>
  </p:normalViewPr>
  <p:slideViewPr>
    <p:cSldViewPr snapToGrid="0">
      <p:cViewPr varScale="1">
        <p:scale>
          <a:sx n="75" d="100"/>
          <a:sy n="75" d="100"/>
        </p:scale>
        <p:origin x="1326"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sz="quarter" idx="1"/>
          </p:nvPr>
        </p:nvSpPr>
        <p:spPr>
          <a:xfrm>
            <a:off x="3995217" y="0"/>
            <a:ext cx="3056414" cy="467072"/>
          </a:xfrm>
          <a:prstGeom prst="rect">
            <a:avLst/>
          </a:prstGeom>
        </p:spPr>
        <p:txBody>
          <a:bodyPr vert="horz" lIns="93497" tIns="46749" rIns="93497" bIns="46749" rtlCol="0"/>
          <a:lstStyle>
            <a:lvl1pPr algn="r">
              <a:defRPr sz="1200"/>
            </a:lvl1pPr>
          </a:lstStyle>
          <a:p>
            <a:fld id="{14960B17-FD8B-4764-8C28-99523272243B}" type="datetimeFigureOut">
              <a:rPr lang="en-US" smtClean="0"/>
              <a:t>9/23/2021</a:t>
            </a:fld>
            <a:endParaRPr lang="en-US"/>
          </a:p>
        </p:txBody>
      </p:sp>
      <p:sp>
        <p:nvSpPr>
          <p:cNvPr id="4" name="Footer Placeholder 3"/>
          <p:cNvSpPr>
            <a:spLocks noGrp="1"/>
          </p:cNvSpPr>
          <p:nvPr>
            <p:ph type="ftr" sz="quarter" idx="2"/>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5" name="Slide Number Placeholder 4"/>
          <p:cNvSpPr>
            <a:spLocks noGrp="1"/>
          </p:cNvSpPr>
          <p:nvPr>
            <p:ph type="sldNum" sz="quarter" idx="3"/>
          </p:nvPr>
        </p:nvSpPr>
        <p:spPr>
          <a:xfrm>
            <a:off x="3995217" y="8842030"/>
            <a:ext cx="3056414" cy="467071"/>
          </a:xfrm>
          <a:prstGeom prst="rect">
            <a:avLst/>
          </a:prstGeom>
        </p:spPr>
        <p:txBody>
          <a:bodyPr vert="horz" lIns="93497" tIns="46749" rIns="93497" bIns="46749" rtlCol="0" anchor="b"/>
          <a:lstStyle>
            <a:lvl1pPr algn="r">
              <a:defRPr sz="1200"/>
            </a:lvl1pPr>
          </a:lstStyle>
          <a:p>
            <a:fld id="{BE3C136E-1DFE-4E9E-BE58-9DBEBA51CAC9}" type="slidenum">
              <a:rPr lang="en-US" smtClean="0"/>
              <a:t>‹#›</a:t>
            </a:fld>
            <a:endParaRPr lang="en-US"/>
          </a:p>
        </p:txBody>
      </p:sp>
    </p:spTree>
    <p:extLst>
      <p:ext uri="{BB962C8B-B14F-4D97-AF65-F5344CB8AC3E}">
        <p14:creationId xmlns:p14="http://schemas.microsoft.com/office/powerpoint/2010/main" val="161495464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7072"/>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7072"/>
          </a:xfrm>
          <a:prstGeom prst="rect">
            <a:avLst/>
          </a:prstGeom>
        </p:spPr>
        <p:txBody>
          <a:bodyPr vert="horz" lIns="93497" tIns="46749" rIns="93497" bIns="46749" rtlCol="0"/>
          <a:lstStyle>
            <a:lvl1pPr algn="r">
              <a:defRPr sz="1200"/>
            </a:lvl1pPr>
          </a:lstStyle>
          <a:p>
            <a:fld id="{705A37F7-EBDD-4C50-A4DA-D2D30EABC4EE}" type="datetimeFigureOut">
              <a:rPr lang="en-US" smtClean="0"/>
              <a:t>9/23/2021</a:t>
            </a:fld>
            <a:endParaRPr lang="en-US"/>
          </a:p>
        </p:txBody>
      </p:sp>
      <p:sp>
        <p:nvSpPr>
          <p:cNvPr id="4" name="Slide Image Placeholder 3"/>
          <p:cNvSpPr>
            <a:spLocks noGrp="1" noRot="1" noChangeAspect="1"/>
          </p:cNvSpPr>
          <p:nvPr>
            <p:ph type="sldImg" idx="2"/>
          </p:nvPr>
        </p:nvSpPr>
        <p:spPr>
          <a:xfrm>
            <a:off x="733425" y="1163638"/>
            <a:ext cx="5586413" cy="3141662"/>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80004"/>
            <a:ext cx="5642610" cy="3665458"/>
          </a:xfrm>
          <a:prstGeom prst="rect">
            <a:avLst/>
          </a:prstGeom>
        </p:spPr>
        <p:txBody>
          <a:bodyPr vert="horz" lIns="93497" tIns="46749" rIns="93497" bIns="4674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42030"/>
            <a:ext cx="3056414" cy="467071"/>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30"/>
            <a:ext cx="3056414" cy="467071"/>
          </a:xfrm>
          <a:prstGeom prst="rect">
            <a:avLst/>
          </a:prstGeom>
        </p:spPr>
        <p:txBody>
          <a:bodyPr vert="horz" lIns="93497" tIns="46749" rIns="93497" bIns="46749" rtlCol="0" anchor="b"/>
          <a:lstStyle>
            <a:lvl1pPr algn="r">
              <a:defRPr sz="1200"/>
            </a:lvl1pPr>
          </a:lstStyle>
          <a:p>
            <a:fld id="{9E103808-D7BC-4AB5-B62E-2F3F4474032F}" type="slidenum">
              <a:rPr lang="en-US" smtClean="0"/>
              <a:t>‹#›</a:t>
            </a:fld>
            <a:endParaRPr lang="en-US"/>
          </a:p>
        </p:txBody>
      </p:sp>
    </p:spTree>
    <p:extLst>
      <p:ext uri="{BB962C8B-B14F-4D97-AF65-F5344CB8AC3E}">
        <p14:creationId xmlns:p14="http://schemas.microsoft.com/office/powerpoint/2010/main" val="2285555338"/>
      </p:ext>
    </p:extLst>
  </p:cSld>
  <p:clrMap bg1="lt1" tx1="dk1" bg2="lt2" tx2="dk2" accent1="accent1" accent2="accent2" accent3="accent3" accent4="accent4" accent5="accent5" accent6="accent6" hlink="hlink" folHlink="folHlink"/>
  <p:hf hd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Intrusion Detection System (IDS)</a:t>
            </a:r>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25</a:t>
            </a:fld>
            <a:endParaRPr lang="en-US"/>
          </a:p>
        </p:txBody>
      </p:sp>
    </p:spTree>
    <p:extLst>
      <p:ext uri="{BB962C8B-B14F-4D97-AF65-F5344CB8AC3E}">
        <p14:creationId xmlns:p14="http://schemas.microsoft.com/office/powerpoint/2010/main" val="249380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t>Dissecting (Dividing)</a:t>
            </a:r>
            <a:endParaRPr lang="en-US" dirty="0"/>
          </a:p>
        </p:txBody>
      </p:sp>
      <p:sp>
        <p:nvSpPr>
          <p:cNvPr id="4" name="Footer Placeholder 3"/>
          <p:cNvSpPr>
            <a:spLocks noGrp="1"/>
          </p:cNvSpPr>
          <p:nvPr>
            <p:ph type="ftr" sz="quarter" idx="4"/>
          </p:nvPr>
        </p:nvSpPr>
        <p:spPr/>
        <p:txBody>
          <a:bodyPr/>
          <a:lstStyle/>
          <a:p>
            <a:endParaRPr lang="en-US"/>
          </a:p>
        </p:txBody>
      </p:sp>
      <p:sp>
        <p:nvSpPr>
          <p:cNvPr id="5" name="Slide Number Placeholder 4"/>
          <p:cNvSpPr>
            <a:spLocks noGrp="1"/>
          </p:cNvSpPr>
          <p:nvPr>
            <p:ph type="sldNum" sz="quarter" idx="5"/>
          </p:nvPr>
        </p:nvSpPr>
        <p:spPr/>
        <p:txBody>
          <a:bodyPr/>
          <a:lstStyle/>
          <a:p>
            <a:fld id="{9E103808-D7BC-4AB5-B62E-2F3F4474032F}" type="slidenum">
              <a:rPr lang="en-US" smtClean="0"/>
              <a:t>27</a:t>
            </a:fld>
            <a:endParaRPr lang="en-US"/>
          </a:p>
        </p:txBody>
      </p:sp>
    </p:spTree>
    <p:extLst>
      <p:ext uri="{BB962C8B-B14F-4D97-AF65-F5344CB8AC3E}">
        <p14:creationId xmlns:p14="http://schemas.microsoft.com/office/powerpoint/2010/main" val="9249605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2B6F35-1BDD-4C97-AB1B-0EF3FCD6E43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27947696-76E0-4A7D-AAFD-A0DD3F9BE44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0564AE90-3DAE-4874-9530-52E8010FEA34}"/>
              </a:ext>
            </a:extLst>
          </p:cNvPr>
          <p:cNvSpPr>
            <a:spLocks noGrp="1"/>
          </p:cNvSpPr>
          <p:nvPr>
            <p:ph type="dt" sz="half" idx="10"/>
          </p:nvPr>
        </p:nvSpPr>
        <p:spPr/>
        <p:txBody>
          <a:bodyPr/>
          <a:lstStyle/>
          <a:p>
            <a:fld id="{1D90246C-6510-4698-BE5B-78345F23A6B1}" type="datetime1">
              <a:rPr lang="en-US" smtClean="0"/>
              <a:t>9/23/2021</a:t>
            </a:fld>
            <a:endParaRPr lang="en-US"/>
          </a:p>
        </p:txBody>
      </p:sp>
      <p:sp>
        <p:nvSpPr>
          <p:cNvPr id="5" name="Footer Placeholder 4">
            <a:extLst>
              <a:ext uri="{FF2B5EF4-FFF2-40B4-BE49-F238E27FC236}">
                <a16:creationId xmlns:a16="http://schemas.microsoft.com/office/drawing/2014/main" id="{988D150A-9FAA-4828-A677-51AFEF24B353}"/>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D3486D3E-B678-4E98-9CAB-2DA8A3D712BA}"/>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12460468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2CBAD-3D0B-4143-9F22-FA90EA938AA6}"/>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EC9CDE9C-1287-4D29-9B55-74AC74377D7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B416A329-A0DE-4C1F-9375-03747524468B}"/>
              </a:ext>
            </a:extLst>
          </p:cNvPr>
          <p:cNvSpPr>
            <a:spLocks noGrp="1"/>
          </p:cNvSpPr>
          <p:nvPr>
            <p:ph type="dt" sz="half" idx="10"/>
          </p:nvPr>
        </p:nvSpPr>
        <p:spPr/>
        <p:txBody>
          <a:bodyPr/>
          <a:lstStyle/>
          <a:p>
            <a:fld id="{5EF7DFAF-66BC-4E20-9B1D-DC0448E5323F}" type="datetime1">
              <a:rPr lang="en-US" smtClean="0"/>
              <a:t>9/23/2021</a:t>
            </a:fld>
            <a:endParaRPr lang="en-US"/>
          </a:p>
        </p:txBody>
      </p:sp>
      <p:sp>
        <p:nvSpPr>
          <p:cNvPr id="5" name="Footer Placeholder 4">
            <a:extLst>
              <a:ext uri="{FF2B5EF4-FFF2-40B4-BE49-F238E27FC236}">
                <a16:creationId xmlns:a16="http://schemas.microsoft.com/office/drawing/2014/main" id="{0FF9C9A8-FD46-4087-B413-AD97FC50AE22}"/>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EE4D4FC3-2CF7-4015-9D3D-3207E7797D2D}"/>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7193189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A4D9C-53F3-4A72-BE30-B6CF7FF7DB1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D4C5710C-DCE5-4A4B-88FC-2B7596F04BC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DDE503A-C05D-4150-BD6B-219A063F3EBD}"/>
              </a:ext>
            </a:extLst>
          </p:cNvPr>
          <p:cNvSpPr>
            <a:spLocks noGrp="1"/>
          </p:cNvSpPr>
          <p:nvPr>
            <p:ph type="dt" sz="half" idx="10"/>
          </p:nvPr>
        </p:nvSpPr>
        <p:spPr/>
        <p:txBody>
          <a:bodyPr/>
          <a:lstStyle/>
          <a:p>
            <a:fld id="{12D4DF65-B5CB-4C2A-9DAF-8C83FF1E3012}" type="datetime1">
              <a:rPr lang="en-US" smtClean="0"/>
              <a:t>9/23/2021</a:t>
            </a:fld>
            <a:endParaRPr lang="en-US"/>
          </a:p>
        </p:txBody>
      </p:sp>
      <p:sp>
        <p:nvSpPr>
          <p:cNvPr id="5" name="Footer Placeholder 4">
            <a:extLst>
              <a:ext uri="{FF2B5EF4-FFF2-40B4-BE49-F238E27FC236}">
                <a16:creationId xmlns:a16="http://schemas.microsoft.com/office/drawing/2014/main" id="{B13D3F93-B099-4DDE-BD8C-B20714AF3555}"/>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5CC7ECDD-92DF-4EE4-ABCC-7F12BEC46EA8}"/>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591330884"/>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CD001-769F-4BA5-A19F-7FAFE7419827}"/>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329A9AF7-6483-42F0-8F35-574519D093EB}"/>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544A1564-74CB-4E17-9893-B2015FF56BEE}"/>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A65936C1-0B68-40E0-860D-7865B35D1CF9}"/>
              </a:ext>
            </a:extLst>
          </p:cNvPr>
          <p:cNvSpPr>
            <a:spLocks noGrp="1"/>
          </p:cNvSpPr>
          <p:nvPr>
            <p:ph type="dt" sz="half" idx="10"/>
          </p:nvPr>
        </p:nvSpPr>
        <p:spPr/>
        <p:txBody>
          <a:bodyPr/>
          <a:lstStyle/>
          <a:p>
            <a:fld id="{56B42799-02D2-4A3E-BED6-7F1E5E9A51D9}" type="datetime1">
              <a:rPr lang="en-US" smtClean="0"/>
              <a:t>9/23/2021</a:t>
            </a:fld>
            <a:endParaRPr lang="en-US"/>
          </a:p>
        </p:txBody>
      </p:sp>
      <p:sp>
        <p:nvSpPr>
          <p:cNvPr id="6" name="Footer Placeholder 5">
            <a:extLst>
              <a:ext uri="{FF2B5EF4-FFF2-40B4-BE49-F238E27FC236}">
                <a16:creationId xmlns:a16="http://schemas.microsoft.com/office/drawing/2014/main" id="{E1518151-364F-4458-8674-792144FFFAC9}"/>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8628F02-F967-4106-A0CC-B4B85030BAD5}"/>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7531053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662CDA-1423-4123-A20C-87A750BCEDD9}"/>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F181C7AD-81AF-4517-BCA3-E981E39E8E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550C1FD-785A-494B-8266-BC643FB6741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EBC1B3AF-BC32-4746-B151-0B007F0AF1B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7CA4EABE-E223-4C00-93C6-93A57D2CD17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DA0ECE82-C73C-41C3-B8AB-264E828D7C64}"/>
              </a:ext>
            </a:extLst>
          </p:cNvPr>
          <p:cNvSpPr>
            <a:spLocks noGrp="1"/>
          </p:cNvSpPr>
          <p:nvPr>
            <p:ph type="dt" sz="half" idx="10"/>
          </p:nvPr>
        </p:nvSpPr>
        <p:spPr/>
        <p:txBody>
          <a:bodyPr/>
          <a:lstStyle/>
          <a:p>
            <a:fld id="{41CB22E7-A387-44A6-BEB9-C59A7D60876D}" type="datetime1">
              <a:rPr lang="en-US" smtClean="0"/>
              <a:t>9/23/2021</a:t>
            </a:fld>
            <a:endParaRPr lang="en-US"/>
          </a:p>
        </p:txBody>
      </p:sp>
      <p:sp>
        <p:nvSpPr>
          <p:cNvPr id="8" name="Footer Placeholder 7">
            <a:extLst>
              <a:ext uri="{FF2B5EF4-FFF2-40B4-BE49-F238E27FC236}">
                <a16:creationId xmlns:a16="http://schemas.microsoft.com/office/drawing/2014/main" id="{08716326-244A-4808-B1E3-F1FDC9C10943}"/>
              </a:ext>
            </a:extLst>
          </p:cNvPr>
          <p:cNvSpPr>
            <a:spLocks noGrp="1"/>
          </p:cNvSpPr>
          <p:nvPr>
            <p:ph type="ftr" sz="quarter" idx="11"/>
          </p:nvPr>
        </p:nvSpPr>
        <p:spPr/>
        <p:txBody>
          <a:bodyPr/>
          <a:lstStyle/>
          <a:p>
            <a:r>
              <a:rPr lang="en-GB"/>
              <a:t>NATIONAL UNIVERSITY OF COMPUTER &amp; EMERGING SCIENCES</a:t>
            </a:r>
            <a:endParaRPr lang="en-US"/>
          </a:p>
        </p:txBody>
      </p:sp>
      <p:sp>
        <p:nvSpPr>
          <p:cNvPr id="9" name="Slide Number Placeholder 8">
            <a:extLst>
              <a:ext uri="{FF2B5EF4-FFF2-40B4-BE49-F238E27FC236}">
                <a16:creationId xmlns:a16="http://schemas.microsoft.com/office/drawing/2014/main" id="{CF65B595-FCF0-4FBE-9315-9E920D812597}"/>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748992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E9353-08EF-475D-97F8-BE6B46520245}"/>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165C543B-33E3-48CF-B83C-C541D6CB687E}"/>
              </a:ext>
            </a:extLst>
          </p:cNvPr>
          <p:cNvSpPr>
            <a:spLocks noGrp="1"/>
          </p:cNvSpPr>
          <p:nvPr>
            <p:ph type="dt" sz="half" idx="10"/>
          </p:nvPr>
        </p:nvSpPr>
        <p:spPr/>
        <p:txBody>
          <a:bodyPr/>
          <a:lstStyle/>
          <a:p>
            <a:fld id="{EE3DE30F-1D36-4BE0-BC06-5E83DD9BE350}" type="datetime1">
              <a:rPr lang="en-US" smtClean="0"/>
              <a:t>9/23/2021</a:t>
            </a:fld>
            <a:endParaRPr lang="en-US"/>
          </a:p>
        </p:txBody>
      </p:sp>
      <p:sp>
        <p:nvSpPr>
          <p:cNvPr id="4" name="Footer Placeholder 3">
            <a:extLst>
              <a:ext uri="{FF2B5EF4-FFF2-40B4-BE49-F238E27FC236}">
                <a16:creationId xmlns:a16="http://schemas.microsoft.com/office/drawing/2014/main" id="{2EFC0699-826F-4A8E-B326-560AD252F7BD}"/>
              </a:ext>
            </a:extLst>
          </p:cNvPr>
          <p:cNvSpPr>
            <a:spLocks noGrp="1"/>
          </p:cNvSpPr>
          <p:nvPr>
            <p:ph type="ftr" sz="quarter" idx="11"/>
          </p:nvPr>
        </p:nvSpPr>
        <p:spPr/>
        <p:txBody>
          <a:bodyPr/>
          <a:lstStyle/>
          <a:p>
            <a:r>
              <a:rPr lang="en-GB"/>
              <a:t>NATIONAL UNIVERSITY OF COMPUTER &amp; EMERGING SCIENCES</a:t>
            </a:r>
            <a:endParaRPr lang="en-US"/>
          </a:p>
        </p:txBody>
      </p:sp>
      <p:sp>
        <p:nvSpPr>
          <p:cNvPr id="5" name="Slide Number Placeholder 4">
            <a:extLst>
              <a:ext uri="{FF2B5EF4-FFF2-40B4-BE49-F238E27FC236}">
                <a16:creationId xmlns:a16="http://schemas.microsoft.com/office/drawing/2014/main" id="{5368C207-1278-4153-B420-9EF4A449472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60946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768D0D-CD9A-4D7A-A953-4B80DEFCD335}"/>
              </a:ext>
            </a:extLst>
          </p:cNvPr>
          <p:cNvSpPr>
            <a:spLocks noGrp="1"/>
          </p:cNvSpPr>
          <p:nvPr>
            <p:ph type="dt" sz="half" idx="10"/>
          </p:nvPr>
        </p:nvSpPr>
        <p:spPr/>
        <p:txBody>
          <a:bodyPr/>
          <a:lstStyle/>
          <a:p>
            <a:fld id="{ED8E4ECE-C233-447A-A174-0A57836539B8}" type="datetime1">
              <a:rPr lang="en-US" smtClean="0"/>
              <a:t>9/23/2021</a:t>
            </a:fld>
            <a:endParaRPr lang="en-US"/>
          </a:p>
        </p:txBody>
      </p:sp>
      <p:sp>
        <p:nvSpPr>
          <p:cNvPr id="3" name="Footer Placeholder 2">
            <a:extLst>
              <a:ext uri="{FF2B5EF4-FFF2-40B4-BE49-F238E27FC236}">
                <a16:creationId xmlns:a16="http://schemas.microsoft.com/office/drawing/2014/main" id="{3D9C46BD-36CF-41D8-9D61-3C0284DFABF9}"/>
              </a:ext>
            </a:extLst>
          </p:cNvPr>
          <p:cNvSpPr>
            <a:spLocks noGrp="1"/>
          </p:cNvSpPr>
          <p:nvPr>
            <p:ph type="ftr" sz="quarter" idx="11"/>
          </p:nvPr>
        </p:nvSpPr>
        <p:spPr/>
        <p:txBody>
          <a:bodyPr/>
          <a:lstStyle/>
          <a:p>
            <a:r>
              <a:rPr lang="en-GB"/>
              <a:t>NATIONAL UNIVERSITY OF COMPUTER &amp; EMERGING SCIENCES</a:t>
            </a:r>
            <a:endParaRPr lang="en-US"/>
          </a:p>
        </p:txBody>
      </p:sp>
      <p:sp>
        <p:nvSpPr>
          <p:cNvPr id="4" name="Slide Number Placeholder 3">
            <a:extLst>
              <a:ext uri="{FF2B5EF4-FFF2-40B4-BE49-F238E27FC236}">
                <a16:creationId xmlns:a16="http://schemas.microsoft.com/office/drawing/2014/main" id="{1C4CE466-759A-4047-8073-18F51B7B2941}"/>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41905033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62C7-A5DD-4E6E-AEC8-D2596C0A6AF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A7D44E32-0A99-4A52-BB43-F9B356189C1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40AF3BC2-6F12-4DBB-9471-4665FB534E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7AC92E9-B3F9-4DC5-B04D-6429BF06A0CB}"/>
              </a:ext>
            </a:extLst>
          </p:cNvPr>
          <p:cNvSpPr>
            <a:spLocks noGrp="1"/>
          </p:cNvSpPr>
          <p:nvPr>
            <p:ph type="dt" sz="half" idx="10"/>
          </p:nvPr>
        </p:nvSpPr>
        <p:spPr/>
        <p:txBody>
          <a:bodyPr/>
          <a:lstStyle/>
          <a:p>
            <a:fld id="{40B55E21-7CF7-4D44-8F02-045551EED843}" type="datetime1">
              <a:rPr lang="en-US" smtClean="0"/>
              <a:t>9/23/2021</a:t>
            </a:fld>
            <a:endParaRPr lang="en-US"/>
          </a:p>
        </p:txBody>
      </p:sp>
      <p:sp>
        <p:nvSpPr>
          <p:cNvPr id="6" name="Footer Placeholder 5">
            <a:extLst>
              <a:ext uri="{FF2B5EF4-FFF2-40B4-BE49-F238E27FC236}">
                <a16:creationId xmlns:a16="http://schemas.microsoft.com/office/drawing/2014/main" id="{96C3CCC0-44D6-44E7-B3E2-F9508F2EEE9A}"/>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66CE6695-AA5E-44D1-9985-4427DD580AB9}"/>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996297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8D7B4-D7B9-4CD5-8BBF-261B67DBFE7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8F94BA48-7AB5-49D9-81E8-DFFBE9AB61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PK"/>
          </a:p>
        </p:txBody>
      </p:sp>
      <p:sp>
        <p:nvSpPr>
          <p:cNvPr id="4" name="Text Placeholder 3">
            <a:extLst>
              <a:ext uri="{FF2B5EF4-FFF2-40B4-BE49-F238E27FC236}">
                <a16:creationId xmlns:a16="http://schemas.microsoft.com/office/drawing/2014/main" id="{713C2DDF-C490-4A6F-A58E-8725DD2728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F9F83A0D-2DAD-49E9-B1EE-9DF052C15A15}"/>
              </a:ext>
            </a:extLst>
          </p:cNvPr>
          <p:cNvSpPr>
            <a:spLocks noGrp="1"/>
          </p:cNvSpPr>
          <p:nvPr>
            <p:ph type="dt" sz="half" idx="10"/>
          </p:nvPr>
        </p:nvSpPr>
        <p:spPr/>
        <p:txBody>
          <a:bodyPr/>
          <a:lstStyle/>
          <a:p>
            <a:fld id="{27F60839-95EF-4AEF-A139-C8CD2D92FE09}" type="datetime1">
              <a:rPr lang="en-US" smtClean="0"/>
              <a:t>9/23/2021</a:t>
            </a:fld>
            <a:endParaRPr lang="en-US"/>
          </a:p>
        </p:txBody>
      </p:sp>
      <p:sp>
        <p:nvSpPr>
          <p:cNvPr id="6" name="Footer Placeholder 5">
            <a:extLst>
              <a:ext uri="{FF2B5EF4-FFF2-40B4-BE49-F238E27FC236}">
                <a16:creationId xmlns:a16="http://schemas.microsoft.com/office/drawing/2014/main" id="{2209279F-FA38-482C-A481-C161B9DC3604}"/>
              </a:ext>
            </a:extLst>
          </p:cNvPr>
          <p:cNvSpPr>
            <a:spLocks noGrp="1"/>
          </p:cNvSpPr>
          <p:nvPr>
            <p:ph type="ftr" sz="quarter" idx="11"/>
          </p:nvPr>
        </p:nvSpPr>
        <p:spPr/>
        <p:txBody>
          <a:bodyPr/>
          <a:lstStyle/>
          <a:p>
            <a:r>
              <a:rPr lang="en-GB"/>
              <a:t>NATIONAL UNIVERSITY OF COMPUTER &amp; EMERGING SCIENCES</a:t>
            </a:r>
            <a:endParaRPr lang="en-US"/>
          </a:p>
        </p:txBody>
      </p:sp>
      <p:sp>
        <p:nvSpPr>
          <p:cNvPr id="7" name="Slide Number Placeholder 6">
            <a:extLst>
              <a:ext uri="{FF2B5EF4-FFF2-40B4-BE49-F238E27FC236}">
                <a16:creationId xmlns:a16="http://schemas.microsoft.com/office/drawing/2014/main" id="{D428492A-027C-44E9-8D07-DE52AB2CBA13}"/>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2698429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15B1B3-8AAA-40ED-9E60-009698E2ECC0}"/>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A1EA64B8-4914-4368-9D4C-2DC37C25DC3C}"/>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054F7E6B-9FD8-44E5-9EB9-16C15B413221}"/>
              </a:ext>
            </a:extLst>
          </p:cNvPr>
          <p:cNvSpPr>
            <a:spLocks noGrp="1"/>
          </p:cNvSpPr>
          <p:nvPr>
            <p:ph type="dt" sz="half" idx="10"/>
          </p:nvPr>
        </p:nvSpPr>
        <p:spPr/>
        <p:txBody>
          <a:bodyPr/>
          <a:lstStyle/>
          <a:p>
            <a:fld id="{15EAA120-004F-44F7-AA80-A536C410B118}" type="datetime1">
              <a:rPr lang="en-US" smtClean="0"/>
              <a:t>9/23/2021</a:t>
            </a:fld>
            <a:endParaRPr lang="en-US"/>
          </a:p>
        </p:txBody>
      </p:sp>
      <p:sp>
        <p:nvSpPr>
          <p:cNvPr id="5" name="Footer Placeholder 4">
            <a:extLst>
              <a:ext uri="{FF2B5EF4-FFF2-40B4-BE49-F238E27FC236}">
                <a16:creationId xmlns:a16="http://schemas.microsoft.com/office/drawing/2014/main" id="{BB74B6C4-C406-42D6-87B7-00D9D10E74A6}"/>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6E0E5894-C90C-431F-B702-4D6611A1E6D0}"/>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33892902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951357-1906-49D4-8444-311DD8EBA0F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9E6B0759-AC21-48C2-9875-B1BA606A605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429DD895-74B7-4197-8E32-1C0EEA0F105A}"/>
              </a:ext>
            </a:extLst>
          </p:cNvPr>
          <p:cNvSpPr>
            <a:spLocks noGrp="1"/>
          </p:cNvSpPr>
          <p:nvPr>
            <p:ph type="dt" sz="half" idx="10"/>
          </p:nvPr>
        </p:nvSpPr>
        <p:spPr/>
        <p:txBody>
          <a:bodyPr/>
          <a:lstStyle/>
          <a:p>
            <a:fld id="{1DADFDAB-C4D1-4AEF-837D-F9115D5FE1B7}" type="datetime1">
              <a:rPr lang="en-US" smtClean="0"/>
              <a:t>9/23/2021</a:t>
            </a:fld>
            <a:endParaRPr lang="en-US"/>
          </a:p>
        </p:txBody>
      </p:sp>
      <p:sp>
        <p:nvSpPr>
          <p:cNvPr id="5" name="Footer Placeholder 4">
            <a:extLst>
              <a:ext uri="{FF2B5EF4-FFF2-40B4-BE49-F238E27FC236}">
                <a16:creationId xmlns:a16="http://schemas.microsoft.com/office/drawing/2014/main" id="{6D5364BF-7EC4-4BC8-8DE0-0AA8186F123B}"/>
              </a:ext>
            </a:extLst>
          </p:cNvPr>
          <p:cNvSpPr>
            <a:spLocks noGrp="1"/>
          </p:cNvSpPr>
          <p:nvPr>
            <p:ph type="ftr" sz="quarter" idx="11"/>
          </p:nvPr>
        </p:nvSpPr>
        <p:spPr/>
        <p:txBody>
          <a:body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B088166F-7663-4892-937D-7D4BBBAAD18C}"/>
              </a:ext>
            </a:extLst>
          </p:cNvPr>
          <p:cNvSpPr>
            <a:spLocks noGrp="1"/>
          </p:cNvSpPr>
          <p:nvPr>
            <p:ph type="sldNum" sz="quarter" idx="12"/>
          </p:nvPr>
        </p:nvSpPr>
        <p:spPr/>
        <p:txBody>
          <a:bodyPr/>
          <a:lstStyle/>
          <a:p>
            <a:fld id="{13C51ED2-AC48-45BF-9843-B46461D80413}" type="slidenum">
              <a:rPr lang="en-US" smtClean="0"/>
              <a:t>‹#›</a:t>
            </a:fld>
            <a:endParaRPr lang="en-US"/>
          </a:p>
        </p:txBody>
      </p:sp>
    </p:spTree>
    <p:extLst>
      <p:ext uri="{BB962C8B-B14F-4D97-AF65-F5344CB8AC3E}">
        <p14:creationId xmlns:p14="http://schemas.microsoft.com/office/powerpoint/2010/main" val="16675193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496B69C-8C9A-4525-B3FF-650112E119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AEA5E67D-B9E8-4E04-989F-BD8B8B97BD9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19F7E2E-A1D1-4245-BA97-6E5FEB3FED2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BB93555-EC39-4B3A-97B8-5F3BB501DD6F}" type="datetime1">
              <a:rPr lang="en-US" smtClean="0"/>
              <a:t>9/23/2021</a:t>
            </a:fld>
            <a:endParaRPr lang="en-US"/>
          </a:p>
        </p:txBody>
      </p:sp>
      <p:sp>
        <p:nvSpPr>
          <p:cNvPr id="5" name="Footer Placeholder 4">
            <a:extLst>
              <a:ext uri="{FF2B5EF4-FFF2-40B4-BE49-F238E27FC236}">
                <a16:creationId xmlns:a16="http://schemas.microsoft.com/office/drawing/2014/main" id="{8FBF56F8-8C74-4301-8A02-2373AA653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GB"/>
              <a:t>NATIONAL UNIVERSITY OF COMPUTER &amp; EMERGING SCIENCES</a:t>
            </a:r>
            <a:endParaRPr lang="en-US"/>
          </a:p>
        </p:txBody>
      </p:sp>
      <p:sp>
        <p:nvSpPr>
          <p:cNvPr id="6" name="Slide Number Placeholder 5">
            <a:extLst>
              <a:ext uri="{FF2B5EF4-FFF2-40B4-BE49-F238E27FC236}">
                <a16:creationId xmlns:a16="http://schemas.microsoft.com/office/drawing/2014/main" id="{A9A07F5B-BED3-4B88-9FD6-1C81D123A7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C51ED2-AC48-45BF-9843-B46461D80413}" type="slidenum">
              <a:rPr lang="en-US" smtClean="0"/>
              <a:t>‹#›</a:t>
            </a:fld>
            <a:endParaRPr lang="en-US"/>
          </a:p>
        </p:txBody>
      </p:sp>
    </p:spTree>
    <p:extLst>
      <p:ext uri="{BB962C8B-B14F-4D97-AF65-F5344CB8AC3E}">
        <p14:creationId xmlns:p14="http://schemas.microsoft.com/office/powerpoint/2010/main" val="3905686297"/>
      </p:ext>
    </p:extLst>
  </p:cSld>
  <p:clrMap bg1="lt1" tx1="dk1" bg2="lt2" tx2="dk2" accent1="accent1" accent2="accent2" accent3="accent3" accent4="accent4" accent5="accent5" accent6="accent6" hlink="hlink" folHlink="folHlink"/>
  <p:sldLayoutIdLst>
    <p:sldLayoutId id="2147484170" r:id="rId1"/>
    <p:sldLayoutId id="2147484171" r:id="rId2"/>
    <p:sldLayoutId id="2147484172" r:id="rId3"/>
    <p:sldLayoutId id="2147484173" r:id="rId4"/>
    <p:sldLayoutId id="2147484174" r:id="rId5"/>
    <p:sldLayoutId id="2147484175" r:id="rId6"/>
    <p:sldLayoutId id="2147484176" r:id="rId7"/>
    <p:sldLayoutId id="2147484177" r:id="rId8"/>
    <p:sldLayoutId id="2147484178" r:id="rId9"/>
    <p:sldLayoutId id="2147484179" r:id="rId10"/>
    <p:sldLayoutId id="214748418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 Id="rId5" Type="http://schemas.openxmlformats.org/officeDocument/2006/relationships/image" Target="../media/image3.pn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4.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6.jp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grpSp>
        <p:nvGrpSpPr>
          <p:cNvPr id="6" name="object 6"/>
          <p:cNvGrpSpPr/>
          <p:nvPr/>
        </p:nvGrpSpPr>
        <p:grpSpPr>
          <a:xfrm>
            <a:off x="9095231" y="2054572"/>
            <a:ext cx="1193292" cy="2462783"/>
            <a:chOff x="7571231" y="2942844"/>
            <a:chExt cx="1193292" cy="2462783"/>
          </a:xfrm>
        </p:grpSpPr>
        <p:sp>
          <p:nvSpPr>
            <p:cNvPr id="7" name="object 7"/>
            <p:cNvSpPr/>
            <p:nvPr/>
          </p:nvSpPr>
          <p:spPr>
            <a:xfrm>
              <a:off x="7571231" y="2942844"/>
              <a:ext cx="1193292" cy="2462783"/>
            </a:xfrm>
            <a:prstGeom prst="rect">
              <a:avLst/>
            </a:prstGeom>
            <a:blipFill>
              <a:blip r:embed="rId2" cstate="print"/>
              <a:stretch>
                <a:fillRect/>
              </a:stretch>
            </a:blip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9" name="object 9"/>
            <p:cNvSpPr/>
            <p:nvPr/>
          </p:nvSpPr>
          <p:spPr>
            <a:xfrm>
              <a:off x="7712074" y="3136773"/>
              <a:ext cx="911225" cy="2075180"/>
            </a:xfrm>
            <a:custGeom>
              <a:avLst/>
              <a:gdLst/>
              <a:ahLst/>
              <a:cxnLst/>
              <a:rect l="l" t="t" r="r" b="b"/>
              <a:pathLst>
                <a:path w="911225" h="2075179">
                  <a:moveTo>
                    <a:pt x="0" y="2074926"/>
                  </a:moveTo>
                  <a:lnTo>
                    <a:pt x="911225" y="2074926"/>
                  </a:lnTo>
                  <a:lnTo>
                    <a:pt x="911225" y="0"/>
                  </a:lnTo>
                  <a:lnTo>
                    <a:pt x="0" y="0"/>
                  </a:lnTo>
                  <a:lnTo>
                    <a:pt x="0" y="2074926"/>
                  </a:lnTo>
                  <a:close/>
                </a:path>
              </a:pathLst>
            </a:custGeom>
            <a:ln w="6350">
              <a:solidFill>
                <a:srgbClr val="6B7C71"/>
              </a:solidFill>
            </a:ln>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grpSp>
        <p:nvGrpSpPr>
          <p:cNvPr id="10" name="object 10"/>
          <p:cNvGrpSpPr/>
          <p:nvPr/>
        </p:nvGrpSpPr>
        <p:grpSpPr>
          <a:xfrm>
            <a:off x="1970087" y="2128412"/>
            <a:ext cx="6946900" cy="2244725"/>
            <a:chOff x="446087" y="3055873"/>
            <a:chExt cx="6946900" cy="2244725"/>
          </a:xfrm>
        </p:grpSpPr>
        <p:sp>
          <p:nvSpPr>
            <p:cNvPr id="11" name="object 11"/>
            <p:cNvSpPr/>
            <p:nvPr/>
          </p:nvSpPr>
          <p:spPr>
            <a:xfrm>
              <a:off x="446087" y="3055873"/>
              <a:ext cx="6946900" cy="2244725"/>
            </a:xfrm>
            <a:custGeom>
              <a:avLst/>
              <a:gdLst/>
              <a:ahLst/>
              <a:cxnLst/>
              <a:rect l="l" t="t" r="r" b="b"/>
              <a:pathLst>
                <a:path w="6946900" h="2244725">
                  <a:moveTo>
                    <a:pt x="6946900" y="0"/>
                  </a:moveTo>
                  <a:lnTo>
                    <a:pt x="0" y="0"/>
                  </a:lnTo>
                  <a:lnTo>
                    <a:pt x="0" y="2244725"/>
                  </a:lnTo>
                  <a:lnTo>
                    <a:pt x="6946900" y="2244725"/>
                  </a:lnTo>
                  <a:lnTo>
                    <a:pt x="6946900" y="0"/>
                  </a:lnTo>
                  <a:close/>
                </a:path>
              </a:pathLst>
            </a:custGeom>
            <a:solidFill>
              <a:srgbClr val="FFFFFF"/>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sp>
          <p:nvSpPr>
            <p:cNvPr id="12" name="object 12"/>
            <p:cNvSpPr/>
            <p:nvPr/>
          </p:nvSpPr>
          <p:spPr>
            <a:xfrm>
              <a:off x="536575" y="3136899"/>
              <a:ext cx="6765925" cy="2082800"/>
            </a:xfrm>
            <a:custGeom>
              <a:avLst/>
              <a:gdLst/>
              <a:ahLst/>
              <a:cxnLst/>
              <a:rect l="l" t="t" r="r" b="b"/>
              <a:pathLst>
                <a:path w="6765925" h="2082800">
                  <a:moveTo>
                    <a:pt x="6764528" y="0"/>
                  </a:moveTo>
                  <a:lnTo>
                    <a:pt x="1422" y="0"/>
                  </a:lnTo>
                  <a:lnTo>
                    <a:pt x="0" y="1397"/>
                  </a:lnTo>
                  <a:lnTo>
                    <a:pt x="0" y="2081402"/>
                  </a:lnTo>
                  <a:lnTo>
                    <a:pt x="1422" y="2082800"/>
                  </a:lnTo>
                  <a:lnTo>
                    <a:pt x="6764528" y="2082800"/>
                  </a:lnTo>
                  <a:lnTo>
                    <a:pt x="6765925" y="2081402"/>
                  </a:lnTo>
                  <a:lnTo>
                    <a:pt x="6765925" y="2080641"/>
                  </a:lnTo>
                  <a:lnTo>
                    <a:pt x="2590" y="2080641"/>
                  </a:lnTo>
                  <a:lnTo>
                    <a:pt x="2120" y="2080260"/>
                  </a:lnTo>
                  <a:lnTo>
                    <a:pt x="2120" y="2539"/>
                  </a:lnTo>
                  <a:lnTo>
                    <a:pt x="2590" y="2159"/>
                  </a:lnTo>
                  <a:lnTo>
                    <a:pt x="6765925" y="2159"/>
                  </a:lnTo>
                  <a:lnTo>
                    <a:pt x="6765925" y="1397"/>
                  </a:lnTo>
                  <a:lnTo>
                    <a:pt x="6764528" y="0"/>
                  </a:lnTo>
                  <a:close/>
                </a:path>
                <a:path w="6765925" h="2082800">
                  <a:moveTo>
                    <a:pt x="6765925" y="2159"/>
                  </a:moveTo>
                  <a:lnTo>
                    <a:pt x="6763384" y="2159"/>
                  </a:lnTo>
                  <a:lnTo>
                    <a:pt x="6763766" y="2539"/>
                  </a:lnTo>
                  <a:lnTo>
                    <a:pt x="6763766" y="2080260"/>
                  </a:lnTo>
                  <a:lnTo>
                    <a:pt x="6763384" y="2080641"/>
                  </a:lnTo>
                  <a:lnTo>
                    <a:pt x="6765925" y="2080641"/>
                  </a:lnTo>
                  <a:lnTo>
                    <a:pt x="6765925" y="2159"/>
                  </a:lnTo>
                  <a:close/>
                </a:path>
                <a:path w="6765925" h="2082800">
                  <a:moveTo>
                    <a:pt x="6761733" y="4190"/>
                  </a:moveTo>
                  <a:lnTo>
                    <a:pt x="4229" y="4190"/>
                  </a:lnTo>
                  <a:lnTo>
                    <a:pt x="4229" y="2078608"/>
                  </a:lnTo>
                  <a:lnTo>
                    <a:pt x="6761733" y="2078608"/>
                  </a:lnTo>
                  <a:lnTo>
                    <a:pt x="6761733" y="2076450"/>
                  </a:lnTo>
                  <a:lnTo>
                    <a:pt x="6350" y="2076450"/>
                  </a:lnTo>
                  <a:lnTo>
                    <a:pt x="6350" y="6350"/>
                  </a:lnTo>
                  <a:lnTo>
                    <a:pt x="6761733" y="6350"/>
                  </a:lnTo>
                  <a:lnTo>
                    <a:pt x="6761733" y="4190"/>
                  </a:lnTo>
                  <a:close/>
                </a:path>
                <a:path w="6765925" h="2082800">
                  <a:moveTo>
                    <a:pt x="6761733" y="6350"/>
                  </a:moveTo>
                  <a:lnTo>
                    <a:pt x="6759575" y="6350"/>
                  </a:lnTo>
                  <a:lnTo>
                    <a:pt x="6759575" y="2076450"/>
                  </a:lnTo>
                  <a:lnTo>
                    <a:pt x="6761733" y="2076450"/>
                  </a:lnTo>
                  <a:lnTo>
                    <a:pt x="6761733" y="6350"/>
                  </a:lnTo>
                  <a:close/>
                </a:path>
              </a:pathLst>
            </a:custGeom>
            <a:solidFill>
              <a:srgbClr val="6B7C71"/>
            </a:solidFill>
          </p:spPr>
          <p:txBody>
            <a:bodyPr wrap="square" lIns="0" tIns="0" rIns="0" bIns="0" rtlCol="0"/>
            <a:lstStyle/>
            <a:p>
              <a:endParaRPr b="1">
                <a:latin typeface="Times New Roman" panose="02020603050405020304" pitchFamily="18" charset="0"/>
                <a:cs typeface="Times New Roman" panose="02020603050405020304" pitchFamily="18" charset="0"/>
              </a:endParaRPr>
            </a:p>
          </p:txBody>
        </p:sp>
      </p:grpSp>
      <p:sp>
        <p:nvSpPr>
          <p:cNvPr id="13" name="object 13"/>
          <p:cNvSpPr txBox="1"/>
          <p:nvPr/>
        </p:nvSpPr>
        <p:spPr>
          <a:xfrm>
            <a:off x="2065337" y="3631839"/>
            <a:ext cx="6756400" cy="740587"/>
          </a:xfrm>
          <a:prstGeom prst="rect">
            <a:avLst/>
          </a:prstGeom>
          <a:solidFill>
            <a:srgbClr val="92A199"/>
          </a:solidFill>
        </p:spPr>
        <p:txBody>
          <a:bodyPr vert="horz" wrap="square" lIns="0" tIns="1905" rIns="0" bIns="0" rtlCol="0">
            <a:spAutoFit/>
          </a:bodyPr>
          <a:lstStyle/>
          <a:p>
            <a:pPr>
              <a:spcBef>
                <a:spcPts val="15"/>
              </a:spcBef>
            </a:pPr>
            <a:endParaRPr sz="2400" b="1" dirty="0">
              <a:latin typeface="Times New Roman" panose="02020603050405020304" pitchFamily="18" charset="0"/>
              <a:cs typeface="Times New Roman" panose="02020603050405020304" pitchFamily="18" charset="0"/>
            </a:endParaRPr>
          </a:p>
          <a:p>
            <a:pPr marL="121920">
              <a:tabLst>
                <a:tab pos="707390" algn="l"/>
                <a:tab pos="1868805" algn="l"/>
              </a:tabLst>
            </a:pPr>
            <a:r>
              <a:rPr sz="2400" b="1" dirty="0">
                <a:latin typeface="Times New Roman" panose="02020603050405020304" pitchFamily="18" charset="0"/>
                <a:cs typeface="Times New Roman" panose="02020603050405020304" pitchFamily="18" charset="0"/>
              </a:rPr>
              <a:t>D</a:t>
            </a:r>
            <a:r>
              <a:rPr lang="en-US" sz="2400" b="1" spc="-5" dirty="0">
                <a:latin typeface="Times New Roman" panose="02020603050405020304" pitchFamily="18" charset="0"/>
                <a:cs typeface="Times New Roman" panose="02020603050405020304" pitchFamily="18" charset="0"/>
              </a:rPr>
              <a:t>r. Muhammad Umar Aftab</a:t>
            </a:r>
            <a:endParaRPr sz="2400" b="1" dirty="0">
              <a:latin typeface="Times New Roman" panose="02020603050405020304" pitchFamily="18" charset="0"/>
              <a:cs typeface="Times New Roman" panose="02020603050405020304" pitchFamily="18" charset="0"/>
            </a:endParaRPr>
          </a:p>
        </p:txBody>
      </p:sp>
      <p:sp>
        <p:nvSpPr>
          <p:cNvPr id="14" name="object 14"/>
          <p:cNvSpPr txBox="1"/>
          <p:nvPr/>
        </p:nvSpPr>
        <p:spPr>
          <a:xfrm>
            <a:off x="2065338" y="2158383"/>
            <a:ext cx="6756400" cy="1257395"/>
          </a:xfrm>
          <a:prstGeom prst="rect">
            <a:avLst/>
          </a:prstGeom>
        </p:spPr>
        <p:txBody>
          <a:bodyPr vert="horz" wrap="square" lIns="0" tIns="13335" rIns="0" bIns="0" rtlCol="0">
            <a:spAutoFit/>
          </a:bodyPr>
          <a:lstStyle/>
          <a:p>
            <a:pPr marL="12700" marR="5080" algn="ctr">
              <a:spcBef>
                <a:spcPts val="105"/>
              </a:spcBef>
            </a:pPr>
            <a:r>
              <a:rPr lang="en-US" sz="4000" b="1" dirty="0">
                <a:latin typeface="Times New Roman" panose="02020603050405020304" pitchFamily="18" charset="0"/>
                <a:cs typeface="Times New Roman" panose="02020603050405020304" pitchFamily="18" charset="0"/>
              </a:rPr>
              <a:t>INFORMATION SECURITY</a:t>
            </a:r>
          </a:p>
          <a:p>
            <a:pPr marL="12700" marR="5080" algn="ctr">
              <a:spcBef>
                <a:spcPts val="105"/>
              </a:spcBef>
            </a:pPr>
            <a:r>
              <a:rPr sz="4000" b="1" dirty="0">
                <a:latin typeface="Times New Roman" panose="02020603050405020304" pitchFamily="18" charset="0"/>
                <a:cs typeface="Times New Roman" panose="02020603050405020304" pitchFamily="18" charset="0"/>
              </a:rPr>
              <a:t>  </a:t>
            </a:r>
            <a:r>
              <a:rPr lang="en-US" sz="4000" b="1" dirty="0">
                <a:latin typeface="Times New Roman" panose="02020603050405020304" pitchFamily="18" charset="0"/>
                <a:cs typeface="Times New Roman" panose="02020603050405020304" pitchFamily="18" charset="0"/>
              </a:rPr>
              <a:t>LECTURE 03</a:t>
            </a:r>
            <a:endParaRPr sz="4000" b="1" dirty="0">
              <a:latin typeface="Times New Roman" panose="02020603050405020304" pitchFamily="18" charset="0"/>
              <a:cs typeface="Times New Roman" panose="02020603050405020304" pitchFamily="18" charset="0"/>
            </a:endParaRPr>
          </a:p>
        </p:txBody>
      </p:sp>
      <p:pic>
        <p:nvPicPr>
          <p:cNvPr id="15" name="Picture 1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18"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5" name="Slide Number Placeholder 4"/>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a:t>
            </a:fld>
            <a:endParaRPr lang="en-US" b="1">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0057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2177" y="-411480"/>
            <a:ext cx="5743303" cy="1432560"/>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LECTURE</a:t>
            </a:r>
            <a:r>
              <a:rPr lang="en-GB" sz="4000" b="1" spc="-10" dirty="0">
                <a:latin typeface="Times New Roman" panose="02020603050405020304" pitchFamily="18" charset="0"/>
                <a:cs typeface="Times New Roman" panose="02020603050405020304" pitchFamily="18" charset="0"/>
              </a:rPr>
              <a:t> </a:t>
            </a:r>
            <a:r>
              <a:rPr lang="en-GB" sz="4000" b="1" spc="-5" dirty="0">
                <a:latin typeface="Times New Roman" panose="02020603050405020304" pitchFamily="18" charset="0"/>
                <a:cs typeface="Times New Roman" panose="02020603050405020304" pitchFamily="18" charset="0"/>
              </a:rPr>
              <a:t>CONTENTS</a:t>
            </a:r>
            <a:endParaRPr lang="en-GB"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a:t>
            </a:fld>
            <a:endParaRPr lang="en-US" b="1" dirty="0">
              <a:solidFill>
                <a:schemeClr val="tx1"/>
              </a:solidFill>
              <a:latin typeface="Times New Roman" panose="02020603050405020304" pitchFamily="18" charset="0"/>
              <a:cs typeface="Times New Roman" panose="02020603050405020304" pitchFamily="18" charset="0"/>
            </a:endParaRPr>
          </a:p>
        </p:txBody>
      </p:sp>
      <p:sp>
        <p:nvSpPr>
          <p:cNvPr id="7" name="object 2">
            <a:extLst>
              <a:ext uri="{FF2B5EF4-FFF2-40B4-BE49-F238E27FC236}">
                <a16:creationId xmlns:a16="http://schemas.microsoft.com/office/drawing/2014/main" id="{8A218B5A-5FC9-4DA3-982E-D52FB59F0A49}"/>
              </a:ext>
            </a:extLst>
          </p:cNvPr>
          <p:cNvSpPr/>
          <p:nvPr/>
        </p:nvSpPr>
        <p:spPr>
          <a:xfrm>
            <a:off x="5013959" y="2240280"/>
            <a:ext cx="4830717" cy="2362200"/>
          </a:xfrm>
          <a:prstGeom prst="rect">
            <a:avLst/>
          </a:prstGeom>
          <a:blipFill>
            <a:blip r:embed="rId3" cstate="print"/>
            <a:stretch>
              <a:fillRect/>
            </a:stretch>
          </a:blipFill>
        </p:spPr>
        <p:txBody>
          <a:bodyPr wrap="square" lIns="0" tIns="0" rIns="0" bIns="0" rtlCol="0"/>
          <a:lstStyle/>
          <a:p>
            <a:pPr marL="469900" indent="-457200">
              <a:spcBef>
                <a:spcPts val="675"/>
              </a:spcBef>
              <a:buClr>
                <a:srgbClr val="FF0000"/>
              </a:buClr>
              <a:buFont typeface="+mj-lt"/>
              <a:buAutoNum type="arabicPeriod"/>
              <a:tabLst>
                <a:tab pos="241300" algn="l"/>
              </a:tabLst>
            </a:pPr>
            <a:endParaRPr lang="en-US" sz="2000" b="1" dirty="0">
              <a:latin typeface="Times New Roman" panose="02020603050405020304" pitchFamily="18" charset="0"/>
              <a:cs typeface="Times New Roman" panose="02020603050405020304" pitchFamily="18" charset="0"/>
            </a:endParaRPr>
          </a:p>
          <a:p>
            <a:pPr marL="469900" indent="-457200">
              <a:spcBef>
                <a:spcPts val="675"/>
              </a:spcBef>
              <a:buClr>
                <a:srgbClr val="FF0000"/>
              </a:buClr>
              <a:buFont typeface="+mj-lt"/>
              <a:buAutoNum type="arabicPeriod"/>
              <a:tabLst>
                <a:tab pos="241300" algn="l"/>
              </a:tabLst>
            </a:pPr>
            <a:r>
              <a:rPr lang="en-US" sz="2000" b="1" dirty="0">
                <a:latin typeface="Times New Roman" panose="02020603050405020304" pitchFamily="18" charset="0"/>
                <a:cs typeface="Times New Roman" panose="02020603050405020304" pitchFamily="18" charset="0"/>
              </a:rPr>
              <a:t>Malware Introduction</a:t>
            </a:r>
          </a:p>
          <a:p>
            <a:pPr marL="469900" indent="-457200">
              <a:spcBef>
                <a:spcPts val="675"/>
              </a:spcBef>
              <a:buClr>
                <a:srgbClr val="FF0000"/>
              </a:buClr>
              <a:buFont typeface="+mj-lt"/>
              <a:buAutoNum type="arabicPeriod"/>
              <a:tabLst>
                <a:tab pos="241300" algn="l"/>
              </a:tabLst>
            </a:pPr>
            <a:r>
              <a:rPr lang="en-US" sz="2000" b="1" dirty="0">
                <a:latin typeface="Times New Roman" panose="02020603050405020304" pitchFamily="18" charset="0"/>
                <a:cs typeface="Times New Roman" panose="02020603050405020304" pitchFamily="18" charset="0"/>
              </a:rPr>
              <a:t>Malware Types</a:t>
            </a:r>
          </a:p>
          <a:p>
            <a:pPr marL="469900" indent="-457200">
              <a:spcBef>
                <a:spcPts val="675"/>
              </a:spcBef>
              <a:buClr>
                <a:srgbClr val="FF0000"/>
              </a:buClr>
              <a:buAutoNum type="arabicPeriod" startAt="3"/>
              <a:tabLst>
                <a:tab pos="241300" algn="l"/>
              </a:tabLst>
            </a:pPr>
            <a:r>
              <a:rPr lang="en-US" sz="2000" b="1" dirty="0">
                <a:latin typeface="Times New Roman" panose="02020603050405020304" pitchFamily="18" charset="0"/>
                <a:cs typeface="Times New Roman" panose="02020603050405020304" pitchFamily="18" charset="0"/>
              </a:rPr>
              <a:t>Malware Detection </a:t>
            </a:r>
          </a:p>
          <a:p>
            <a:pPr marL="469900" indent="-457200">
              <a:spcBef>
                <a:spcPts val="675"/>
              </a:spcBef>
              <a:buClr>
                <a:srgbClr val="FF0000"/>
              </a:buClr>
              <a:buAutoNum type="arabicPeriod" startAt="3"/>
              <a:tabLst>
                <a:tab pos="241300" algn="l"/>
              </a:tabLst>
            </a:pPr>
            <a:r>
              <a:rPr lang="en-US" sz="2000" b="1" dirty="0">
                <a:latin typeface="Times New Roman" panose="02020603050405020304" pitchFamily="18" charset="0"/>
                <a:cs typeface="Times New Roman" panose="02020603050405020304" pitchFamily="18" charset="0"/>
              </a:rPr>
              <a:t>Malware Classification</a:t>
            </a:r>
          </a:p>
        </p:txBody>
      </p:sp>
    </p:spTree>
    <p:extLst>
      <p:ext uri="{BB962C8B-B14F-4D97-AF65-F5344CB8AC3E}">
        <p14:creationId xmlns:p14="http://schemas.microsoft.com/office/powerpoint/2010/main" val="35360082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498764"/>
            <a:ext cx="10383982" cy="1191924"/>
          </a:xfrm>
        </p:spPr>
        <p:txBody>
          <a:bodyPr>
            <a:normAutofit/>
          </a:bodyPr>
          <a:lstStyle/>
          <a:p>
            <a:r>
              <a:rPr lang="en-US" sz="4000" b="1" dirty="0">
                <a:latin typeface="Times New Roman" panose="02020603050405020304" pitchFamily="18" charset="0"/>
                <a:cs typeface="Times New Roman" panose="02020603050405020304" pitchFamily="18" charset="0"/>
              </a:rPr>
              <a:t>Malware attack</a:t>
            </a:r>
            <a:endParaRPr lang="en-GB" alt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69818" y="2374592"/>
            <a:ext cx="10273145" cy="3038066"/>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is malicious software that get installed in victim device and perform unwanted tasks.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Simple malware is a software that is written with intent of doing harm to data, computer or network.</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is general term that covering all types of threats to computer safety such as virus, worm, trojan and so on. </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215967" y="2330245"/>
            <a:ext cx="3425201" cy="858481"/>
          </a:xfrm>
        </p:spPr>
        <p:txBody>
          <a:bodyPr>
            <a:normAutofit fontScale="90000"/>
          </a:bodyPr>
          <a:lstStyle/>
          <a:p>
            <a:r>
              <a:rPr lang="en-US" sz="4000" b="1" dirty="0">
                <a:latin typeface="Times New Roman" panose="02020603050405020304" pitchFamily="18" charset="0"/>
                <a:cs typeface="Times New Roman" panose="02020603050405020304" pitchFamily="18" charset="0"/>
              </a:rPr>
              <a:t>Malware Types</a:t>
            </a:r>
            <a:endParaRPr lang="en-GB" alt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3869211" y="465793"/>
            <a:ext cx="7529946" cy="5889135"/>
          </a:xfrm>
          <a:prstGeom prst="rect">
            <a:avLst/>
          </a:prstGeom>
          <a:blipFill>
            <a:blip r:embed="rId3" cstate="print"/>
            <a:stretch>
              <a:fillRect/>
            </a:stretch>
          </a:blipFill>
        </p:spPr>
        <p:txBody>
          <a:bodyPr wrap="square" lIns="0" tIns="0" rIns="0" bIns="0" rtlCol="0"/>
          <a:lstStyle/>
          <a:p>
            <a:pPr>
              <a:buClr>
                <a:srgbClr val="FF0000"/>
              </a:buClr>
            </a:pPr>
            <a:r>
              <a:rPr lang="en-US" sz="2400" dirty="0">
                <a:latin typeface="Times New Roman" panose="02020603050405020304" pitchFamily="18" charset="0"/>
                <a:cs typeface="Times New Roman" panose="02020603050405020304" pitchFamily="18" charset="0"/>
              </a:rPr>
              <a:t>There are many different types of malware e.g..</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Concealment </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Trojan horses</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Backdoors (trapdoors)</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Logic bombs</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Rootkits </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Infections </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Viruses</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Worms</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Malware for stealing information</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Spyware </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Keyloggers </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Malware for profit</a:t>
            </a:r>
          </a:p>
          <a:p>
            <a:pPr marL="800100" lvl="1"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Ransomware</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 Botnets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614629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628022"/>
            <a:ext cx="5165511" cy="1062666"/>
          </a:xfrm>
        </p:spPr>
        <p:txBody>
          <a:bodyPr>
            <a:normAutofit/>
          </a:bodyPr>
          <a:lstStyle/>
          <a:p>
            <a:r>
              <a:rPr lang="en-GB" sz="4000" b="1" dirty="0">
                <a:latin typeface="Times New Roman" panose="02020603050405020304" pitchFamily="18" charset="0"/>
                <a:cs typeface="Times New Roman" panose="02020603050405020304" pitchFamily="18" charset="0"/>
              </a:rPr>
              <a:t>Concealment (1/4)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69818" y="1981200"/>
            <a:ext cx="10383982" cy="4373728"/>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Trojan Horses</a:t>
            </a:r>
            <a:endParaRPr lang="en-US"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Just as it sounds, a Trojan Horse is a malicious program that </a:t>
            </a:r>
            <a:r>
              <a:rPr lang="en-US" sz="2400" dirty="0">
                <a:solidFill>
                  <a:srgbClr val="FF0000"/>
                </a:solidFill>
                <a:latin typeface="Times New Roman" panose="02020603050405020304" pitchFamily="18" charset="0"/>
                <a:cs typeface="Times New Roman" panose="02020603050405020304" pitchFamily="18" charset="0"/>
              </a:rPr>
              <a:t>disguises itself as a legitimate file</a:t>
            </a:r>
            <a:r>
              <a:rPr lang="en-US" sz="2400" dirty="0">
                <a:latin typeface="Times New Roman" panose="02020603050405020304" pitchFamily="18" charset="0"/>
                <a:cs typeface="Times New Roman" panose="02020603050405020304" pitchFamily="18" charset="0"/>
              </a:rPr>
              <a:t>. The users download it, because it looks trustworthy.</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program that </a:t>
            </a:r>
            <a:r>
              <a:rPr lang="en-US" sz="2400" u="sng" dirty="0">
                <a:latin typeface="Times New Roman" panose="02020603050405020304" pitchFamily="18" charset="0"/>
                <a:cs typeface="Times New Roman" panose="02020603050405020304" pitchFamily="18" charset="0"/>
              </a:rPr>
              <a:t>claims to free your computer from viruses </a:t>
            </a:r>
            <a:r>
              <a:rPr lang="en-US" sz="2400" dirty="0">
                <a:latin typeface="Times New Roman" panose="02020603050405020304" pitchFamily="18" charset="0"/>
                <a:cs typeface="Times New Roman" panose="02020603050405020304" pitchFamily="18" charset="0"/>
              </a:rPr>
              <a:t>but instead introduces viruses onto your system</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Once you’ve got the Trojan on your device, hackers can use it to…</a:t>
            </a: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Delete, modify and capture data</a:t>
            </a: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Harvest your device as part of a botnet</a:t>
            </a: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Spy on your device</a:t>
            </a: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Gain access to your network</a:t>
            </a:r>
          </a:p>
        </p:txBody>
      </p:sp>
    </p:spTree>
    <p:extLst>
      <p:ext uri="{BB962C8B-B14F-4D97-AF65-F5344CB8AC3E}">
        <p14:creationId xmlns:p14="http://schemas.microsoft.com/office/powerpoint/2010/main" val="12329908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628022"/>
            <a:ext cx="6168401" cy="1062666"/>
          </a:xfrm>
        </p:spPr>
        <p:txBody>
          <a:bodyPr>
            <a:noAutofit/>
          </a:bodyPr>
          <a:lstStyle/>
          <a:p>
            <a:pPr lvl="1" algn="l" rtl="0">
              <a:lnSpc>
                <a:spcPct val="90000"/>
              </a:lnSpc>
              <a:spcBef>
                <a:spcPct val="0"/>
              </a:spcBef>
            </a:pPr>
            <a:r>
              <a:rPr lang="en-GB" sz="4000" b="1" dirty="0">
                <a:latin typeface="Times New Roman" panose="02020603050405020304" pitchFamily="18" charset="0"/>
                <a:cs typeface="Times New Roman" panose="02020603050405020304" pitchFamily="18" charset="0"/>
              </a:rPr>
              <a:t>Concealment (2/4)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6</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69818" y="1981200"/>
            <a:ext cx="10383982" cy="3534697"/>
          </a:xfrm>
          <a:prstGeom prst="rect">
            <a:avLst/>
          </a:prstGeom>
          <a:blipFill>
            <a:blip r:embed="rId3" cstate="print"/>
            <a:stretch>
              <a:fillRect/>
            </a:stretch>
          </a:blipFill>
        </p:spPr>
        <p:txBody>
          <a:bodyPr wrap="square" lIns="0" tIns="0" rIns="0" bIns="0" rtlCol="0"/>
          <a:lstStyle/>
          <a:p>
            <a:pPr>
              <a:buClr>
                <a:srgbClr val="FF0000"/>
              </a:buClr>
            </a:pPr>
            <a:r>
              <a:rPr lang="en-GB" sz="4000" b="1" dirty="0">
                <a:latin typeface="Times New Roman" panose="02020603050405020304" pitchFamily="18" charset="0"/>
                <a:cs typeface="Times New Roman" panose="02020603050405020304" pitchFamily="18" charset="0"/>
              </a:rPr>
              <a:t>Backdoors (Trapdoors)</a:t>
            </a:r>
            <a:endParaRPr lang="en-GB"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GB"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Secret entry point into a system </a:t>
            </a: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Specific user identifier or password that circumvents normal security procedures</a:t>
            </a:r>
          </a:p>
          <a:p>
            <a:pPr lvl="1">
              <a:buClr>
                <a:srgbClr val="FF0000"/>
              </a:buClr>
            </a:pPr>
            <a:r>
              <a:rPr lang="en-GB" sz="2400" dirty="0">
                <a:latin typeface="Times New Roman" panose="02020603050405020304" pitchFamily="18" charset="0"/>
                <a:cs typeface="Times New Roman" panose="02020603050405020304" pitchFamily="18" charset="0"/>
              </a:rPr>
              <a:t>  </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Commonly used by developers </a:t>
            </a: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Could be included in a compiler</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75742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69818" y="628022"/>
            <a:ext cx="5165511" cy="1062666"/>
          </a:xfrm>
        </p:spPr>
        <p:txBody>
          <a:bodyPr>
            <a:normAutofit/>
          </a:bodyPr>
          <a:lstStyle/>
          <a:p>
            <a:pPr lvl="1" algn="l" rtl="0">
              <a:lnSpc>
                <a:spcPct val="90000"/>
              </a:lnSpc>
              <a:spcBef>
                <a:spcPct val="0"/>
              </a:spcBef>
            </a:pPr>
            <a:r>
              <a:rPr lang="en-GB" sz="4000" b="1" dirty="0">
                <a:latin typeface="Times New Roman" panose="02020603050405020304" pitchFamily="18" charset="0"/>
                <a:cs typeface="Times New Roman" panose="02020603050405020304" pitchFamily="18" charset="0"/>
              </a:rPr>
              <a:t>Concealment (3/4)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3338" y="1981200"/>
            <a:ext cx="10383982" cy="3903406"/>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Logic Bombs</a:t>
            </a:r>
            <a:endParaRPr lang="en-GB"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GB"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Embedded in legitimate programs</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 Activated when specified conditions met  </a:t>
            </a: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Presence/absence of some file.</a:t>
            </a: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Particular date/time or particular user</a:t>
            </a:r>
          </a:p>
          <a:p>
            <a:pPr lvl="1">
              <a:buClr>
                <a:srgbClr val="FF0000"/>
              </a:buClr>
            </a:pPr>
            <a:endParaRPr lang="en-GB" sz="22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When triggered, typically damages system </a:t>
            </a:r>
          </a:p>
          <a:p>
            <a:pPr marL="800100" lvl="1" indent="-342900">
              <a:buClr>
                <a:srgbClr val="FF0000"/>
              </a:buClr>
              <a:buFont typeface="Wingdings" panose="05000000000000000000" pitchFamily="2" charset="2"/>
              <a:buChar char="v"/>
            </a:pPr>
            <a:r>
              <a:rPr lang="en-GB" sz="2400" dirty="0">
                <a:latin typeface="Times New Roman" panose="02020603050405020304" pitchFamily="18" charset="0"/>
                <a:cs typeface="Times New Roman" panose="02020603050405020304" pitchFamily="18" charset="0"/>
              </a:rPr>
              <a:t> </a:t>
            </a:r>
            <a:r>
              <a:rPr lang="en-GB" sz="2200" dirty="0">
                <a:latin typeface="Times New Roman" panose="02020603050405020304" pitchFamily="18" charset="0"/>
                <a:cs typeface="Times New Roman" panose="02020603050405020304" pitchFamily="18" charset="0"/>
              </a:rPr>
              <a:t>Modify/delete files/disks</a:t>
            </a:r>
            <a:endParaRPr lang="en-US"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502173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46352" y="374301"/>
            <a:ext cx="5165511" cy="1062666"/>
          </a:xfrm>
        </p:spPr>
        <p:txBody>
          <a:bodyPr>
            <a:normAutofit/>
          </a:bodyPr>
          <a:lstStyle/>
          <a:p>
            <a:pPr lvl="1" algn="l" rtl="0">
              <a:lnSpc>
                <a:spcPct val="90000"/>
              </a:lnSpc>
              <a:spcBef>
                <a:spcPct val="0"/>
              </a:spcBef>
            </a:pPr>
            <a:r>
              <a:rPr lang="en-GB" sz="4000" b="1" dirty="0">
                <a:latin typeface="Times New Roman" panose="02020603050405020304" pitchFamily="18" charset="0"/>
                <a:cs typeface="Times New Roman" panose="02020603050405020304" pitchFamily="18" charset="0"/>
              </a:rPr>
              <a:t>Concealment (4/4)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8</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3338" y="1538748"/>
            <a:ext cx="10383982" cy="4816180"/>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Rootkits</a:t>
            </a:r>
            <a:endParaRPr lang="en-GB" sz="4000" b="1"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GB"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A rootkit is a type of malware designed to </a:t>
            </a:r>
            <a:r>
              <a:rPr lang="en-GB" sz="2400" u="sng" dirty="0">
                <a:latin typeface="Times New Roman" panose="02020603050405020304" pitchFamily="18" charset="0"/>
                <a:cs typeface="Times New Roman" panose="02020603050405020304" pitchFamily="18" charset="0"/>
              </a:rPr>
              <a:t>give hackers access to </a:t>
            </a:r>
            <a:r>
              <a:rPr lang="en-GB" sz="2400" dirty="0">
                <a:latin typeface="Times New Roman" panose="02020603050405020304" pitchFamily="18" charset="0"/>
                <a:cs typeface="Times New Roman" panose="02020603050405020304" pitchFamily="18" charset="0"/>
              </a:rPr>
              <a:t>and </a:t>
            </a:r>
            <a:r>
              <a:rPr lang="en-GB" sz="2400" u="sng" dirty="0">
                <a:latin typeface="Times New Roman" panose="02020603050405020304" pitchFamily="18" charset="0"/>
                <a:cs typeface="Times New Roman" panose="02020603050405020304" pitchFamily="18" charset="0"/>
              </a:rPr>
              <a:t>control over a target device</a:t>
            </a:r>
            <a:r>
              <a:rPr lang="en-GB" sz="2400" dirty="0">
                <a:latin typeface="Times New Roman" panose="02020603050405020304" pitchFamily="18" charset="0"/>
                <a:cs typeface="Times New Roman" panose="02020603050405020304" pitchFamily="18" charset="0"/>
              </a:rPr>
              <a:t>. Although most rootkits affect the software and the operating system.</a:t>
            </a: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Hackers install rootkits on target machines in a number of ways:</a:t>
            </a:r>
          </a:p>
          <a:p>
            <a:pPr marL="800100" lvl="1" indent="-342900" fontAlgn="base">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The most common is </a:t>
            </a:r>
            <a:r>
              <a:rPr lang="en-GB" sz="2000" dirty="0">
                <a:solidFill>
                  <a:srgbClr val="FF0000"/>
                </a:solidFill>
                <a:latin typeface="Times New Roman" panose="02020603050405020304" pitchFamily="18" charset="0"/>
                <a:cs typeface="Times New Roman" panose="02020603050405020304" pitchFamily="18" charset="0"/>
              </a:rPr>
              <a:t>through phishing </a:t>
            </a:r>
            <a:r>
              <a:rPr lang="en-GB" sz="2000" dirty="0">
                <a:latin typeface="Times New Roman" panose="02020603050405020304" pitchFamily="18" charset="0"/>
                <a:cs typeface="Times New Roman" panose="02020603050405020304" pitchFamily="18" charset="0"/>
              </a:rPr>
              <a:t>or another type of </a:t>
            </a:r>
            <a:r>
              <a:rPr lang="en-GB" sz="2000" dirty="0">
                <a:solidFill>
                  <a:srgbClr val="FF0000"/>
                </a:solidFill>
                <a:latin typeface="Times New Roman" panose="02020603050405020304" pitchFamily="18" charset="0"/>
                <a:cs typeface="Times New Roman" panose="02020603050405020304" pitchFamily="18" charset="0"/>
              </a:rPr>
              <a:t>social engineering attack</a:t>
            </a:r>
            <a:r>
              <a:rPr lang="en-GB" sz="2000" dirty="0">
                <a:latin typeface="Times New Roman" panose="02020603050405020304" pitchFamily="18" charset="0"/>
                <a:cs typeface="Times New Roman" panose="02020603050405020304" pitchFamily="18" charset="0"/>
              </a:rPr>
              <a:t>. Victims unknowingly download and install malware that hides within other processes running on their machines and give the hackers control of almost all aspects of the operating system.</a:t>
            </a:r>
          </a:p>
          <a:p>
            <a:pPr marL="800100" lvl="1" indent="-342900" fontAlgn="base">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Another way is through exploiting a vulnerability – i.e., a </a:t>
            </a:r>
            <a:r>
              <a:rPr lang="en-GB" sz="2000" dirty="0">
                <a:solidFill>
                  <a:srgbClr val="FF0000"/>
                </a:solidFill>
                <a:latin typeface="Times New Roman" panose="02020603050405020304" pitchFamily="18" charset="0"/>
                <a:cs typeface="Times New Roman" panose="02020603050405020304" pitchFamily="18" charset="0"/>
              </a:rPr>
              <a:t>weakness in software </a:t>
            </a:r>
            <a:r>
              <a:rPr lang="en-GB" sz="2000" dirty="0">
                <a:latin typeface="Times New Roman" panose="02020603050405020304" pitchFamily="18" charset="0"/>
                <a:cs typeface="Times New Roman" panose="02020603050405020304" pitchFamily="18" charset="0"/>
              </a:rPr>
              <a:t>or an operating system that has not been updated – and forcing the rootkit onto the computer.</a:t>
            </a:r>
          </a:p>
          <a:p>
            <a:pPr marL="800100" lvl="1" indent="-342900" fontAlgn="base">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Malware can also be </a:t>
            </a:r>
            <a:r>
              <a:rPr lang="en-GB" sz="2000" dirty="0">
                <a:solidFill>
                  <a:srgbClr val="FF0000"/>
                </a:solidFill>
                <a:latin typeface="Times New Roman" panose="02020603050405020304" pitchFamily="18" charset="0"/>
                <a:cs typeface="Times New Roman" panose="02020603050405020304" pitchFamily="18" charset="0"/>
              </a:rPr>
              <a:t>bundled with other files</a:t>
            </a:r>
            <a:r>
              <a:rPr lang="en-GB" sz="2000" dirty="0">
                <a:latin typeface="Times New Roman" panose="02020603050405020304" pitchFamily="18" charset="0"/>
                <a:cs typeface="Times New Roman" panose="02020603050405020304" pitchFamily="18" charset="0"/>
              </a:rPr>
              <a:t>, such as </a:t>
            </a:r>
            <a:r>
              <a:rPr lang="en-GB" sz="2000" dirty="0">
                <a:solidFill>
                  <a:srgbClr val="FF0000"/>
                </a:solidFill>
                <a:latin typeface="Times New Roman" panose="02020603050405020304" pitchFamily="18" charset="0"/>
                <a:cs typeface="Times New Roman" panose="02020603050405020304" pitchFamily="18" charset="0"/>
              </a:rPr>
              <a:t>infected PDFs</a:t>
            </a:r>
            <a:r>
              <a:rPr lang="en-GB" sz="2000" dirty="0">
                <a:latin typeface="Times New Roman" panose="02020603050405020304" pitchFamily="18" charset="0"/>
                <a:cs typeface="Times New Roman" panose="02020603050405020304" pitchFamily="18" charset="0"/>
              </a:rPr>
              <a:t>, pirated media, or apps obtained from suspicious third-party stores.</a:t>
            </a:r>
          </a:p>
          <a:p>
            <a:pPr>
              <a:buClr>
                <a:srgbClr val="FF0000"/>
              </a:buCl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2306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46352" y="374301"/>
            <a:ext cx="5165511" cy="1062666"/>
          </a:xfrm>
        </p:spPr>
        <p:txBody>
          <a:bodyPr>
            <a:normAutofit/>
          </a:bodyPr>
          <a:lstStyle/>
          <a:p>
            <a:pPr lvl="1" algn="l" rtl="0">
              <a:lnSpc>
                <a:spcPct val="90000"/>
              </a:lnSpc>
              <a:spcBef>
                <a:spcPct val="0"/>
              </a:spcBef>
            </a:pPr>
            <a:r>
              <a:rPr lang="en-GB" sz="4000" b="1" dirty="0">
                <a:latin typeface="Times New Roman" panose="02020603050405020304" pitchFamily="18" charset="0"/>
                <a:cs typeface="Times New Roman" panose="02020603050405020304" pitchFamily="18" charset="0"/>
              </a:rPr>
              <a:t>Infections (1/2)</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9</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3338" y="1538748"/>
            <a:ext cx="10383982" cy="4816180"/>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Virus</a:t>
            </a:r>
            <a:endParaRPr lang="en-GB" sz="4000" b="1"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GB" sz="2400" dirty="0">
              <a:latin typeface="Times New Roman" panose="02020603050405020304" pitchFamily="18" charset="0"/>
              <a:cs typeface="Times New Roman" panose="02020603050405020304" pitchFamily="18" charset="0"/>
            </a:endParaRPr>
          </a:p>
          <a:p>
            <a:pPr marL="3429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Malicious software program, when it is executed, it replicates itself by modifying other computer programs and inserting its own code.</a:t>
            </a:r>
          </a:p>
          <a:p>
            <a:pPr marL="342900" lvl="1"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Viruses need an already-infected active operating system or program to work.</a:t>
            </a:r>
          </a:p>
          <a:p>
            <a:pPr marL="342900" lvl="1"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Viruses are typically attached to an executable file or a word document.</a:t>
            </a:r>
          </a:p>
          <a:p>
            <a:pPr marL="0" lvl="1">
              <a:buClr>
                <a:srgbClr val="FF0000"/>
              </a:buClr>
            </a:pPr>
            <a:endParaRPr lang="en-US" sz="2400" dirty="0">
              <a:latin typeface="Times New Roman" panose="02020603050405020304" pitchFamily="18" charset="0"/>
              <a:cs typeface="Times New Roman" panose="02020603050405020304" pitchFamily="18" charset="0"/>
            </a:endParaRPr>
          </a:p>
          <a:p>
            <a:pPr marL="3429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Usually spread via infected websites, file sharing, or email attachment downloads</a:t>
            </a:r>
          </a:p>
          <a:p>
            <a:pPr marL="342900" lvl="1"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lvl="1"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a:buClr>
                <a:srgbClr val="FF0000"/>
              </a:buClr>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21275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86691" y="260708"/>
            <a:ext cx="7171292" cy="737175"/>
          </a:xfrm>
        </p:spPr>
        <p:txBody>
          <a:bodyPr>
            <a:normAutofit/>
          </a:bodyPr>
          <a:lstStyle/>
          <a:p>
            <a:r>
              <a:rPr lang="en-GB" sz="4000" b="1" dirty="0">
                <a:latin typeface="Times New Roman" panose="02020603050405020304" pitchFamily="18" charset="0"/>
                <a:cs typeface="Times New Roman" panose="02020603050405020304" pitchFamily="18" charset="0"/>
              </a:rPr>
              <a:t>Infections (2/2)</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10</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86691" y="1007045"/>
            <a:ext cx="10550236" cy="5231523"/>
          </a:xfrm>
          <a:prstGeom prst="rect">
            <a:avLst/>
          </a:prstGeom>
          <a:blipFill>
            <a:blip r:embed="rId3" cstate="print"/>
            <a:stretch>
              <a:fillRect/>
            </a:stretch>
          </a:blipFill>
        </p:spPr>
        <p:txBody>
          <a:bodyPr wrap="square" lIns="0" tIns="0" rIns="0" bIns="0" rtlCol="0"/>
          <a:lstStyle/>
          <a:p>
            <a:pPr>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Worms</a:t>
            </a:r>
            <a:endParaRPr lang="en-US"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Worms are spread via software vulnerabilities or phishing attacks. Once a worm has installed itself into your computer’s memory, it starts to infect the whole machine and in some cases… your whole network.</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Depending on the type of worm and your security measures, they can do serious damage. These parasitic nasties can…</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Modify and delete files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Inject malicious software onto computers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Replicate themselves over and over to deplete system resources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Steal your data</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Install a convenient backdoor for hackers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They can infect large numbers of computers fast, consuming bandwidth and overloading your web server as they go.</a:t>
            </a:r>
          </a:p>
        </p:txBody>
      </p:sp>
    </p:spTree>
    <p:extLst>
      <p:ext uri="{BB962C8B-B14F-4D97-AF65-F5344CB8AC3E}">
        <p14:creationId xmlns:p14="http://schemas.microsoft.com/office/powerpoint/2010/main" val="10508628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86691" y="260708"/>
            <a:ext cx="8154070" cy="737175"/>
          </a:xfrm>
        </p:spPr>
        <p:txBody>
          <a:bodyPr>
            <a:normAutofit fontScale="90000"/>
          </a:bodyPr>
          <a:lstStyle/>
          <a:p>
            <a:r>
              <a:rPr lang="en-GB" sz="4000" b="1" dirty="0">
                <a:latin typeface="Times New Roman" panose="02020603050405020304" pitchFamily="18" charset="0"/>
                <a:cs typeface="Times New Roman" panose="02020603050405020304" pitchFamily="18" charset="0"/>
              </a:rPr>
              <a:t>Malware for stealing information (1/4)</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86691" y="1007045"/>
            <a:ext cx="10550236" cy="5347883"/>
          </a:xfrm>
          <a:prstGeom prst="rect">
            <a:avLst/>
          </a:prstGeom>
          <a:blipFill>
            <a:blip r:embed="rId3" cstate="print"/>
            <a:stretch>
              <a:fillRect/>
            </a:stretch>
          </a:blipFill>
        </p:spPr>
        <p:txBody>
          <a:bodyPr wrap="square" lIns="0" tIns="0" rIns="0" bIns="0" rtlCol="0"/>
          <a:lstStyle/>
          <a:p>
            <a:pPr>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Spyware</a:t>
            </a:r>
            <a:endParaRPr lang="en-US"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Malware that </a:t>
            </a:r>
            <a:r>
              <a:rPr lang="en-GB" sz="2400" u="sng" dirty="0">
                <a:latin typeface="Times New Roman" panose="02020603050405020304" pitchFamily="18" charset="0"/>
                <a:cs typeface="Times New Roman" panose="02020603050405020304" pitchFamily="18" charset="0"/>
              </a:rPr>
              <a:t>collects</a:t>
            </a:r>
            <a:r>
              <a:rPr lang="en-GB" sz="2400" dirty="0">
                <a:latin typeface="Times New Roman" panose="02020603050405020304" pitchFamily="18" charset="0"/>
                <a:cs typeface="Times New Roman" panose="02020603050405020304" pitchFamily="18" charset="0"/>
              </a:rPr>
              <a:t> little bit of information at a time about users </a:t>
            </a:r>
            <a:r>
              <a:rPr lang="en-GB" sz="2400" u="sng" dirty="0">
                <a:latin typeface="Times New Roman" panose="02020603050405020304" pitchFamily="18" charset="0"/>
                <a:cs typeface="Times New Roman" panose="02020603050405020304" pitchFamily="18" charset="0"/>
              </a:rPr>
              <a:t>without their knowledge </a:t>
            </a:r>
          </a:p>
          <a:p>
            <a:pPr marL="800100" lvl="1" indent="-342900">
              <a:buClr>
                <a:srgbClr val="FF0000"/>
              </a:buClr>
              <a:buFont typeface="Wingdings" panose="05000000000000000000" pitchFamily="2" charset="2"/>
              <a:buChar char="v"/>
            </a:pPr>
            <a:endParaRPr lang="en-GB" sz="22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Keyloggers: </a:t>
            </a:r>
            <a:r>
              <a:rPr lang="en-GB" sz="2200" dirty="0">
                <a:solidFill>
                  <a:srgbClr val="FF0000"/>
                </a:solidFill>
                <a:latin typeface="Times New Roman" panose="02020603050405020304" pitchFamily="18" charset="0"/>
                <a:cs typeface="Times New Roman" panose="02020603050405020304" pitchFamily="18" charset="0"/>
              </a:rPr>
              <a:t>steal tracking </a:t>
            </a:r>
            <a:r>
              <a:rPr lang="en-GB" sz="2200" dirty="0">
                <a:latin typeface="Times New Roman" panose="02020603050405020304" pitchFamily="18" charset="0"/>
                <a:cs typeface="Times New Roman" panose="02020603050405020304" pitchFamily="18" charset="0"/>
              </a:rPr>
              <a:t>and logging key strokes </a:t>
            </a:r>
          </a:p>
          <a:p>
            <a:pPr marL="800100" lvl="1" indent="-342900">
              <a:buClr>
                <a:srgbClr val="FF0000"/>
              </a:buClr>
              <a:buFont typeface="Wingdings" panose="05000000000000000000" pitchFamily="2" charset="2"/>
              <a:buChar char="v"/>
            </a:pPr>
            <a:endParaRPr lang="en-GB" sz="22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Screen scrapers: </a:t>
            </a:r>
            <a:r>
              <a:rPr lang="en-GB" sz="2200" dirty="0">
                <a:solidFill>
                  <a:srgbClr val="FF0000"/>
                </a:solidFill>
                <a:latin typeface="Times New Roman" panose="02020603050405020304" pitchFamily="18" charset="0"/>
                <a:cs typeface="Times New Roman" panose="02020603050405020304" pitchFamily="18" charset="0"/>
              </a:rPr>
              <a:t>steal reading data </a:t>
            </a:r>
            <a:r>
              <a:rPr lang="en-GB" sz="2200" dirty="0">
                <a:latin typeface="Times New Roman" panose="02020603050405020304" pitchFamily="18" charset="0"/>
                <a:cs typeface="Times New Roman" panose="02020603050405020304" pitchFamily="18" charset="0"/>
              </a:rPr>
              <a:t>from a computer display </a:t>
            </a:r>
          </a:p>
          <a:p>
            <a:pPr marL="800100" lvl="1" indent="-342900">
              <a:buClr>
                <a:srgbClr val="FF0000"/>
              </a:buClr>
              <a:buFont typeface="Wingdings" panose="05000000000000000000" pitchFamily="2" charset="2"/>
              <a:buChar char="v"/>
            </a:pPr>
            <a:endParaRPr lang="en-GB" sz="22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May also </a:t>
            </a:r>
            <a:r>
              <a:rPr lang="en-GB" sz="2200" u="sng" dirty="0">
                <a:latin typeface="Times New Roman" panose="02020603050405020304" pitchFamily="18" charset="0"/>
                <a:cs typeface="Times New Roman" panose="02020603050405020304" pitchFamily="18" charset="0"/>
              </a:rPr>
              <a:t>tracking browsing habit </a:t>
            </a:r>
          </a:p>
          <a:p>
            <a:pPr marL="800100" lvl="1" indent="-342900">
              <a:buClr>
                <a:srgbClr val="FF0000"/>
              </a:buClr>
              <a:buFont typeface="Wingdings" panose="05000000000000000000" pitchFamily="2" charset="2"/>
              <a:buChar char="v"/>
            </a:pPr>
            <a:endParaRPr lang="en-GB" sz="22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GB" sz="2200" dirty="0">
                <a:latin typeface="Times New Roman" panose="02020603050405020304" pitchFamily="18" charset="0"/>
                <a:cs typeface="Times New Roman" panose="02020603050405020304" pitchFamily="18" charset="0"/>
              </a:rPr>
              <a:t>May also re-direct browsing and display ads</a:t>
            </a:r>
          </a:p>
        </p:txBody>
      </p:sp>
    </p:spTree>
    <p:extLst>
      <p:ext uri="{BB962C8B-B14F-4D97-AF65-F5344CB8AC3E}">
        <p14:creationId xmlns:p14="http://schemas.microsoft.com/office/powerpoint/2010/main" val="19907471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86691" y="260708"/>
            <a:ext cx="8154070" cy="737175"/>
          </a:xfrm>
        </p:spPr>
        <p:txBody>
          <a:bodyPr>
            <a:normAutofit fontScale="90000"/>
          </a:bodyPr>
          <a:lstStyle/>
          <a:p>
            <a:r>
              <a:rPr lang="en-GB" sz="4000" b="1" dirty="0">
                <a:latin typeface="Times New Roman" panose="02020603050405020304" pitchFamily="18" charset="0"/>
                <a:cs typeface="Times New Roman" panose="02020603050405020304" pitchFamily="18" charset="0"/>
              </a:rPr>
              <a:t>Malware for stealing information (2/4)</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86691" y="1007045"/>
            <a:ext cx="10550236" cy="5347883"/>
          </a:xfrm>
          <a:prstGeom prst="rect">
            <a:avLst/>
          </a:prstGeom>
          <a:blipFill>
            <a:blip r:embed="rId3" cstate="print"/>
            <a:stretch>
              <a:fillRect/>
            </a:stretch>
          </a:blipFill>
        </p:spPr>
        <p:txBody>
          <a:bodyPr wrap="square" lIns="0" tIns="0" rIns="0" bIns="0" rtlCol="0"/>
          <a:lstStyle/>
          <a:p>
            <a:pPr>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Keyloggers</a:t>
            </a:r>
            <a:endParaRPr lang="en-US" sz="40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Keylogger is a computer program that records every keystroke made by a computer user, to gain fraudulent access to passwords and other confidential information. </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two basic purpose to use Keyloggers. </a:t>
            </a:r>
          </a:p>
          <a:p>
            <a:pPr marL="800100" lvl="1" indent="-342900" algn="just">
              <a:buClr>
                <a:srgbClr val="FF0000"/>
              </a:buClr>
              <a:buFont typeface="Wingdings" panose="05000000000000000000" pitchFamily="2" charset="2"/>
              <a:buChar char="v"/>
            </a:pPr>
            <a:r>
              <a:rPr lang="en-US" altLang="en-US" sz="2200" dirty="0">
                <a:latin typeface="Times New Roman" panose="02020603050405020304" pitchFamily="18" charset="0"/>
                <a:cs typeface="Times New Roman" panose="02020603050405020304" pitchFamily="18" charset="0"/>
              </a:rPr>
              <a:t>To monitor employee performance</a:t>
            </a:r>
          </a:p>
          <a:p>
            <a:pPr marL="800100" lvl="1" indent="-342900" algn="just">
              <a:buClr>
                <a:srgbClr val="FF0000"/>
              </a:buClr>
              <a:buFont typeface="Wingdings" panose="05000000000000000000" pitchFamily="2" charset="2"/>
              <a:buChar char="v"/>
            </a:pPr>
            <a:r>
              <a:rPr lang="en-US" altLang="en-US" sz="2200" dirty="0">
                <a:latin typeface="Times New Roman" panose="02020603050405020304" pitchFamily="18" charset="0"/>
                <a:cs typeface="Times New Roman" panose="02020603050405020304" pitchFamily="18" charset="0"/>
              </a:rPr>
              <a:t>To access confidential information</a:t>
            </a:r>
          </a:p>
          <a:p>
            <a:pPr lvl="1" algn="just">
              <a:buClr>
                <a:srgbClr val="FF0000"/>
              </a:buClr>
            </a:pPr>
            <a:endParaRPr lang="en-US" altLang="en-US" sz="2200" dirty="0">
              <a:latin typeface="Times New Roman" panose="02020603050405020304" pitchFamily="18" charset="0"/>
              <a:cs typeface="Times New Roman" panose="02020603050405020304" pitchFamily="18" charset="0"/>
            </a:endParaRP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different types of Keyloggers divided into two main groups.</a:t>
            </a:r>
          </a:p>
          <a:p>
            <a:pPr marL="914400" lvl="1" indent="-457200" algn="just">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Hardware Keyloggers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Software Keyloggers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545453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86691" y="260708"/>
            <a:ext cx="8154070" cy="737175"/>
          </a:xfrm>
        </p:spPr>
        <p:txBody>
          <a:bodyPr>
            <a:normAutofit fontScale="90000"/>
          </a:bodyPr>
          <a:lstStyle/>
          <a:p>
            <a:r>
              <a:rPr lang="en-GB" sz="4000" b="1" dirty="0">
                <a:latin typeface="Times New Roman" panose="02020603050405020304" pitchFamily="18" charset="0"/>
                <a:cs typeface="Times New Roman" panose="02020603050405020304" pitchFamily="18" charset="0"/>
              </a:rPr>
              <a:t>Malware for stealing information (3/4)</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86691" y="1007045"/>
            <a:ext cx="10550236" cy="5347883"/>
          </a:xfrm>
          <a:prstGeom prst="rect">
            <a:avLst/>
          </a:prstGeom>
          <a:blipFill>
            <a:blip r:embed="rId3" cstate="print"/>
            <a:stretch>
              <a:fillRect/>
            </a:stretch>
          </a:blipFill>
        </p:spPr>
        <p:txBody>
          <a:bodyPr wrap="square" lIns="0" tIns="0" rIns="0" bIns="0" rtlCol="0"/>
          <a:lstStyle/>
          <a:p>
            <a:pPr>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Hardware Keyloggers</a:t>
            </a:r>
            <a:endParaRPr lang="en-US" sz="4000" dirty="0">
              <a:latin typeface="Times New Roman" panose="02020603050405020304" pitchFamily="18" charset="0"/>
              <a:cs typeface="Times New Roman" panose="02020603050405020304" pitchFamily="18" charset="0"/>
            </a:endParaRPr>
          </a:p>
          <a:p>
            <a:pPr>
              <a:buClr>
                <a:srgbClr val="FF0000"/>
              </a:buClr>
            </a:pPr>
            <a:endParaRPr lang="en-US" sz="2400" dirty="0">
              <a:latin typeface="Times New Roman" panose="02020603050405020304" pitchFamily="18" charset="0"/>
              <a:cs typeface="Times New Roman" panose="02020603050405020304" pitchFamily="18" charset="0"/>
            </a:endParaRP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Hardware Keyloggers are </a:t>
            </a:r>
            <a:r>
              <a:rPr lang="en-US" sz="2400" dirty="0">
                <a:solidFill>
                  <a:srgbClr val="FF0000"/>
                </a:solidFill>
                <a:latin typeface="Times New Roman" panose="02020603050405020304" pitchFamily="18" charset="0"/>
                <a:cs typeface="Times New Roman" panose="02020603050405020304" pitchFamily="18" charset="0"/>
              </a:rPr>
              <a:t>small electronic devices </a:t>
            </a:r>
            <a:r>
              <a:rPr lang="en-US" sz="2400" dirty="0">
                <a:latin typeface="Times New Roman" panose="02020603050405020304" pitchFamily="18" charset="0"/>
                <a:cs typeface="Times New Roman" panose="02020603050405020304" pitchFamily="18" charset="0"/>
              </a:rPr>
              <a:t>used for capturing the data in between a keyboard device and I/O port.</a:t>
            </a: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Usually these devices have </a:t>
            </a:r>
            <a:r>
              <a:rPr lang="en-US" sz="2400" u="sng" dirty="0">
                <a:latin typeface="Times New Roman" panose="02020603050405020304" pitchFamily="18" charset="0"/>
                <a:cs typeface="Times New Roman" panose="02020603050405020304" pitchFamily="18" charset="0"/>
              </a:rPr>
              <a:t>built in memory </a:t>
            </a:r>
            <a:r>
              <a:rPr lang="en-US" sz="2400" dirty="0">
                <a:latin typeface="Times New Roman" panose="02020603050405020304" pitchFamily="18" charset="0"/>
                <a:cs typeface="Times New Roman" panose="02020603050405020304" pitchFamily="18" charset="0"/>
              </a:rPr>
              <a:t>where they </a:t>
            </a:r>
            <a:r>
              <a:rPr lang="en-US" sz="2400" dirty="0">
                <a:solidFill>
                  <a:srgbClr val="FF0000"/>
                </a:solidFill>
                <a:latin typeface="Times New Roman" panose="02020603050405020304" pitchFamily="18" charset="0"/>
                <a:cs typeface="Times New Roman" panose="02020603050405020304" pitchFamily="18" charset="0"/>
              </a:rPr>
              <a:t>store the keystrokes </a:t>
            </a:r>
            <a:r>
              <a:rPr lang="en-US" sz="2400" dirty="0">
                <a:latin typeface="Times New Roman" panose="02020603050405020304" pitchFamily="18" charset="0"/>
                <a:cs typeface="Times New Roman" panose="02020603050405020304" pitchFamily="18" charset="0"/>
              </a:rPr>
              <a:t>so this means they must be retrieved by the person who installed it in order to obtain the information. </a:t>
            </a: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Hardware Keyloggers are </a:t>
            </a:r>
            <a:r>
              <a:rPr lang="en-US" sz="2400" u="sng" dirty="0">
                <a:latin typeface="Times New Roman" panose="02020603050405020304" pitchFamily="18" charset="0"/>
                <a:cs typeface="Times New Roman" panose="02020603050405020304" pitchFamily="18" charset="0"/>
              </a:rPr>
              <a:t>undetectable by anti-viral software </a:t>
            </a:r>
            <a:r>
              <a:rPr lang="en-US" sz="2400" dirty="0">
                <a:latin typeface="Times New Roman" panose="02020603050405020304" pitchFamily="18" charset="0"/>
                <a:cs typeface="Times New Roman" panose="02020603050405020304" pitchFamily="18" charset="0"/>
              </a:rPr>
              <a:t>or scanners since it works on the hardware platform</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pic>
        <p:nvPicPr>
          <p:cNvPr id="9" name="Picture 8" descr="Keylogger-Hardware.jpg"/>
          <p:cNvPicPr>
            <a:picLocks noChangeAspect="1"/>
          </p:cNvPicPr>
          <p:nvPr/>
        </p:nvPicPr>
        <p:blipFill>
          <a:blip r:embed="rId4"/>
          <a:stretch>
            <a:fillRect/>
          </a:stretch>
        </p:blipFill>
        <p:spPr>
          <a:xfrm>
            <a:off x="3413126" y="4572000"/>
            <a:ext cx="5115995" cy="1664893"/>
          </a:xfrm>
          <a:prstGeom prst="rect">
            <a:avLst/>
          </a:prstGeom>
        </p:spPr>
      </p:pic>
    </p:spTree>
    <p:extLst>
      <p:ext uri="{BB962C8B-B14F-4D97-AF65-F5344CB8AC3E}">
        <p14:creationId xmlns:p14="http://schemas.microsoft.com/office/powerpoint/2010/main" val="4305808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86691" y="260708"/>
            <a:ext cx="8154070" cy="737175"/>
          </a:xfrm>
        </p:spPr>
        <p:txBody>
          <a:bodyPr>
            <a:normAutofit fontScale="90000"/>
          </a:bodyPr>
          <a:lstStyle/>
          <a:p>
            <a:r>
              <a:rPr lang="en-GB" sz="4000" b="1" dirty="0">
                <a:latin typeface="Times New Roman" panose="02020603050405020304" pitchFamily="18" charset="0"/>
                <a:cs typeface="Times New Roman" panose="02020603050405020304" pitchFamily="18" charset="0"/>
              </a:rPr>
              <a:t>Malware for stealing information (4/4)</a:t>
            </a:r>
            <a:endParaRPr lang="en-US" sz="4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14</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86691" y="1007045"/>
            <a:ext cx="10550236" cy="5347883"/>
          </a:xfrm>
          <a:prstGeom prst="rect">
            <a:avLst/>
          </a:prstGeom>
          <a:blipFill>
            <a:blip r:embed="rId3" cstate="print"/>
            <a:stretch>
              <a:fillRect/>
            </a:stretch>
          </a:blipFill>
        </p:spPr>
        <p:txBody>
          <a:bodyPr wrap="square" lIns="0" tIns="0" rIns="0" bIns="0" rtlCol="0"/>
          <a:lstStyle/>
          <a:p>
            <a:pPr>
              <a:buClr>
                <a:srgbClr val="FF0000"/>
              </a:buClr>
            </a:pPr>
            <a:r>
              <a:rPr lang="en-US" sz="4000" b="1" dirty="0">
                <a:solidFill>
                  <a:schemeClr val="tx1">
                    <a:lumMod val="95000"/>
                    <a:lumOff val="5000"/>
                  </a:schemeClr>
                </a:solidFill>
                <a:latin typeface="Times New Roman" panose="02020603050405020304" pitchFamily="18" charset="0"/>
                <a:cs typeface="Times New Roman" panose="02020603050405020304" pitchFamily="18" charset="0"/>
              </a:rPr>
              <a:t>Software Keyloggers</a:t>
            </a:r>
            <a:endParaRPr lang="en-US" sz="4000" dirty="0">
              <a:latin typeface="Times New Roman" panose="02020603050405020304" pitchFamily="18" charset="0"/>
              <a:cs typeface="Times New Roman" panose="02020603050405020304" pitchFamily="18" charset="0"/>
            </a:endParaRPr>
          </a:p>
          <a:p>
            <a:pPr>
              <a:buClr>
                <a:srgbClr val="FF0000"/>
              </a:buClr>
            </a:pPr>
            <a:endParaRPr lang="en-US" sz="2400" dirty="0">
              <a:latin typeface="Times New Roman" panose="02020603050405020304" pitchFamily="18" charset="0"/>
              <a:cs typeface="Times New Roman" panose="02020603050405020304" pitchFamily="18" charset="0"/>
            </a:endParaRP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Software keylogger track system, collect keystroke data within the target operating system, </a:t>
            </a:r>
            <a:r>
              <a:rPr lang="en-US" sz="2400" u="sng" dirty="0">
                <a:latin typeface="Times New Roman" panose="02020603050405020304" pitchFamily="18" charset="0"/>
                <a:cs typeface="Times New Roman" panose="02020603050405020304" pitchFamily="18" charset="0"/>
              </a:rPr>
              <a:t>store them </a:t>
            </a:r>
            <a:r>
              <a:rPr lang="en-US" sz="2400" dirty="0">
                <a:latin typeface="Times New Roman" panose="02020603050405020304" pitchFamily="18" charset="0"/>
                <a:cs typeface="Times New Roman" panose="02020603050405020304" pitchFamily="18" charset="0"/>
              </a:rPr>
              <a:t>on the </a:t>
            </a:r>
            <a:r>
              <a:rPr lang="en-US" sz="2400" dirty="0">
                <a:solidFill>
                  <a:srgbClr val="FF0000"/>
                </a:solidFill>
                <a:latin typeface="Times New Roman" panose="02020603050405020304" pitchFamily="18" charset="0"/>
                <a:cs typeface="Times New Roman" panose="02020603050405020304" pitchFamily="18" charset="0"/>
              </a:rPr>
              <a:t>disk</a:t>
            </a:r>
            <a:r>
              <a:rPr lang="en-US" sz="2400" dirty="0">
                <a:latin typeface="Times New Roman" panose="02020603050405020304" pitchFamily="18" charset="0"/>
                <a:cs typeface="Times New Roman" panose="02020603050405020304" pitchFamily="18" charset="0"/>
              </a:rPr>
              <a:t> or in </a:t>
            </a:r>
            <a:r>
              <a:rPr lang="en-US" sz="2400" dirty="0">
                <a:solidFill>
                  <a:srgbClr val="FF0000"/>
                </a:solidFill>
                <a:latin typeface="Times New Roman" panose="02020603050405020304" pitchFamily="18" charset="0"/>
                <a:cs typeface="Times New Roman" panose="02020603050405020304" pitchFamily="18" charset="0"/>
              </a:rPr>
              <a:t>remote locations</a:t>
            </a:r>
            <a:r>
              <a:rPr lang="en-US" sz="2400" dirty="0">
                <a:latin typeface="Times New Roman" panose="02020603050405020304" pitchFamily="18" charset="0"/>
                <a:cs typeface="Times New Roman" panose="02020603050405020304" pitchFamily="18" charset="0"/>
              </a:rPr>
              <a:t>, and send them to attacker.</a:t>
            </a:r>
          </a:p>
          <a:p>
            <a:pPr marL="342900" indent="-342900" algn="just">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There are three ways to install keylogger software</a:t>
            </a:r>
          </a:p>
          <a:p>
            <a:pPr marL="800100" lvl="1" indent="-342900" algn="just">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Install it from USB</a:t>
            </a:r>
          </a:p>
          <a:p>
            <a:pPr marL="800100" lvl="1" indent="-342900" algn="just">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As a computer virus or Trojan horse</a:t>
            </a:r>
          </a:p>
          <a:p>
            <a:pPr marL="800100" lvl="1" indent="-342900" algn="just">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Gain access to the computer over a network and install surveillance software remotely   </a:t>
            </a:r>
          </a:p>
        </p:txBody>
      </p:sp>
    </p:spTree>
    <p:extLst>
      <p:ext uri="{BB962C8B-B14F-4D97-AF65-F5344CB8AC3E}">
        <p14:creationId xmlns:p14="http://schemas.microsoft.com/office/powerpoint/2010/main" val="7037503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93387" y="963410"/>
            <a:ext cx="5702381" cy="1062666"/>
          </a:xfrm>
        </p:spPr>
        <p:txBody>
          <a:bodyPr>
            <a:normAutofit/>
          </a:bodyPr>
          <a:lstStyle/>
          <a:p>
            <a:r>
              <a:rPr lang="en-GB" sz="4000" b="1" dirty="0">
                <a:latin typeface="Times New Roman" panose="02020603050405020304" pitchFamily="18" charset="0"/>
                <a:cs typeface="Times New Roman" panose="02020603050405020304" pitchFamily="18" charset="0"/>
              </a:rPr>
              <a:t>Malware for profit 1/4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0090" y="2026787"/>
            <a:ext cx="10263764" cy="4211781"/>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Ransomware</a:t>
            </a:r>
            <a:endParaRPr lang="en-US" sz="4000" dirty="0">
              <a:latin typeface="Times New Roman" panose="02020603050405020304" pitchFamily="18" charset="0"/>
              <a:cs typeface="Times New Roman" panose="02020603050405020304" pitchFamily="18" charset="0"/>
            </a:endParaRPr>
          </a:p>
          <a:p>
            <a:pPr marL="457200" indent="-4572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Ransomware denies or restricts access to your own files. Then it demands payment (usually with crypto-currencies) in return for letting you back in.</a:t>
            </a: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In May 2017, a ransomware attack spread across 150 countries and compromised over 200k computers within just one day. Aptly named WannaCry, the attack caused damage estimated in the hundreds of millions to billions of dollars.</a:t>
            </a: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WannaCry affected MS Operating systems that did not have the latest patch installed for a known vulnerability</a:t>
            </a:r>
          </a:p>
        </p:txBody>
      </p:sp>
    </p:spTree>
    <p:extLst>
      <p:ext uri="{BB962C8B-B14F-4D97-AF65-F5344CB8AC3E}">
        <p14:creationId xmlns:p14="http://schemas.microsoft.com/office/powerpoint/2010/main" val="31086984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93387" y="963410"/>
            <a:ext cx="5702381" cy="1062666"/>
          </a:xfrm>
        </p:spPr>
        <p:txBody>
          <a:bodyPr>
            <a:normAutofit/>
          </a:bodyPr>
          <a:lstStyle/>
          <a:p>
            <a:r>
              <a:rPr lang="en-GB" sz="4000" b="1" dirty="0">
                <a:latin typeface="Times New Roman" panose="02020603050405020304" pitchFamily="18" charset="0"/>
                <a:cs typeface="Times New Roman" panose="02020603050405020304" pitchFamily="18" charset="0"/>
              </a:rPr>
              <a:t>Malware for profit 2/4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16</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0090" y="2026787"/>
            <a:ext cx="10263764" cy="4211781"/>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Ransomware</a:t>
            </a:r>
            <a:endParaRPr lang="en-US" sz="4000" dirty="0">
              <a:latin typeface="Times New Roman" panose="02020603050405020304" pitchFamily="18" charset="0"/>
              <a:cs typeface="Times New Roman" panose="02020603050405020304" pitchFamily="18" charset="0"/>
            </a:endParaRPr>
          </a:p>
          <a:p>
            <a:pPr marL="457200" indent="-4572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Variation of this type of ransomware pretends to come from a software vendor and displays a fictitious warning that a software license has expired or there is a problem with the computer such as imminent hard drive failure or—in a touch of irony—a malware infection. </a:t>
            </a:r>
          </a:p>
          <a:p>
            <a:pPr>
              <a:buClr>
                <a:srgbClr val="FF0000"/>
              </a:buClr>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This ransomware variation tells users that they must immediately renew their license or purchase additional software online to fix a nonexistent problem</a:t>
            </a:r>
          </a:p>
        </p:txBody>
      </p:sp>
    </p:spTree>
    <p:extLst>
      <p:ext uri="{BB962C8B-B14F-4D97-AF65-F5344CB8AC3E}">
        <p14:creationId xmlns:p14="http://schemas.microsoft.com/office/powerpoint/2010/main" val="2886665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93387" y="963410"/>
            <a:ext cx="5702381" cy="1062666"/>
          </a:xfrm>
        </p:spPr>
        <p:txBody>
          <a:bodyPr>
            <a:normAutofit/>
          </a:bodyPr>
          <a:lstStyle/>
          <a:p>
            <a:r>
              <a:rPr lang="en-GB" sz="4000" b="1" dirty="0">
                <a:latin typeface="Times New Roman" panose="02020603050405020304" pitchFamily="18" charset="0"/>
                <a:cs typeface="Times New Roman" panose="02020603050405020304" pitchFamily="18" charset="0"/>
              </a:rPr>
              <a:t>Malware for profit 3/4</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17</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940090" y="2026787"/>
            <a:ext cx="10263764" cy="4211781"/>
          </a:xfrm>
          <a:prstGeom prst="rect">
            <a:avLst/>
          </a:prstGeom>
          <a:blipFill>
            <a:blip r:embed="rId3" cstate="print"/>
            <a:stretch>
              <a:fillRect/>
            </a:stretch>
          </a:blipFill>
        </p:spPr>
        <p:txBody>
          <a:bodyPr wrap="square" lIns="0" tIns="0" rIns="0" bIns="0" rtlCol="0"/>
          <a:lstStyle/>
          <a:p>
            <a:pPr>
              <a:buClr>
                <a:srgbClr val="FF0000"/>
              </a:buClr>
            </a:pPr>
            <a:r>
              <a:rPr lang="en-US" sz="4000" b="1" dirty="0">
                <a:latin typeface="Times New Roman" panose="02020603050405020304" pitchFamily="18" charset="0"/>
                <a:cs typeface="Times New Roman" panose="02020603050405020304" pitchFamily="18" charset="0"/>
              </a:rPr>
              <a:t>Ransomware</a:t>
            </a:r>
            <a:endParaRPr lang="en-US" sz="4000" dirty="0">
              <a:latin typeface="Times New Roman" panose="02020603050405020304" pitchFamily="18" charset="0"/>
              <a:cs typeface="Times New Roman" panose="02020603050405020304" pitchFamily="18" charset="0"/>
            </a:endParaRPr>
          </a:p>
          <a:p>
            <a:pPr marL="457200" indent="-4572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457200" indent="-4572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To reduce the risk of ransomware attacks…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Always keep your Operating System up to date</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Keep your Anti-Virus software up to date</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Back-up your most important files</a:t>
            </a:r>
          </a:p>
          <a:p>
            <a:pPr marL="914400" lvl="1" indent="-4572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Don’t open attachments from unknown sources (WannaCry was spread via a .</a:t>
            </a:r>
            <a:r>
              <a:rPr lang="en-US" sz="2200" dirty="0" err="1">
                <a:latin typeface="Times New Roman" panose="02020603050405020304" pitchFamily="18" charset="0"/>
                <a:cs typeface="Times New Roman" panose="02020603050405020304" pitchFamily="18" charset="0"/>
              </a:rPr>
              <a:t>js</a:t>
            </a:r>
            <a:r>
              <a:rPr lang="en-US" sz="2200" dirty="0">
                <a:latin typeface="Times New Roman" panose="02020603050405020304" pitchFamily="18" charset="0"/>
                <a:cs typeface="Times New Roman" panose="02020603050405020304" pitchFamily="18" charset="0"/>
              </a:rPr>
              <a:t> attachment</a:t>
            </a: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273543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678426" y="3176704"/>
            <a:ext cx="3132696" cy="1062666"/>
          </a:xfrm>
        </p:spPr>
        <p:txBody>
          <a:bodyPr>
            <a:normAutofit/>
          </a:bodyPr>
          <a:lstStyle/>
          <a:p>
            <a:r>
              <a:rPr lang="en-US" sz="4000" b="1" dirty="0">
                <a:latin typeface="Times New Roman" panose="02020603050405020304" pitchFamily="18" charset="0"/>
                <a:cs typeface="Times New Roman" panose="02020603050405020304" pitchFamily="18" charset="0"/>
              </a:rPr>
              <a:t>Ransomware</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18</a:t>
            </a:fld>
            <a:endParaRPr lang="en-US" b="1">
              <a:solidFill>
                <a:schemeClr val="tx1"/>
              </a:solidFill>
              <a:latin typeface="Times New Roman" panose="02020603050405020304" pitchFamily="18" charset="0"/>
              <a:cs typeface="Times New Roman" panose="02020603050405020304" pitchFamily="18" charset="0"/>
            </a:endParaRPr>
          </a:p>
        </p:txBody>
      </p:sp>
      <p:pic>
        <p:nvPicPr>
          <p:cNvPr id="3" name="Picture 2"/>
          <p:cNvPicPr>
            <a:picLocks noChangeAspect="1"/>
          </p:cNvPicPr>
          <p:nvPr/>
        </p:nvPicPr>
        <p:blipFill>
          <a:blip r:embed="rId3"/>
          <a:stretch>
            <a:fillRect/>
          </a:stretch>
        </p:blipFill>
        <p:spPr>
          <a:xfrm>
            <a:off x="4529650" y="2066858"/>
            <a:ext cx="6708621" cy="4024598"/>
          </a:xfrm>
          <a:prstGeom prst="rect">
            <a:avLst/>
          </a:prstGeom>
        </p:spPr>
      </p:pic>
      <p:sp>
        <p:nvSpPr>
          <p:cNvPr id="9" name="Title 1">
            <a:extLst>
              <a:ext uri="{FF2B5EF4-FFF2-40B4-BE49-F238E27FC236}">
                <a16:creationId xmlns:a16="http://schemas.microsoft.com/office/drawing/2014/main" id="{6339E96D-C56B-4D4A-923F-272EAA1A02EA}"/>
              </a:ext>
            </a:extLst>
          </p:cNvPr>
          <p:cNvSpPr txBox="1">
            <a:spLocks noChangeArrowheads="1"/>
          </p:cNvSpPr>
          <p:nvPr/>
        </p:nvSpPr>
        <p:spPr>
          <a:xfrm>
            <a:off x="959931" y="599686"/>
            <a:ext cx="5702381" cy="1062666"/>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Malware for profit 4/4</a:t>
            </a:r>
            <a:endParaRPr lang="en-US" sz="4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1497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993387" y="628022"/>
            <a:ext cx="4552007" cy="1062666"/>
          </a:xfrm>
        </p:spPr>
        <p:txBody>
          <a:bodyPr>
            <a:noAutofit/>
          </a:bodyPr>
          <a:lstStyle/>
          <a:p>
            <a:r>
              <a:rPr lang="en-US" sz="4000" b="1" dirty="0">
                <a:latin typeface="Times New Roman" panose="02020603050405020304" pitchFamily="18" charset="0"/>
                <a:cs typeface="Times New Roman" panose="02020603050405020304" pitchFamily="18" charset="0"/>
              </a:rPr>
              <a:t>Bots &amp; Botnets 1/2</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19</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65115" y="1690688"/>
            <a:ext cx="10312254" cy="353290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 bot is a computer that’s been infected with malware so it can be controlled remotely by a hacker.</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That bot (a zombie computer), can then be used to launch more attacks or to become part of a collection of bots (botnet).</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Botnets are popular with hacker show-offs (the more bots you collect, the mightier a hacker you are) and cyber criminals spreading ransomware. Botnets can include millions of devices as they spread undetected.</a:t>
            </a:r>
          </a:p>
        </p:txBody>
      </p:sp>
    </p:spTree>
    <p:extLst>
      <p:ext uri="{BB962C8B-B14F-4D97-AF65-F5344CB8AC3E}">
        <p14:creationId xmlns:p14="http://schemas.microsoft.com/office/powerpoint/2010/main" val="9030309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1218079" y="901593"/>
            <a:ext cx="5934889" cy="1062666"/>
          </a:xfrm>
        </p:spPr>
        <p:txBody>
          <a:bodyPr>
            <a:normAutofit/>
          </a:bodyPr>
          <a:lstStyle/>
          <a:p>
            <a:r>
              <a:rPr lang="en-US" sz="4000" b="1" dirty="0">
                <a:latin typeface="Times New Roman" panose="02020603050405020304" pitchFamily="18" charset="0"/>
                <a:cs typeface="Times New Roman" panose="02020603050405020304" pitchFamily="18" charset="0"/>
              </a:rPr>
              <a:t>Bots &amp; Botnets 2/2</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20</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218079" y="2136577"/>
            <a:ext cx="10383982" cy="3182183"/>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Botnets help hackers with all manner of malicious activities, including:</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DDoS attacks</a:t>
            </a:r>
          </a:p>
          <a:p>
            <a:pPr marL="800100" lvl="1" indent="-342900">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Keylogging, screenshots and webcam access</a:t>
            </a:r>
          </a:p>
          <a:p>
            <a:pPr marL="800100" lvl="1" indent="-342900">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Spreading other types of malware</a:t>
            </a:r>
          </a:p>
          <a:p>
            <a:pPr marL="800100" lvl="1" indent="-342900">
              <a:buClr>
                <a:srgbClr val="FF0000"/>
              </a:buClr>
              <a:buFont typeface="Wingdings" panose="05000000000000000000" pitchFamily="2" charset="2"/>
              <a:buChar char="v"/>
            </a:pPr>
            <a:endParaRPr lang="en-US" sz="2000" dirty="0">
              <a:latin typeface="Times New Roman" panose="02020603050405020304" pitchFamily="18" charset="0"/>
              <a:cs typeface="Times New Roman" panose="02020603050405020304" pitchFamily="18" charset="0"/>
            </a:endParaRPr>
          </a:p>
          <a:p>
            <a:pPr marL="800100" lvl="1" indent="-342900">
              <a:buClr>
                <a:srgbClr val="FF0000"/>
              </a:buClr>
              <a:buFont typeface="Wingdings" panose="05000000000000000000" pitchFamily="2" charset="2"/>
              <a:buChar char="v"/>
            </a:pPr>
            <a:r>
              <a:rPr lang="en-US" sz="2000" dirty="0">
                <a:latin typeface="Times New Roman" panose="02020603050405020304" pitchFamily="18" charset="0"/>
                <a:cs typeface="Times New Roman" panose="02020603050405020304" pitchFamily="18" charset="0"/>
              </a:rPr>
              <a:t>Sending spam and phishing messages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135906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Adware &amp; Scams</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21</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4138038"/>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Adware is one of the better-known types of malware. It serves pop-ups and display ads that often have no relevance to you.</a:t>
            </a:r>
          </a:p>
          <a:p>
            <a:pPr>
              <a:buClr>
                <a:srgbClr val="FF0000"/>
              </a:buClr>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Some users will put up with certain types of adware in return for free software (games for example). But not all adware is equal.</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 At best, it’s annoying and slows down your machine. </a:t>
            </a:r>
          </a:p>
          <a:p>
            <a:pPr marL="800100" lvl="1" indent="-342900">
              <a:buClr>
                <a:srgbClr val="FF0000"/>
              </a:buClr>
              <a:buFont typeface="Wingdings" panose="05000000000000000000" pitchFamily="2" charset="2"/>
              <a:buChar char="v"/>
            </a:pPr>
            <a:r>
              <a:rPr lang="en-US" sz="2200" dirty="0">
                <a:latin typeface="Times New Roman" panose="02020603050405020304" pitchFamily="18" charset="0"/>
                <a:cs typeface="Times New Roman" panose="02020603050405020304" pitchFamily="18" charset="0"/>
              </a:rPr>
              <a:t>At worst, the ads link to sites where malicious downloads await unsuspecting users.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 Adware can also deliver Spyware and is often easily hacked, making devices that have it installed a soft target for hackers, phishers and scammers.</a:t>
            </a:r>
          </a:p>
        </p:txBody>
      </p:sp>
    </p:spTree>
    <p:extLst>
      <p:ext uri="{BB962C8B-B14F-4D97-AF65-F5344CB8AC3E}">
        <p14:creationId xmlns:p14="http://schemas.microsoft.com/office/powerpoint/2010/main" val="262673897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Spyware</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22</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Spyware secretly records your online activity, harvesting your data and collecting personal information such as usernames, passwords and surfing habits.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Spyware is a common threat, usually distributed as freeware or shareware that has an appealing function on the front end with a covert mission running in the background that you might never notice. It’s often used to carry out identity theft and credit card fraud.</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Once on your computer, spyware relays your data to advertisers or cyber criminals. Some spyware installs additional malware that make changes to your settings.</a:t>
            </a:r>
          </a:p>
        </p:txBody>
      </p:sp>
    </p:spTree>
    <p:extLst>
      <p:ext uri="{BB962C8B-B14F-4D97-AF65-F5344CB8AC3E}">
        <p14:creationId xmlns:p14="http://schemas.microsoft.com/office/powerpoint/2010/main" val="13887152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Detection</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23</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60090" y="1717071"/>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If you’ve noticed any of the following, you may have malware on your device:</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A slow, crashing or freezing computer</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Blue screen of death (BSOD)</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Programs opening and closing automatically or altering themselves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Lack of storage space</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Increased pop-ups, toolbars and other unwanted programs</a:t>
            </a:r>
          </a:p>
          <a:p>
            <a:pPr marL="800100" lvl="1" indent="-342900">
              <a:buClr>
                <a:srgbClr val="FF0000"/>
              </a:buClr>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 Emails and messages being sent without you prompting them</a:t>
            </a:r>
          </a:p>
        </p:txBody>
      </p:sp>
    </p:spTree>
    <p:extLst>
      <p:ext uri="{BB962C8B-B14F-4D97-AF65-F5344CB8AC3E}">
        <p14:creationId xmlns:p14="http://schemas.microsoft.com/office/powerpoint/2010/main" val="40716656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dirty="0"/>
          </a:p>
        </p:txBody>
      </p:sp>
      <p:sp>
        <p:nvSpPr>
          <p:cNvPr id="3" name="Subtitle 2"/>
          <p:cNvSpPr>
            <a:spLocks noGrp="1"/>
          </p:cNvSpPr>
          <p:nvPr>
            <p:ph type="subTitle" idx="1"/>
          </p:nvPr>
        </p:nvSpPr>
        <p:spPr/>
        <p:txBody>
          <a:bodyPr/>
          <a:lstStyle/>
          <a:p>
            <a:endParaRPr lang="en-US"/>
          </a:p>
        </p:txBody>
      </p:sp>
      <p:sp>
        <p:nvSpPr>
          <p:cNvPr id="4" name="object 2">
            <a:extLst>
              <a:ext uri="{FF2B5EF4-FFF2-40B4-BE49-F238E27FC236}">
                <a16:creationId xmlns:a16="http://schemas.microsoft.com/office/drawing/2014/main" id="{6559504C-34DF-457C-86BD-9DB62B22EFCE}"/>
              </a:ext>
            </a:extLst>
          </p:cNvPr>
          <p:cNvSpPr/>
          <p:nvPr/>
        </p:nvSpPr>
        <p:spPr>
          <a:xfrm>
            <a:off x="1144227" y="2661603"/>
            <a:ext cx="9903546" cy="1285557"/>
          </a:xfrm>
          <a:prstGeom prst="rect">
            <a:avLst/>
          </a:prstGeom>
          <a:blipFill>
            <a:blip r:embed="rId3" cstate="print"/>
            <a:stretch>
              <a:fillRect/>
            </a:stretch>
          </a:blipFill>
        </p:spPr>
        <p:txBody>
          <a:bodyPr wrap="square" lIns="0" tIns="0" rIns="0" bIns="0" rtlCol="0"/>
          <a:lstStyle/>
          <a:p>
            <a:pPr algn="ctr">
              <a:buClr>
                <a:srgbClr val="FF0000"/>
              </a:buClr>
            </a:pPr>
            <a:r>
              <a:rPr lang="en-US" sz="7200" dirty="0"/>
              <a:t>Malware Analysis</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67764113"/>
      </p:ext>
    </p:extLst>
  </p:cSld>
  <p:clrMapOvr>
    <a:overrideClrMapping bg1="lt1" tx1="dk1" bg2="lt2" tx2="dk2" accent1="accent1" accent2="accent2" accent3="accent3" accent4="accent4" accent5="accent5" accent6="accent6" hlink="hlink" folHlink="folHlink"/>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Detection</a:t>
            </a:r>
          </a:p>
        </p:txBody>
      </p:sp>
      <p:sp>
        <p:nvSpPr>
          <p:cNvPr id="14" name="Footer Placeholder 3"/>
          <p:cNvSpPr>
            <a:spLocks noGrp="1"/>
          </p:cNvSpPr>
          <p:nvPr>
            <p:ph type="ftr" sz="quarter" idx="11"/>
          </p:nvPr>
        </p:nvSpPr>
        <p:spPr>
          <a:xfrm>
            <a:off x="3413126" y="644707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25</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1090570" y="1244630"/>
            <a:ext cx="9903546" cy="5268356"/>
          </a:xfrm>
          <a:prstGeom prst="rect">
            <a:avLst/>
          </a:prstGeom>
          <a:blipFill>
            <a:blip r:embed="rId5"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Three main methods</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Signature Detection</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Change Detection </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Anomaly Detection</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Signature Detection</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Each malware of a common type have something common</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Problem: can only </a:t>
            </a:r>
            <a:r>
              <a:rPr lang="en-US" sz="2400" dirty="0">
                <a:solidFill>
                  <a:srgbClr val="FF0000"/>
                </a:solidFill>
                <a:latin typeface="Times New Roman" panose="02020603050405020304" pitchFamily="18" charset="0"/>
                <a:cs typeface="Times New Roman" panose="02020603050405020304" pitchFamily="18" charset="0"/>
              </a:rPr>
              <a:t>detect known viruses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Change Detection</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 unexpected change in file(</a:t>
            </a:r>
            <a:r>
              <a:rPr lang="en-US" sz="2400" dirty="0">
                <a:solidFill>
                  <a:srgbClr val="FF0000"/>
                </a:solidFill>
                <a:latin typeface="Times New Roman" panose="02020603050405020304" pitchFamily="18" charset="0"/>
                <a:cs typeface="Times New Roman" panose="02020603050405020304" pitchFamily="18" charset="0"/>
              </a:rPr>
              <a:t>Hash</a:t>
            </a:r>
            <a:r>
              <a:rPr lang="en-US" sz="2400" dirty="0">
                <a:latin typeface="Times New Roman" panose="02020603050405020304" pitchFamily="18" charset="0"/>
                <a:cs typeface="Times New Roman" panose="02020603050405020304" pitchFamily="18" charset="0"/>
              </a:rPr>
              <a:t> functions)</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Anomaly Detection</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Based on IDS</a:t>
            </a:r>
          </a:p>
          <a:p>
            <a:pPr marL="800100" lvl="1"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Define normal behavior</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No stand-alone Detection mechanism</a:t>
            </a:r>
          </a:p>
        </p:txBody>
      </p:sp>
    </p:spTree>
    <p:extLst>
      <p:ext uri="{BB962C8B-B14F-4D97-AF65-F5344CB8AC3E}">
        <p14:creationId xmlns:p14="http://schemas.microsoft.com/office/powerpoint/2010/main" val="2315240604"/>
      </p:ext>
    </p:extLst>
  </p:cSld>
  <p:clrMapOvr>
    <a:overrideClrMapping bg1="lt1" tx1="dk1" bg2="lt2" tx2="dk2" accent1="accent1" accent2="accent2" accent3="accent3" accent4="accent4" accent5="accent5" accent6="accent6" hlink="hlink" folHlink="folHlink"/>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Incident Response</a:t>
            </a:r>
          </a:p>
        </p:txBody>
      </p:sp>
      <p:sp>
        <p:nvSpPr>
          <p:cNvPr id="4" name="object 2">
            <a:extLst>
              <a:ext uri="{FF2B5EF4-FFF2-40B4-BE49-F238E27FC236}">
                <a16:creationId xmlns:a16="http://schemas.microsoft.com/office/drawing/2014/main" id="{690927E1-EF58-4C32-B034-F6AF87DFAB94}"/>
              </a:ext>
            </a:extLst>
          </p:cNvPr>
          <p:cNvSpPr/>
          <p:nvPr/>
        </p:nvSpPr>
        <p:spPr>
          <a:xfrm>
            <a:off x="838200" y="1917470"/>
            <a:ext cx="9903546" cy="2456410"/>
          </a:xfrm>
          <a:prstGeom prst="rect">
            <a:avLst/>
          </a:prstGeom>
          <a:blipFill>
            <a:blip r:embed="rId3" cstate="print"/>
            <a:stretch>
              <a:fillRect/>
            </a:stretch>
          </a:blipFill>
        </p:spPr>
        <p:txBody>
          <a:bodyPr wrap="square" lIns="0" tIns="0" rIns="0" bIns="0" rtlCol="0"/>
          <a:lstStyle/>
          <a:p>
            <a:pPr marL="285750" indent="-285750">
              <a:buFont typeface="Wingdings" panose="05000000000000000000" pitchFamily="2" charset="2"/>
              <a:buChar char="Ø"/>
            </a:pPr>
            <a:r>
              <a:rPr lang="en-US" sz="2400" dirty="0"/>
              <a:t>After malware is found, you need to know</a:t>
            </a:r>
          </a:p>
          <a:p>
            <a:pPr marL="742950" lvl="1" indent="-285750">
              <a:buFont typeface="Wingdings" panose="05000000000000000000" pitchFamily="2" charset="2"/>
              <a:buChar char="Ø"/>
            </a:pPr>
            <a:r>
              <a:rPr lang="en-US" sz="2400" dirty="0"/>
              <a:t>Did an attacker implant a rootkit or trojan on your systems?</a:t>
            </a:r>
          </a:p>
          <a:p>
            <a:pPr marL="742950" lvl="1" indent="-285750">
              <a:buFont typeface="Wingdings" panose="05000000000000000000" pitchFamily="2" charset="2"/>
              <a:buChar char="Ø"/>
            </a:pPr>
            <a:r>
              <a:rPr lang="en-US" sz="2400" dirty="0"/>
              <a:t>Is the attacker really </a:t>
            </a:r>
            <a:r>
              <a:rPr lang="en-US" sz="2400" dirty="0">
                <a:solidFill>
                  <a:srgbClr val="FF0000"/>
                </a:solidFill>
              </a:rPr>
              <a:t>gone</a:t>
            </a:r>
            <a:r>
              <a:rPr lang="en-US" sz="2400" dirty="0"/>
              <a:t>?</a:t>
            </a:r>
          </a:p>
          <a:p>
            <a:pPr marL="742950" lvl="1" indent="-285750">
              <a:buFont typeface="Wingdings" panose="05000000000000000000" pitchFamily="2" charset="2"/>
              <a:buChar char="Ø"/>
            </a:pPr>
            <a:r>
              <a:rPr lang="en-US" sz="2400" dirty="0"/>
              <a:t>What did the attacker </a:t>
            </a:r>
            <a:r>
              <a:rPr lang="en-US" sz="2400" u="sng" dirty="0"/>
              <a:t>steal or add</a:t>
            </a:r>
            <a:r>
              <a:rPr lang="en-US" sz="2400" dirty="0"/>
              <a:t>?</a:t>
            </a:r>
          </a:p>
          <a:p>
            <a:pPr marL="742950" lvl="1" indent="-285750">
              <a:buFont typeface="Wingdings" panose="05000000000000000000" pitchFamily="2" charset="2"/>
              <a:buChar char="Ø"/>
            </a:pPr>
            <a:r>
              <a:rPr lang="en-US" sz="2400" dirty="0"/>
              <a:t>How did the attack get in</a:t>
            </a:r>
          </a:p>
          <a:p>
            <a:pPr marL="1200150" lvl="2" indent="-285750">
              <a:buFont typeface="Wingdings" panose="05000000000000000000" pitchFamily="2" charset="2"/>
              <a:buChar char="Ø"/>
            </a:pPr>
            <a:r>
              <a:rPr lang="en-US" sz="2400" u="sng" dirty="0"/>
              <a:t>Root-cause</a:t>
            </a:r>
            <a:r>
              <a:rPr lang="en-US" sz="2400" dirty="0"/>
              <a:t> analysis</a:t>
            </a:r>
          </a:p>
        </p:txBody>
      </p:sp>
    </p:spTree>
    <p:extLst>
      <p:ext uri="{BB962C8B-B14F-4D97-AF65-F5344CB8AC3E}">
        <p14:creationId xmlns:p14="http://schemas.microsoft.com/office/powerpoint/2010/main" val="1731002371"/>
      </p:ext>
    </p:extLst>
  </p:cSld>
  <p:clrMapOvr>
    <a:overrideClrMapping bg1="lt1" tx1="dk1" bg2="lt2" tx2="dk2" accent1="accent1" accent2="accent2" accent3="accent3" accent4="accent4" accent5="accent5" accent6="accent6" hlink="hlink" folHlink="folHlink"/>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Malware Analysis</a:t>
            </a:r>
          </a:p>
        </p:txBody>
      </p:sp>
      <p:sp>
        <p:nvSpPr>
          <p:cNvPr id="4" name="object 2">
            <a:extLst>
              <a:ext uri="{FF2B5EF4-FFF2-40B4-BE49-F238E27FC236}">
                <a16:creationId xmlns:a16="http://schemas.microsoft.com/office/drawing/2014/main" id="{5CD69C0F-AC78-4296-9488-FD3591FA1309}"/>
              </a:ext>
            </a:extLst>
          </p:cNvPr>
          <p:cNvSpPr/>
          <p:nvPr/>
        </p:nvSpPr>
        <p:spPr>
          <a:xfrm>
            <a:off x="838200" y="2163128"/>
            <a:ext cx="9903546" cy="2104072"/>
          </a:xfrm>
          <a:prstGeom prst="rect">
            <a:avLst/>
          </a:prstGeom>
          <a:blipFill>
            <a:blip r:embed="rId4" cstate="print"/>
            <a:stretch>
              <a:fillRect/>
            </a:stretch>
          </a:blipFill>
        </p:spPr>
        <p:txBody>
          <a:bodyPr wrap="square" lIns="0" tIns="0" rIns="0" bIns="0" rtlCol="0"/>
          <a:lstStyle/>
          <a:p>
            <a:pPr marL="285750" indent="-285750">
              <a:buFont typeface="Wingdings" panose="05000000000000000000" pitchFamily="2" charset="2"/>
              <a:buChar char="Ø"/>
            </a:pPr>
            <a:r>
              <a:rPr lang="en-US" sz="2400" dirty="0"/>
              <a:t>Dissecting malware to understand</a:t>
            </a:r>
          </a:p>
          <a:p>
            <a:pPr marL="742950" lvl="1" indent="-285750">
              <a:buFont typeface="Wingdings" panose="05000000000000000000" pitchFamily="2" charset="2"/>
              <a:buChar char="Ø"/>
            </a:pPr>
            <a:r>
              <a:rPr lang="en-US" sz="2400" dirty="0"/>
              <a:t>How it works</a:t>
            </a:r>
          </a:p>
          <a:p>
            <a:pPr marL="742950" lvl="1" indent="-285750">
              <a:buFont typeface="Wingdings" panose="05000000000000000000" pitchFamily="2" charset="2"/>
              <a:buChar char="Ø"/>
            </a:pPr>
            <a:r>
              <a:rPr lang="en-US" sz="2400" dirty="0"/>
              <a:t>How to identify it</a:t>
            </a:r>
          </a:p>
          <a:p>
            <a:pPr marL="742950" lvl="1" indent="-285750">
              <a:buFont typeface="Wingdings" panose="05000000000000000000" pitchFamily="2" charset="2"/>
              <a:buChar char="Ø"/>
            </a:pPr>
            <a:r>
              <a:rPr lang="en-US" sz="2400" dirty="0"/>
              <a:t>How to defeat or eliminate it</a:t>
            </a:r>
          </a:p>
          <a:p>
            <a:pPr marL="285750" indent="-285750">
              <a:buFont typeface="Wingdings" panose="05000000000000000000" pitchFamily="2" charset="2"/>
              <a:buChar char="Ø"/>
            </a:pPr>
            <a:r>
              <a:rPr lang="en-US" sz="2400" dirty="0"/>
              <a:t>A critical part of incident response</a:t>
            </a:r>
          </a:p>
        </p:txBody>
      </p:sp>
    </p:spTree>
    <p:extLst>
      <p:ext uri="{BB962C8B-B14F-4D97-AF65-F5344CB8AC3E}">
        <p14:creationId xmlns:p14="http://schemas.microsoft.com/office/powerpoint/2010/main" val="1147321098"/>
      </p:ext>
    </p:extLst>
  </p:cSld>
  <p:clrMapOvr>
    <a:overrideClrMapping bg1="lt1" tx1="dk1" bg2="lt2" tx2="dk2" accent1="accent1" accent2="accent2" accent3="accent3" accent4="accent4" accent5="accent5" accent6="accent6" hlink="hlink" folHlink="folHlink"/>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Goals of Malware Analysis</a:t>
            </a:r>
          </a:p>
        </p:txBody>
      </p:sp>
      <p:sp>
        <p:nvSpPr>
          <p:cNvPr id="4" name="object 2">
            <a:extLst>
              <a:ext uri="{FF2B5EF4-FFF2-40B4-BE49-F238E27FC236}">
                <a16:creationId xmlns:a16="http://schemas.microsoft.com/office/drawing/2014/main" id="{710697C0-B4A6-43E2-8238-C04367AD4AA1}"/>
              </a:ext>
            </a:extLst>
          </p:cNvPr>
          <p:cNvSpPr/>
          <p:nvPr/>
        </p:nvSpPr>
        <p:spPr>
          <a:xfrm>
            <a:off x="1319170" y="1825624"/>
            <a:ext cx="9903546" cy="2990215"/>
          </a:xfrm>
          <a:prstGeom prst="rect">
            <a:avLst/>
          </a:prstGeom>
          <a:blipFill>
            <a:blip r:embed="rId3" cstate="print"/>
            <a:stretch>
              <a:fillRect/>
            </a:stretch>
          </a:blipFill>
        </p:spPr>
        <p:txBody>
          <a:bodyPr wrap="square" lIns="0" tIns="0" rIns="0" bIns="0" rtlCol="0"/>
          <a:lstStyle/>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endParaRPr lang="en-US" sz="2400" dirty="0"/>
          </a:p>
          <a:p>
            <a:pPr marL="285750" indent="-285750">
              <a:buFont typeface="Wingdings" panose="05000000000000000000" pitchFamily="2" charset="2"/>
              <a:buChar char="Ø"/>
            </a:pPr>
            <a:r>
              <a:rPr lang="en-US" sz="2400" dirty="0"/>
              <a:t>Information required to respond to a network intrusion</a:t>
            </a:r>
          </a:p>
          <a:p>
            <a:pPr marL="742950" lvl="1" indent="-285750">
              <a:buFont typeface="Wingdings" panose="05000000000000000000" pitchFamily="2" charset="2"/>
              <a:buChar char="Ø"/>
            </a:pPr>
            <a:r>
              <a:rPr lang="en-US" sz="2400" dirty="0"/>
              <a:t>Exactly what happened</a:t>
            </a:r>
          </a:p>
          <a:p>
            <a:pPr marL="742950" lvl="1" indent="-285750">
              <a:buFont typeface="Wingdings" panose="05000000000000000000" pitchFamily="2" charset="2"/>
              <a:buChar char="Ø"/>
            </a:pPr>
            <a:r>
              <a:rPr lang="en-US" sz="2400" dirty="0"/>
              <a:t>Ensure you’ve located all infected machines and files</a:t>
            </a:r>
          </a:p>
          <a:p>
            <a:pPr marL="742950" lvl="1" indent="-285750">
              <a:buFont typeface="Wingdings" panose="05000000000000000000" pitchFamily="2" charset="2"/>
              <a:buChar char="Ø"/>
            </a:pPr>
            <a:r>
              <a:rPr lang="en-US" sz="2400" dirty="0"/>
              <a:t>How to measure and contain the damage</a:t>
            </a:r>
          </a:p>
          <a:p>
            <a:pPr marL="742950" lvl="1" indent="-285750">
              <a:buFont typeface="Wingdings" panose="05000000000000000000" pitchFamily="2" charset="2"/>
              <a:buChar char="Ø"/>
            </a:pPr>
            <a:r>
              <a:rPr lang="en-US" sz="2400" dirty="0"/>
              <a:t>Find signatures for intrusion detection systems</a:t>
            </a:r>
          </a:p>
        </p:txBody>
      </p:sp>
    </p:spTree>
    <p:extLst>
      <p:ext uri="{BB962C8B-B14F-4D97-AF65-F5344CB8AC3E}">
        <p14:creationId xmlns:p14="http://schemas.microsoft.com/office/powerpoint/2010/main" val="1460275867"/>
      </p:ext>
    </p:extLst>
  </p:cSld>
  <p:clrMapOvr>
    <a:overrideClrMapping bg1="lt1" tx1="dk1" bg2="lt2" tx2="dk2" accent1="accent1" accent2="accent2" accent3="accent3" accent4="accent4" accent5="accent5" accent6="accent6" hlink="hlink" folHlink="folHlink"/>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dirty="0">
                <a:latin typeface="Times New Roman" panose="02020603050405020304" pitchFamily="18" charset="0"/>
                <a:cs typeface="Times New Roman" panose="02020603050405020304" pitchFamily="18" charset="0"/>
              </a:rPr>
              <a:t>Malware Classification 1/2</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29</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20"/>
            <a:ext cx="9903546" cy="3906980"/>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Classification is the process of </a:t>
            </a:r>
            <a:r>
              <a:rPr lang="en-US" sz="2400" u="sng" dirty="0">
                <a:latin typeface="Times New Roman" panose="02020603050405020304" pitchFamily="18" charset="0"/>
                <a:cs typeface="Times New Roman" panose="02020603050405020304" pitchFamily="18" charset="0"/>
              </a:rPr>
              <a:t>assigning a malware sample </a:t>
            </a:r>
            <a:r>
              <a:rPr lang="en-US" sz="2400" dirty="0">
                <a:latin typeface="Times New Roman" panose="02020603050405020304" pitchFamily="18" charset="0"/>
                <a:cs typeface="Times New Roman" panose="02020603050405020304" pitchFamily="18" charset="0"/>
              </a:rPr>
              <a:t>to a specific </a:t>
            </a:r>
            <a:r>
              <a:rPr lang="en-US" sz="2400" u="sng" dirty="0">
                <a:latin typeface="Times New Roman" panose="02020603050405020304" pitchFamily="18" charset="0"/>
                <a:cs typeface="Times New Roman" panose="02020603050405020304" pitchFamily="18" charset="0"/>
              </a:rPr>
              <a:t>malware family.</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Malware within a family shares </a:t>
            </a:r>
            <a:r>
              <a:rPr lang="en-US" sz="2400" dirty="0">
                <a:solidFill>
                  <a:srgbClr val="FF0000"/>
                </a:solidFill>
                <a:latin typeface="Times New Roman" panose="02020603050405020304" pitchFamily="18" charset="0"/>
                <a:cs typeface="Times New Roman" panose="02020603050405020304" pitchFamily="18" charset="0"/>
              </a:rPr>
              <a:t>similar properties </a:t>
            </a:r>
            <a:r>
              <a:rPr lang="en-US" sz="2400" dirty="0">
                <a:latin typeface="Times New Roman" panose="02020603050405020304" pitchFamily="18" charset="0"/>
                <a:cs typeface="Times New Roman" panose="02020603050405020304" pitchFamily="18" charset="0"/>
              </a:rPr>
              <a:t>that can be used to create signatures for detection and classification.</a:t>
            </a: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Signatures can be categorized as </a:t>
            </a:r>
            <a:r>
              <a:rPr lang="en-US" sz="2400" b="1" dirty="0">
                <a:latin typeface="Times New Roman" panose="02020603050405020304" pitchFamily="18" charset="0"/>
                <a:cs typeface="Times New Roman" panose="02020603050405020304" pitchFamily="18" charset="0"/>
              </a:rPr>
              <a:t>static or dynamic </a:t>
            </a:r>
            <a:r>
              <a:rPr lang="en-US" sz="2400" dirty="0">
                <a:latin typeface="Times New Roman" panose="02020603050405020304" pitchFamily="18" charset="0"/>
                <a:cs typeface="Times New Roman" panose="02020603050405020304" pitchFamily="18" charset="0"/>
              </a:rPr>
              <a:t>based on how they are extracted. </a:t>
            </a:r>
          </a:p>
        </p:txBody>
      </p:sp>
    </p:spTree>
    <p:extLst>
      <p:ext uri="{BB962C8B-B14F-4D97-AF65-F5344CB8AC3E}">
        <p14:creationId xmlns:p14="http://schemas.microsoft.com/office/powerpoint/2010/main" val="21925294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377369" y="120580"/>
            <a:ext cx="734244" cy="507442"/>
          </a:xfrm>
          <a:prstGeom prst="rect">
            <a:avLst/>
          </a:prstGeom>
        </p:spPr>
      </p:pic>
      <p:sp>
        <p:nvSpPr>
          <p:cNvPr id="7" name="Title 1">
            <a:extLst>
              <a:ext uri="{FF2B5EF4-FFF2-40B4-BE49-F238E27FC236}">
                <a16:creationId xmlns:a16="http://schemas.microsoft.com/office/drawing/2014/main" id="{6339E96D-C56B-4D4A-923F-272EAA1A02EA}"/>
              </a:ext>
            </a:extLst>
          </p:cNvPr>
          <p:cNvSpPr>
            <a:spLocks noGrp="1" noChangeArrowheads="1"/>
          </p:cNvSpPr>
          <p:nvPr>
            <p:ph type="title"/>
          </p:nvPr>
        </p:nvSpPr>
        <p:spPr>
          <a:xfrm>
            <a:off x="819872" y="345014"/>
            <a:ext cx="10383982" cy="1062666"/>
          </a:xfrm>
        </p:spPr>
        <p:txBody>
          <a:bodyPr>
            <a:normAutofit/>
          </a:bodyPr>
          <a:lstStyle/>
          <a:p>
            <a:r>
              <a:rPr lang="en-US" sz="4000" b="1">
                <a:latin typeface="Times New Roman" panose="02020603050405020304" pitchFamily="18" charset="0"/>
                <a:cs typeface="Times New Roman" panose="02020603050405020304" pitchFamily="18" charset="0"/>
              </a:rPr>
              <a:t>Malware Classification 2/2</a:t>
            </a:r>
            <a:endParaRPr lang="en-US" sz="4000" b="1" dirty="0">
              <a:latin typeface="Times New Roman" panose="02020603050405020304" pitchFamily="18" charset="0"/>
              <a:cs typeface="Times New Roman" panose="02020603050405020304" pitchFamily="18" charset="0"/>
            </a:endParaRP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6" name="Slide Number Placeholder 5"/>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30</a:t>
            </a:fld>
            <a:endParaRPr lang="en-US" b="1">
              <a:solidFill>
                <a:schemeClr val="tx1"/>
              </a:solidFill>
              <a:latin typeface="Times New Roman" panose="02020603050405020304" pitchFamily="18" charset="0"/>
              <a:cs typeface="Times New Roman" panose="02020603050405020304" pitchFamily="18" charset="0"/>
            </a:endParaRPr>
          </a:p>
        </p:txBody>
      </p:sp>
      <p:sp>
        <p:nvSpPr>
          <p:cNvPr id="11" name="object 2"/>
          <p:cNvSpPr/>
          <p:nvPr/>
        </p:nvSpPr>
        <p:spPr>
          <a:xfrm>
            <a:off x="819872" y="1731819"/>
            <a:ext cx="9460201" cy="3269671"/>
          </a:xfrm>
          <a:prstGeom prst="rect">
            <a:avLst/>
          </a:prstGeom>
          <a:blipFill>
            <a:blip r:embed="rId3" cstate="print"/>
            <a:stretch>
              <a:fillRect/>
            </a:stretch>
          </a:blipFill>
        </p:spPr>
        <p:txBody>
          <a:bodyPr wrap="square" lIns="0" tIns="0" rIns="0" bIns="0" rtlCol="0"/>
          <a:lstStyle/>
          <a:p>
            <a:pPr marL="342900" indent="-342900">
              <a:buClr>
                <a:srgbClr val="FF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Static signature </a:t>
            </a:r>
            <a:r>
              <a:rPr lang="en-US" sz="2400" dirty="0">
                <a:latin typeface="Times New Roman" panose="02020603050405020304" pitchFamily="18" charset="0"/>
                <a:cs typeface="Times New Roman" panose="02020603050405020304" pitchFamily="18" charset="0"/>
              </a:rPr>
              <a:t>can be based on a byte-code sequence, binary assembly instruction, or an imported Dynamic Link Library (DLL).</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b="1" dirty="0">
                <a:latin typeface="Times New Roman" panose="02020603050405020304" pitchFamily="18" charset="0"/>
                <a:cs typeface="Times New Roman" panose="02020603050405020304" pitchFamily="18" charset="0"/>
              </a:rPr>
              <a:t>Dynamic signature </a:t>
            </a:r>
            <a:r>
              <a:rPr lang="en-US" sz="2400" dirty="0">
                <a:latin typeface="Times New Roman" panose="02020603050405020304" pitchFamily="18" charset="0"/>
                <a:cs typeface="Times New Roman" panose="02020603050405020304" pitchFamily="18" charset="0"/>
              </a:rPr>
              <a:t>can be based on file system activities, terminal commands, network communications, or function and system call sequences.</a:t>
            </a:r>
          </a:p>
          <a:p>
            <a:pPr marL="342900" indent="-342900">
              <a:buClr>
                <a:srgbClr val="FF0000"/>
              </a:buClr>
              <a:buFont typeface="Wingdings" panose="05000000000000000000" pitchFamily="2" charset="2"/>
              <a:buChar char="Ø"/>
            </a:pPr>
            <a:endParaRPr lang="en-US" sz="2400" dirty="0">
              <a:latin typeface="Times New Roman" panose="02020603050405020304" pitchFamily="18" charset="0"/>
              <a:cs typeface="Times New Roman" panose="02020603050405020304" pitchFamily="18" charset="0"/>
            </a:endParaRPr>
          </a:p>
          <a:p>
            <a:pPr marL="342900" indent="-342900">
              <a:buClr>
                <a:srgbClr val="FF0000"/>
              </a:buClr>
              <a:buFont typeface="Wingdings" panose="05000000000000000000" pitchFamily="2" charset="2"/>
              <a:buChar char="Ø"/>
            </a:pPr>
            <a:r>
              <a:rPr lang="en-US" sz="2400" dirty="0">
                <a:latin typeface="Times New Roman" panose="02020603050405020304" pitchFamily="18" charset="0"/>
                <a:cs typeface="Times New Roman" panose="02020603050405020304" pitchFamily="18" charset="0"/>
              </a:rPr>
              <a:t>Malicious software can be classified into families, each family originating from a single source base and exhibiting a set of consistent behaviors.</a:t>
            </a:r>
          </a:p>
        </p:txBody>
      </p:sp>
    </p:spTree>
    <p:extLst>
      <p:ext uri="{BB962C8B-B14F-4D97-AF65-F5344CB8AC3E}">
        <p14:creationId xmlns:p14="http://schemas.microsoft.com/office/powerpoint/2010/main" val="22660689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5" name="object 5"/>
          <p:cNvSpPr txBox="1"/>
          <p:nvPr/>
        </p:nvSpPr>
        <p:spPr>
          <a:xfrm>
            <a:off x="5532120" y="321643"/>
            <a:ext cx="7725780" cy="5990743"/>
          </a:xfrm>
          <a:prstGeom prst="rect">
            <a:avLst/>
          </a:prstGeom>
        </p:spPr>
        <p:txBody>
          <a:bodyPr vert="horz" wrap="square" lIns="0" tIns="85725" rIns="0" bIns="0" rtlCol="0">
            <a:spAutoFit/>
          </a:bodyPr>
          <a:lstStyle/>
          <a:p>
            <a:pPr marL="469900" indent="-457200">
              <a:spcBef>
                <a:spcPts val="675"/>
              </a:spcBef>
              <a:buClr>
                <a:srgbClr val="FF0000"/>
              </a:buClr>
              <a:buFont typeface="+mj-lt"/>
              <a:buAutoNum type="arabicPeriod"/>
              <a:tabLst>
                <a:tab pos="241300" algn="l"/>
              </a:tabLst>
            </a:pPr>
            <a:r>
              <a:rPr lang="en-US" sz="2400" dirty="0">
                <a:latin typeface="Times New Roman" panose="02020603050405020304" pitchFamily="18" charset="0"/>
                <a:cs typeface="Times New Roman" panose="02020603050405020304" pitchFamily="18" charset="0"/>
              </a:rPr>
              <a:t>Malware Attack</a:t>
            </a:r>
          </a:p>
          <a:p>
            <a:pPr marL="469900" indent="-457200">
              <a:spcBef>
                <a:spcPts val="675"/>
              </a:spcBef>
              <a:buClr>
                <a:srgbClr val="FF0000"/>
              </a:buClr>
              <a:buFont typeface="+mj-lt"/>
              <a:buAutoNum type="arabicPeriod"/>
              <a:tabLst>
                <a:tab pos="241300" algn="l"/>
              </a:tabLst>
            </a:pPr>
            <a:r>
              <a:rPr lang="en-US" sz="2400" dirty="0">
                <a:latin typeface="Times New Roman" panose="02020603050405020304" pitchFamily="18" charset="0"/>
                <a:cs typeface="Times New Roman" panose="02020603050405020304" pitchFamily="18" charset="0"/>
              </a:rPr>
              <a:t>Malware Types</a:t>
            </a:r>
          </a:p>
          <a:p>
            <a:pPr marL="1257300" lvl="2"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Concealment </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Trojan horses</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Backdoors (trapdoors)</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Logic bombs</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Rootkits </a:t>
            </a:r>
          </a:p>
          <a:p>
            <a:pPr marL="1257300" lvl="2"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Infections </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Viruses</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Worms</a:t>
            </a:r>
          </a:p>
          <a:p>
            <a:pPr marL="1257300" lvl="2"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Malware for stealing information</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Spyware </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Keyloggers </a:t>
            </a:r>
          </a:p>
          <a:p>
            <a:pPr marL="1257300" lvl="2"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Malware for profit</a:t>
            </a:r>
          </a:p>
          <a:p>
            <a:pPr marL="1714500" lvl="3" indent="-342900">
              <a:buClr>
                <a:srgbClr val="FF0000"/>
              </a:buClr>
              <a:buFont typeface="Wingdings" panose="05000000000000000000" pitchFamily="2" charset="2"/>
              <a:buChar char="v"/>
            </a:pPr>
            <a:r>
              <a:rPr lang="en-GB" sz="2000" dirty="0">
                <a:latin typeface="Times New Roman" panose="02020603050405020304" pitchFamily="18" charset="0"/>
                <a:cs typeface="Times New Roman" panose="02020603050405020304" pitchFamily="18" charset="0"/>
              </a:rPr>
              <a:t>Ransomware</a:t>
            </a:r>
          </a:p>
          <a:p>
            <a:pPr marL="1257300" lvl="2" indent="-342900">
              <a:buClr>
                <a:srgbClr val="FF0000"/>
              </a:buClr>
              <a:buFont typeface="Wingdings" panose="05000000000000000000" pitchFamily="2" charset="2"/>
              <a:buChar char="Ø"/>
            </a:pPr>
            <a:r>
              <a:rPr lang="en-GB" sz="2400" dirty="0">
                <a:latin typeface="Times New Roman" panose="02020603050405020304" pitchFamily="18" charset="0"/>
                <a:cs typeface="Times New Roman" panose="02020603050405020304" pitchFamily="18" charset="0"/>
              </a:rPr>
              <a:t> Botnets</a:t>
            </a:r>
            <a:endParaRPr lang="en-US" sz="2400" dirty="0">
              <a:latin typeface="Times New Roman" panose="02020603050405020304" pitchFamily="18" charset="0"/>
              <a:cs typeface="Times New Roman" panose="02020603050405020304" pitchFamily="18" charset="0"/>
            </a:endParaRPr>
          </a:p>
          <a:p>
            <a:pPr marL="12700">
              <a:spcBef>
                <a:spcPts val="675"/>
              </a:spcBef>
              <a:buClr>
                <a:srgbClr val="FF0000"/>
              </a:buClr>
              <a:tabLst>
                <a:tab pos="241300" algn="l"/>
              </a:tabLst>
            </a:pPr>
            <a:r>
              <a:rPr lang="en-US" sz="2400" dirty="0">
                <a:solidFill>
                  <a:srgbClr val="FF0000"/>
                </a:solidFill>
                <a:latin typeface="Times New Roman" panose="02020603050405020304" pitchFamily="18" charset="0"/>
                <a:cs typeface="Times New Roman" panose="02020603050405020304" pitchFamily="18" charset="0"/>
              </a:rPr>
              <a:t>3. </a:t>
            </a:r>
            <a:r>
              <a:rPr lang="en-US" sz="2400" dirty="0">
                <a:latin typeface="Times New Roman" panose="02020603050405020304" pitchFamily="18" charset="0"/>
                <a:cs typeface="Times New Roman" panose="02020603050405020304" pitchFamily="18" charset="0"/>
              </a:rPr>
              <a:t>Malware Classification</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sp>
        <p:nvSpPr>
          <p:cNvPr id="9" name="Title 9"/>
          <p:cNvSpPr txBox="1">
            <a:spLocks/>
          </p:cNvSpPr>
          <p:nvPr/>
        </p:nvSpPr>
        <p:spPr>
          <a:xfrm>
            <a:off x="2177" y="-411480"/>
            <a:ext cx="5743303" cy="1432560"/>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GB" sz="4000" b="1" dirty="0">
                <a:latin typeface="Times New Roman" panose="02020603050405020304" pitchFamily="18" charset="0"/>
                <a:cs typeface="Times New Roman" panose="02020603050405020304" pitchFamily="18" charset="0"/>
              </a:rPr>
              <a:t>Conclusion</a:t>
            </a:r>
          </a:p>
        </p:txBody>
      </p:sp>
      <p:sp>
        <p:nvSpPr>
          <p:cNvPr id="14"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3" name="Slide Number Placeholder 12"/>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31</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78204429"/>
      </p:ext>
    </p:extLst>
  </p:cSld>
  <p:clrMapOvr>
    <a:overrideClrMapping bg1="lt1" tx1="dk1" bg2="lt2" tx2="dk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accent1">
            <a:lumMod val="40000"/>
            <a:lumOff val="60000"/>
          </a:schemeClr>
        </a:solidFill>
        <a:effectLst/>
      </p:bgPr>
    </p:bg>
    <p:spTree>
      <p:nvGrpSpPr>
        <p:cNvPr id="1" name=""/>
        <p:cNvGrpSpPr/>
        <p:nvPr/>
      </p:nvGrpSpPr>
      <p:grpSpPr>
        <a:xfrm>
          <a:off x="0" y="0"/>
          <a:ext cx="0" cy="0"/>
          <a:chOff x="0" y="0"/>
          <a:chExt cx="0" cy="0"/>
        </a:xfrm>
      </p:grpSpPr>
      <p:sp>
        <p:nvSpPr>
          <p:cNvPr id="2" name="object 2"/>
          <p:cNvSpPr/>
          <p:nvPr/>
        </p:nvSpPr>
        <p:spPr>
          <a:xfrm>
            <a:off x="1097281" y="1799971"/>
            <a:ext cx="10115202" cy="4509389"/>
          </a:xfrm>
          <a:prstGeom prst="rect">
            <a:avLst/>
          </a:prstGeom>
          <a:blipFill>
            <a:blip r:embed="rId2" cstate="print"/>
            <a:stretch>
              <a:fillRect/>
            </a:stretch>
          </a:blipFill>
        </p:spPr>
        <p:txBody>
          <a:bodyPr wrap="square" lIns="0" tIns="0" rIns="0" bIns="0" rtlCol="0"/>
          <a:lstStyle/>
          <a:p>
            <a:endParaRPr>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77369" y="146706"/>
            <a:ext cx="734244" cy="507442"/>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499" y="2286000"/>
            <a:ext cx="9718766" cy="3148149"/>
          </a:xfrm>
          <a:prstGeom prst="rect">
            <a:avLst/>
          </a:prstGeom>
        </p:spPr>
      </p:pic>
      <p:sp>
        <p:nvSpPr>
          <p:cNvPr id="11" name="Footer Placeholder 3"/>
          <p:cNvSpPr>
            <a:spLocks noGrp="1"/>
          </p:cNvSpPr>
          <p:nvPr>
            <p:ph type="ftr" sz="quarter" idx="11"/>
          </p:nvPr>
        </p:nvSpPr>
        <p:spPr>
          <a:xfrm>
            <a:off x="3413126" y="6355639"/>
            <a:ext cx="5197474" cy="365125"/>
          </a:xfrm>
        </p:spPr>
        <p:txBody>
          <a:bodyPr/>
          <a:lstStyle/>
          <a:p>
            <a:r>
              <a:rPr lang="en-GB" b="1" dirty="0">
                <a:solidFill>
                  <a:schemeClr val="tx1"/>
                </a:solidFill>
                <a:latin typeface="Times New Roman" panose="02020603050405020304" pitchFamily="18" charset="0"/>
                <a:cs typeface="Times New Roman" panose="02020603050405020304" pitchFamily="18" charset="0"/>
              </a:rPr>
              <a:t>NATIONAL UNIVERSITY OF COMPUTER &amp; EMERGING SCIENCES</a:t>
            </a:r>
            <a:endParaRPr lang="en-US" b="1" dirty="0">
              <a:solidFill>
                <a:schemeClr val="tx1"/>
              </a:solidFill>
              <a:latin typeface="Times New Roman" panose="02020603050405020304" pitchFamily="18" charset="0"/>
              <a:cs typeface="Times New Roman" panose="02020603050405020304" pitchFamily="18" charset="0"/>
            </a:endParaRPr>
          </a:p>
        </p:txBody>
      </p:sp>
      <p:sp>
        <p:nvSpPr>
          <p:cNvPr id="10" name="Slide Number Placeholder 9"/>
          <p:cNvSpPr>
            <a:spLocks noGrp="1"/>
          </p:cNvSpPr>
          <p:nvPr>
            <p:ph type="sldNum" sz="quarter" idx="12"/>
          </p:nvPr>
        </p:nvSpPr>
        <p:spPr/>
        <p:txBody>
          <a:bodyPr/>
          <a:lstStyle/>
          <a:p>
            <a:fld id="{13C51ED2-AC48-45BF-9843-B46461D80413}" type="slidenum">
              <a:rPr lang="en-US" b="1" smtClean="0">
                <a:solidFill>
                  <a:schemeClr val="tx1"/>
                </a:solidFill>
                <a:latin typeface="Times New Roman" panose="02020603050405020304" pitchFamily="18" charset="0"/>
                <a:cs typeface="Times New Roman" panose="02020603050405020304" pitchFamily="18" charset="0"/>
              </a:rPr>
              <a:t>32</a:t>
            </a:fld>
            <a:endParaRPr lang="en-US"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3516182"/>
      </p:ext>
    </p:extLst>
  </p:cSld>
  <p:clrMapOvr>
    <a:masterClrMapping/>
  </p:clrMapOvr>
</p:sld>
</file>

<file path=ppt/theme/theme1.xml><?xml version="1.0" encoding="utf-8"?>
<a:theme xmlns:a="http://schemas.openxmlformats.org/drawingml/2006/main" name="Lecture 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3042</TotalTime>
  <Words>2060</Words>
  <Application>Microsoft Office PowerPoint</Application>
  <PresentationFormat>Widescreen</PresentationFormat>
  <Paragraphs>309</Paragraphs>
  <Slides>32</Slides>
  <Notes>2</Notes>
  <HiddenSlides>3</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Calibri Light</vt:lpstr>
      <vt:lpstr>Times New Roman</vt:lpstr>
      <vt:lpstr>Wingdings</vt:lpstr>
      <vt:lpstr>Lecture 01</vt:lpstr>
      <vt:lpstr>PowerPoint Presentation</vt:lpstr>
      <vt:lpstr>PowerPoint Presentation</vt:lpstr>
      <vt:lpstr>Malware attack</vt:lpstr>
      <vt:lpstr>Malware Types</vt:lpstr>
      <vt:lpstr>Concealment (1/4)</vt:lpstr>
      <vt:lpstr>Concealment (2/4)</vt:lpstr>
      <vt:lpstr>Concealment (3/4)</vt:lpstr>
      <vt:lpstr>Concealment (4/4)</vt:lpstr>
      <vt:lpstr>Infections (1/2)</vt:lpstr>
      <vt:lpstr>Infections (2/2)</vt:lpstr>
      <vt:lpstr>Malware for stealing information (1/4)</vt:lpstr>
      <vt:lpstr>Malware for stealing information (2/4)</vt:lpstr>
      <vt:lpstr>Malware for stealing information (3/4)</vt:lpstr>
      <vt:lpstr>Malware for stealing information (4/4)</vt:lpstr>
      <vt:lpstr>Malware for profit 1/4</vt:lpstr>
      <vt:lpstr>Malware for profit 2/4</vt:lpstr>
      <vt:lpstr>Malware for profit 3/4</vt:lpstr>
      <vt:lpstr>Ransomware</vt:lpstr>
      <vt:lpstr>Bots &amp; Botnets 1/2</vt:lpstr>
      <vt:lpstr>Bots &amp; Botnets 2/2</vt:lpstr>
      <vt:lpstr>Adware &amp; Scams</vt:lpstr>
      <vt:lpstr>Spyware</vt:lpstr>
      <vt:lpstr>Malware Detection</vt:lpstr>
      <vt:lpstr>PowerPoint Presentation</vt:lpstr>
      <vt:lpstr>Malware Detection</vt:lpstr>
      <vt:lpstr>Incident Response</vt:lpstr>
      <vt:lpstr>Malware Analysis</vt:lpstr>
      <vt:lpstr>The Goals of Malware Analysis</vt:lpstr>
      <vt:lpstr>Malware Classification 1/2</vt:lpstr>
      <vt:lpstr>Malware Classification 2/2</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Enhancing the image steganography  using LSB substitution</dc:title>
  <dc:creator>Muhammad Umar Aftab</dc:creator>
  <cp:lastModifiedBy>Dr. Umar Aftab</cp:lastModifiedBy>
  <cp:revision>277</cp:revision>
  <dcterms:created xsi:type="dcterms:W3CDTF">2020-05-17T12:17:03Z</dcterms:created>
  <dcterms:modified xsi:type="dcterms:W3CDTF">2021-09-23T05:09:57Z</dcterms:modified>
</cp:coreProperties>
</file>