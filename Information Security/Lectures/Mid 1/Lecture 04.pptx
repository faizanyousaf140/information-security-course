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57" r:id="rId1"/>
  </p:sldMasterIdLst>
  <p:notesMasterIdLst>
    <p:notesMasterId r:id="rId47"/>
  </p:notesMasterIdLst>
  <p:handoutMasterIdLst>
    <p:handoutMasterId r:id="rId48"/>
  </p:handoutMasterIdLst>
  <p:sldIdLst>
    <p:sldId id="258" r:id="rId2"/>
    <p:sldId id="260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64" r:id="rId38"/>
    <p:sldId id="265" r:id="rId39"/>
    <p:sldId id="266" r:id="rId40"/>
    <p:sldId id="267" r:id="rId41"/>
    <p:sldId id="268" r:id="rId42"/>
    <p:sldId id="269" r:id="rId43"/>
    <p:sldId id="287" r:id="rId44"/>
    <p:sldId id="305" r:id="rId45"/>
    <p:sldId id="306" r:id="rId46"/>
  </p:sldIdLst>
  <p:sldSz cx="12192000" cy="6858000"/>
  <p:notesSz cx="7053263" cy="93091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i Hamza" initials="AH" lastIdx="3" clrIdx="0">
    <p:extLst>
      <p:ext uri="{19B8F6BF-5375-455C-9EA6-DF929625EA0E}">
        <p15:presenceInfo xmlns:p15="http://schemas.microsoft.com/office/powerpoint/2012/main" userId="S::f179026@cfd.nu.edu.pk::fc9d8215-e733-4df3-b2ca-e28ecc6820c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56" autoAdjust="0"/>
    <p:restoredTop sz="89416" autoAdjust="0"/>
  </p:normalViewPr>
  <p:slideViewPr>
    <p:cSldViewPr snapToGrid="0">
      <p:cViewPr varScale="1">
        <p:scale>
          <a:sx n="65" d="100"/>
          <a:sy n="65" d="100"/>
        </p:scale>
        <p:origin x="110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7072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5217" y="0"/>
            <a:ext cx="3056414" cy="467072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14960B17-FD8B-4764-8C28-99523272243B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56414" cy="467071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5217" y="8842030"/>
            <a:ext cx="3056414" cy="467071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BE3C136E-1DFE-4E9E-BE58-9DBEBA51C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5464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7072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5217" y="0"/>
            <a:ext cx="3056414" cy="467072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705A37F7-EBDD-4C50-A4DA-D2D30EABC4EE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497" tIns="46749" rIns="93497" bIns="4674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</p:spPr>
        <p:txBody>
          <a:bodyPr vert="horz" lIns="93497" tIns="46749" rIns="93497" bIns="4674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56414" cy="467071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5217" y="8842030"/>
            <a:ext cx="3056414" cy="467071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9E103808-D7BC-4AB5-B62E-2F3F4474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5533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49d605c33f00d0c3&amp;cs=0&amp;q=cyberattack&amp;sa=X&amp;ved=2ahUKEwj8pPX7-6iPAxXiK_sDHXKLJSUQxccNegQIAhAB&amp;mstk=AUtExfCvRspW1Pa1Xi90xKDc8TP0wf69BRSs1pDuyDx_jNiK35KtsDORdl5WlP08od5ScMindeyjXsoy6tw_2cMYphos0-4ycZ9snrb4ic5oHlM3SlCmDRl7X9HMHI2Zcr7FwtMIB_qDfs-cFelH7tMIIflpRRnK3opOu5ulXLL6_0iB8I0&amp;csui=3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95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58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81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876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NIST CSF (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National Institute of Standards and Technology Cybersecurity Framework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0750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Provide a Common Framework and Language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Establish a Baseline of Best Practices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Guide Risk Management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Promote a Proactive, Holistic Approach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70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person who carries out a harmful, illegal,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immoral act (</a:t>
            </a:r>
            <a:r>
              <a:rPr lang="en-US" sz="1200" b="1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perpetrators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7738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“Holding data hostage" refers to a </a:t>
            </a:r>
            <a:r>
              <a:rPr lang="en-US" sz="1200" b="0" i="0" u="non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cyberattack</a:t>
            </a:r>
            <a:r>
              <a:rPr lang="en-US" sz="1200" b="0" i="0" u="non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 smtClean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criminal gains access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a person's or organization's data and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denies them access to it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often by encrypting the files.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0685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polygraph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"lie detector," </a:t>
            </a:r>
            <a:r>
              <a:rPr lang="en-US" dirty="0" smtClean="0"/>
              <a:t>measures a person's physiological responses, such as blood pressure, pulse, respiration, and skin conductivity, while they answer a series of questions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8631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Cyber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espionage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act of gaining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unauthorized access to sensitive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 classified information through computer networks.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cybersecurity,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sabotage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 </a:t>
            </a:r>
            <a:r>
              <a:rPr lang="en-US" dirty="0" smtClean="0"/>
              <a:t>the deliberate action to damage, disrupt, or destroy an organization's IT infrastructure, data, or systems to achieve a specific goal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 smtClean="0"/>
          </a:p>
          <a:p>
            <a:r>
              <a:rPr lang="en-US" dirty="0" smtClean="0"/>
              <a:t>Reference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Book 1: COMPUTER SECURITY PRINCIPLES AND PRACTICE Fourth Edition William Stallings Lawrie Brown </a:t>
            </a:r>
            <a:br>
              <a:rPr lang="en-US" dirty="0"/>
            </a:br>
            <a:r>
              <a:rPr lang="en-US" dirty="0"/>
              <a:t>Page : 1375</a:t>
            </a:r>
          </a:p>
          <a:p>
            <a:r>
              <a:rPr lang="en-US" dirty="0"/>
              <a:t>Book 2: COMPUTER SECURITY PRINCIPLES AND PRACTICE Second Edition William Stallings Lawrie Brown </a:t>
            </a:r>
            <a:br>
              <a:rPr lang="en-US" dirty="0"/>
            </a:br>
            <a:r>
              <a:rPr lang="en-US" dirty="0"/>
              <a:t>page: 571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8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C729D-C6C8-84BA-FDA9-654CF0762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300E45-1441-7095-E643-47C313BA7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A15164-8449-60A4-BFCA-E5E1DF081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4F6108-0D60-7334-6A3C-73BC732E6A4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08E31D-EC5D-63AD-38A7-4A27222A04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9271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0353C-4F25-54CB-15B1-FD706F019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977AAC-20A3-2F8B-7A00-DE7B5FA94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6A30BC-14B6-B5F0-6D01-20C3D4102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4AE9F-1D4C-1CAB-F8B9-3AE318B0207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0D814-9E00-60F5-B857-E67C02E14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6247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BB2B4-5D88-4A40-D65A-A51B90484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F42295-8312-4C25-0365-875016F1A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2E7004-F759-41B8-3D9A-C0425CF57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7696D0-AEBE-6B42-2326-C7533E7540F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C812E9-0983-FC58-5AF2-284A04E831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847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B89F6-03F5-23AC-08EA-401B95C21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4FB758-F3AC-7DAC-8512-1AEB94650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F71AB-7ACD-412C-71C0-EACA5430C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C6AFA6-02E9-15B2-2563-C172D8B259D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B00A58-05F0-4211-EF7F-82E7ED45AF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8461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F7F70-8087-FC65-FC47-1F312584E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41A98E-3FAF-81C4-15B0-41EFC0E47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93ED9-1BB2-B26D-F1C4-1943C41B1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smtClean="0"/>
              <a:t>Lawsuit-&gt; filed</a:t>
            </a:r>
            <a:r>
              <a:rPr lang="en-US" sz="1200" baseline="0" dirty="0" smtClean="0"/>
              <a:t> Case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3FF111-8226-AC25-A9C7-BC3F7C660C0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F36E59-E523-8AD9-DA02-CAB56999FC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48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4F6CA-C46D-58B1-A3B7-E29FA2339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7ACDE7-F466-9E05-2CC9-94F77226C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B1F9F6-A7DC-12F8-3123-8929E884F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A21AC3-ED17-D041-A57B-ACD28FA30CE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D661A2-20CB-43A6-9D82-E32AF8A1F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329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4EE1D-7FA9-7323-C47F-24D2AEACA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BABDB-6910-A183-7291-E05D31204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879D53-4BA8-93BB-7C8C-B9A532A93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FD86AA-0009-41AC-2962-EDF5B9E3354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7CEB1-0026-2600-3EFA-9A1FF45BE8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197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F8282-87B3-F83F-729F-21A34FFDF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FFF9A6-4E41-A16E-EB84-00ABB3835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DE3B0D-F9BD-65BC-12FC-7BD4E93D0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D309B-6D60-1074-D7BC-84C800E394E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A7654-C88F-DA3C-90DE-34658C8777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9833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8666D-67F0-FA90-3BA1-DBFDB6EF0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4210D-E073-9603-4617-CB385364F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F83EA9-FD4B-A9C1-7650-4B025AA24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43FA6-5DEA-F6D1-53CA-3A8DDFAE687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7FB212-198C-54C7-4F44-EB702F84F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9978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Principles of Information Security Fourth Edition</a:t>
            </a:r>
            <a:br>
              <a:rPr lang="en-US" dirty="0"/>
            </a:br>
            <a:r>
              <a:rPr lang="en-US" dirty="0"/>
              <a:t>Page: 96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1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Clandestine: kept secret or done secretively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2278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DDoS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attack targeted all 13 root DNS servers on October 21, 2002. The attack lasted for about an hour, sending large amounts of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malicious traffic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the servers, which resulted in some performance degradation but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did not cause a complete outage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67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B6F35-1BDD-4C97-AB1B-0EF3FCD6E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947696-76E0-4A7D-AAFD-A0DD3F9BE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4AE90-3DAE-4874-9530-52E8010FE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246C-6510-4698-BE5B-78345F23A6B1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D150A-9FAA-4828-A677-51AFEF24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86D3E-B678-4E98-9CAB-2DA8A3D71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679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2CBAD-3D0B-4143-9F22-FA90EA938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CDE9C-1287-4D29-9B55-74AC74377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6A329-A0DE-4C1F-9375-037475244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7DFAF-66BC-4E20-9B1D-DC0448E5323F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9C9A8-FD46-4087-B413-AD97FC50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D4FC3-2CF7-4015-9D3D-3207E7797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60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A4D9C-53F3-4A72-BE30-B6CF7FF7D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5710C-DCE5-4A4B-88FC-2B7596F04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E503A-C05D-4150-BD6B-219A063F3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4DF65-B5CB-4C2A-9DAF-8C83FF1E3012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D3F93-B099-4DDE-BD8C-B20714AF3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7ECDD-92DF-4EE4-ABCC-7F12BEC4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4401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D001-769F-4BA5-A19F-7FAFE7419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A9AF7-6483-42F0-8F35-574519D093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4A1564-74CB-4E17-9893-B2015FF56B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936C1-0B68-40E0-860D-7865B35D1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42799-02D2-4A3E-BED6-7F1E5E9A51D9}" type="datetime1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18151-364F-4458-8674-792144FFF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28F02-F967-4106-A0CC-B4B85030B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95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62CDA-1423-4123-A20C-87A750BCE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1C7AD-81AF-4517-BCA3-E981E39E8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50C1FD-785A-494B-8266-BC643FB67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C1B3AF-BC32-4746-B151-0B007F0AF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A4EABE-E223-4C00-93C6-93A57D2CD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0ECE82-C73C-41C3-B8AB-264E828D7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22E7-A387-44A6-BEB9-C59A7D60876D}" type="datetime1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716326-244A-4808-B1E3-F1FDC9C10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65B595-FCF0-4FBE-9315-9E920D812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36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E9353-08EF-475D-97F8-BE6B46520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5C543B-33E3-48CF-B83C-C541D6CB6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E30F-1D36-4BE0-BC06-5E83DD9BE350}" type="datetime1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FC0699-826F-4A8E-B326-560AD252F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8C207-1278-4153-B420-9EF4A4494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916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768D0D-CD9A-4D7A-A953-4B80DEFCD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E4ECE-C233-447A-A174-0A57836539B8}" type="datetime1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9C46BD-36CF-41D8-9D61-3C0284DFA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CE466-759A-4047-8073-18F51B7B2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03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E62C7-A5DD-4E6E-AEC8-D2596C0A6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44E32-0A99-4A52-BB43-F9B356189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AF3BC2-6F12-4DBB-9471-4665FB534E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C92E9-B3F9-4DC5-B04D-6429BF06A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55E21-7CF7-4D44-8F02-045551EED843}" type="datetime1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C3CCC0-44D6-44E7-B3E2-F9508F2EE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E6695-AA5E-44D1-9985-4427DD580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51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8D7B4-D7B9-4CD5-8BBF-261B67DB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94BA48-7AB5-49D9-81E8-DFFBE9AB61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C2DDF-C490-4A6F-A58E-8725DD272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83A0D-2DAD-49E9-B1EE-9DF052C15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0839-95EF-4AEF-A139-C8CD2D92FE09}" type="datetime1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9279F-FA38-482C-A481-C161B9DC3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8492A-027C-44E9-8D07-DE52AB2C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29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5B1B3-8AAA-40ED-9E60-009698E2E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A64B8-4914-4368-9D4C-2DC37C25DC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F7E6B-9FD8-44E5-9EB9-16C15B413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A120-004F-44F7-AA80-A536C410B118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4B6C4-C406-42D6-87B7-00D9D10E7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E5894-C90C-431F-B702-4D6611A1E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897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951357-1906-49D4-8444-311DD8EBA0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6B0759-AC21-48C2-9875-B1BA606A6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DD895-74B7-4197-8E32-1C0EEA0F1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DFDAB-C4D1-4AEF-837D-F9115D5FE1B7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364BF-7EC4-4BC8-8DE0-0AA8186F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8166F-7663-4892-937D-7D4BBBAAD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4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96B69C-8C9A-4525-B3FF-650112E11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5E67D-B9E8-4E04-989F-BD8B8B97B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F7E2E-A1D1-4245-BA97-6E5FEB3FED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93555-EC39-4B3A-97B8-5F3BB501DD6F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F56F8-8C74-4301-8A02-2373AA653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07F5B-BED3-4B88-9FD6-1C81D123A7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5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8" r:id="rId1"/>
    <p:sldLayoutId id="2147484159" r:id="rId2"/>
    <p:sldLayoutId id="2147484160" r:id="rId3"/>
    <p:sldLayoutId id="2147484161" r:id="rId4"/>
    <p:sldLayoutId id="2147484162" r:id="rId5"/>
    <p:sldLayoutId id="2147484163" r:id="rId6"/>
    <p:sldLayoutId id="2147484164" r:id="rId7"/>
    <p:sldLayoutId id="2147484165" r:id="rId8"/>
    <p:sldLayoutId id="2147484166" r:id="rId9"/>
    <p:sldLayoutId id="2147484167" r:id="rId10"/>
    <p:sldLayoutId id="214748416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hyperlink" Target="https://sprinto.com/blog/iso-27001-risk-management-policy/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www.attackiq.com/wp-content/uploads/2021/02/cisos-guide-to-the-top-cybersecurity-frameworks.pdf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ist.gov/cyberframework" TargetMode="External"/><Relationship Id="rId5" Type="http://schemas.openxmlformats.org/officeDocument/2006/relationships/hyperlink" Target="https://www.scribd.com/document/900236879/Cybersecurity-Frameworks-and-Standards-1720047371" TargetMode="External"/><Relationship Id="rId4" Type="http://schemas.openxmlformats.org/officeDocument/2006/relationships/hyperlink" Target="https://nvlpubs.nist.gov/nistpubs/CSWP/NIST.CSWP.29.pdf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9095231" y="2054572"/>
            <a:ext cx="1193292" cy="2462783"/>
            <a:chOff x="7571231" y="2942844"/>
            <a:chExt cx="1193292" cy="2462783"/>
          </a:xfrm>
        </p:grpSpPr>
        <p:sp>
          <p:nvSpPr>
            <p:cNvPr id="7" name="object 7"/>
            <p:cNvSpPr/>
            <p:nvPr/>
          </p:nvSpPr>
          <p:spPr>
            <a:xfrm>
              <a:off x="7571231" y="2942844"/>
              <a:ext cx="1193292" cy="246278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712074" y="3136773"/>
              <a:ext cx="911225" cy="2075180"/>
            </a:xfrm>
            <a:custGeom>
              <a:avLst/>
              <a:gdLst/>
              <a:ahLst/>
              <a:cxnLst/>
              <a:rect l="l" t="t" r="r" b="b"/>
              <a:pathLst>
                <a:path w="911225" h="2075179">
                  <a:moveTo>
                    <a:pt x="0" y="2074926"/>
                  </a:moveTo>
                  <a:lnTo>
                    <a:pt x="911225" y="2074926"/>
                  </a:lnTo>
                  <a:lnTo>
                    <a:pt x="911225" y="0"/>
                  </a:lnTo>
                  <a:lnTo>
                    <a:pt x="0" y="0"/>
                  </a:lnTo>
                  <a:lnTo>
                    <a:pt x="0" y="2074926"/>
                  </a:lnTo>
                  <a:close/>
                </a:path>
              </a:pathLst>
            </a:custGeom>
            <a:ln w="6350">
              <a:solidFill>
                <a:srgbClr val="6B7C71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970087" y="2128412"/>
            <a:ext cx="6946900" cy="2244725"/>
            <a:chOff x="446087" y="3055873"/>
            <a:chExt cx="6946900" cy="2244725"/>
          </a:xfrm>
        </p:grpSpPr>
        <p:sp>
          <p:nvSpPr>
            <p:cNvPr id="11" name="object 11"/>
            <p:cNvSpPr/>
            <p:nvPr/>
          </p:nvSpPr>
          <p:spPr>
            <a:xfrm>
              <a:off x="446087" y="3055873"/>
              <a:ext cx="6946900" cy="2244725"/>
            </a:xfrm>
            <a:custGeom>
              <a:avLst/>
              <a:gdLst/>
              <a:ahLst/>
              <a:cxnLst/>
              <a:rect l="l" t="t" r="r" b="b"/>
              <a:pathLst>
                <a:path w="6946900" h="2244725">
                  <a:moveTo>
                    <a:pt x="6946900" y="0"/>
                  </a:moveTo>
                  <a:lnTo>
                    <a:pt x="0" y="0"/>
                  </a:lnTo>
                  <a:lnTo>
                    <a:pt x="0" y="2244725"/>
                  </a:lnTo>
                  <a:lnTo>
                    <a:pt x="6946900" y="2244725"/>
                  </a:lnTo>
                  <a:lnTo>
                    <a:pt x="69469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536575" y="3136899"/>
              <a:ext cx="6765925" cy="2082800"/>
            </a:xfrm>
            <a:custGeom>
              <a:avLst/>
              <a:gdLst/>
              <a:ahLst/>
              <a:cxnLst/>
              <a:rect l="l" t="t" r="r" b="b"/>
              <a:pathLst>
                <a:path w="6765925" h="2082800">
                  <a:moveTo>
                    <a:pt x="6764528" y="0"/>
                  </a:moveTo>
                  <a:lnTo>
                    <a:pt x="1422" y="0"/>
                  </a:lnTo>
                  <a:lnTo>
                    <a:pt x="0" y="1397"/>
                  </a:lnTo>
                  <a:lnTo>
                    <a:pt x="0" y="2081402"/>
                  </a:lnTo>
                  <a:lnTo>
                    <a:pt x="1422" y="2082800"/>
                  </a:lnTo>
                  <a:lnTo>
                    <a:pt x="6764528" y="2082800"/>
                  </a:lnTo>
                  <a:lnTo>
                    <a:pt x="6765925" y="2081402"/>
                  </a:lnTo>
                  <a:lnTo>
                    <a:pt x="6765925" y="2080641"/>
                  </a:lnTo>
                  <a:lnTo>
                    <a:pt x="2590" y="2080641"/>
                  </a:lnTo>
                  <a:lnTo>
                    <a:pt x="2120" y="2080260"/>
                  </a:lnTo>
                  <a:lnTo>
                    <a:pt x="2120" y="2539"/>
                  </a:lnTo>
                  <a:lnTo>
                    <a:pt x="2590" y="2159"/>
                  </a:lnTo>
                  <a:lnTo>
                    <a:pt x="6765925" y="2159"/>
                  </a:lnTo>
                  <a:lnTo>
                    <a:pt x="6765925" y="1397"/>
                  </a:lnTo>
                  <a:lnTo>
                    <a:pt x="6764528" y="0"/>
                  </a:lnTo>
                  <a:close/>
                </a:path>
                <a:path w="6765925" h="2082800">
                  <a:moveTo>
                    <a:pt x="6765925" y="2159"/>
                  </a:moveTo>
                  <a:lnTo>
                    <a:pt x="6763384" y="2159"/>
                  </a:lnTo>
                  <a:lnTo>
                    <a:pt x="6763766" y="2539"/>
                  </a:lnTo>
                  <a:lnTo>
                    <a:pt x="6763766" y="2080260"/>
                  </a:lnTo>
                  <a:lnTo>
                    <a:pt x="6763384" y="2080641"/>
                  </a:lnTo>
                  <a:lnTo>
                    <a:pt x="6765925" y="2080641"/>
                  </a:lnTo>
                  <a:lnTo>
                    <a:pt x="6765925" y="2159"/>
                  </a:lnTo>
                  <a:close/>
                </a:path>
                <a:path w="6765925" h="2082800">
                  <a:moveTo>
                    <a:pt x="6761733" y="4190"/>
                  </a:moveTo>
                  <a:lnTo>
                    <a:pt x="4229" y="4190"/>
                  </a:lnTo>
                  <a:lnTo>
                    <a:pt x="4229" y="2078608"/>
                  </a:lnTo>
                  <a:lnTo>
                    <a:pt x="6761733" y="2078608"/>
                  </a:lnTo>
                  <a:lnTo>
                    <a:pt x="6761733" y="2076450"/>
                  </a:lnTo>
                  <a:lnTo>
                    <a:pt x="6350" y="2076450"/>
                  </a:lnTo>
                  <a:lnTo>
                    <a:pt x="6350" y="6350"/>
                  </a:lnTo>
                  <a:lnTo>
                    <a:pt x="6761733" y="6350"/>
                  </a:lnTo>
                  <a:lnTo>
                    <a:pt x="6761733" y="4190"/>
                  </a:lnTo>
                  <a:close/>
                </a:path>
                <a:path w="6765925" h="2082800">
                  <a:moveTo>
                    <a:pt x="6761733" y="6350"/>
                  </a:moveTo>
                  <a:lnTo>
                    <a:pt x="6759575" y="6350"/>
                  </a:lnTo>
                  <a:lnTo>
                    <a:pt x="6759575" y="2076450"/>
                  </a:lnTo>
                  <a:lnTo>
                    <a:pt x="6761733" y="2076450"/>
                  </a:lnTo>
                  <a:lnTo>
                    <a:pt x="6761733" y="6350"/>
                  </a:lnTo>
                  <a:close/>
                </a:path>
              </a:pathLst>
            </a:custGeom>
            <a:solidFill>
              <a:srgbClr val="6B7C71"/>
            </a:solidFill>
          </p:spPr>
          <p:txBody>
            <a:bodyPr wrap="square" lIns="0" tIns="0" rIns="0" bIns="0" rtlCol="0"/>
            <a:lstStyle/>
            <a:p>
              <a:endParaRPr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065338" y="2158383"/>
            <a:ext cx="6756400" cy="1257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spcBef>
                <a:spcPts val="105"/>
              </a:spcBef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SECURITY</a:t>
            </a:r>
          </a:p>
          <a:p>
            <a:pPr marL="12700" marR="5080" algn="ctr">
              <a:spcBef>
                <a:spcPts val="105"/>
              </a:spcBef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Lecture 4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20580"/>
            <a:ext cx="734244" cy="50744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14E746-3243-6EB8-380B-880704540230}"/>
              </a:ext>
            </a:extLst>
          </p:cNvPr>
          <p:cNvSpPr txBox="1"/>
          <p:nvPr/>
        </p:nvSpPr>
        <p:spPr>
          <a:xfrm>
            <a:off x="2065338" y="3830573"/>
            <a:ext cx="6756400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Dr. Muhammad Umar </a:t>
            </a:r>
            <a:r>
              <a:rPr lang="en-US" sz="2400" dirty="0" err="1" smtClean="0">
                <a:solidFill>
                  <a:schemeClr val="tx1"/>
                </a:solidFill>
              </a:rPr>
              <a:t>Aftab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005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5217" y="2022712"/>
            <a:ext cx="8794820" cy="183319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+mj-lt"/>
              <a:buAutoNum type="arabicPeriod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Design and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+mj-lt"/>
              <a:buAutoNum type="arabicPeriod"/>
              <a:tabLst>
                <a:tab pos="241300" algn="l"/>
              </a:tabLst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Ex-Employee Threats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+mj-lt"/>
              <a:buAutoNum type="arabicPeriod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Criminal Era Competitor Threats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+mj-lt"/>
              <a:buAutoNum type="arabicPeriod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Cyberwar and Cyberterrorism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</a:t>
            </a:r>
            <a:r>
              <a:rPr lang="en-GB" sz="4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008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13" name="object 2"/>
          <p:cNvSpPr/>
          <p:nvPr/>
        </p:nvSpPr>
        <p:spPr>
          <a:xfrm>
            <a:off x="1144153" y="2363979"/>
            <a:ext cx="9893962" cy="10732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r>
              <a:rPr lang="en-US" sz="4000" dirty="0"/>
              <a:t>Principles of Design and Defense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394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13" name="object 2"/>
          <p:cNvSpPr/>
          <p:nvPr/>
        </p:nvSpPr>
        <p:spPr>
          <a:xfrm>
            <a:off x="821635" y="1245705"/>
            <a:ext cx="11171582" cy="48237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/>
              <a:t>The National Centers of Academic Excellence in Information Assurance/Cyber Defense, which is jointly sponsored by the U.S. National Security Agency and the U. S. Department of Homeland Security, list the following as fundamental security design principles [NCAE13</a:t>
            </a:r>
            <a:r>
              <a:rPr lang="en-US" sz="2400" dirty="0" smtClean="0"/>
              <a:t>]: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Economy of mechanism: </a:t>
            </a:r>
            <a:r>
              <a:rPr lang="en-US" sz="2400" dirty="0"/>
              <a:t>Keep security designs simple and small to minimize vulnerabilities.</a:t>
            </a:r>
            <a:endParaRPr lang="en-US" sz="2400" dirty="0" smtClean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Fail-safe defaults: </a:t>
            </a:r>
            <a:r>
              <a:rPr lang="en-US" sz="2400" dirty="0"/>
              <a:t>Deny access by default unless explicitly permitted.</a:t>
            </a:r>
            <a:endParaRPr lang="en-US" sz="2400" dirty="0" smtClean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dirty="0" smtClean="0"/>
              <a:t>Complete mediation: </a:t>
            </a:r>
            <a:r>
              <a:rPr lang="en-US" sz="2400" dirty="0"/>
              <a:t>Check every access request against security policies without exception.</a:t>
            </a:r>
            <a:endParaRPr lang="en-US" sz="2400" b="1" dirty="0" smtClean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dirty="0" smtClean="0"/>
              <a:t>Open design: </a:t>
            </a:r>
            <a:r>
              <a:rPr lang="en-US" sz="2400" dirty="0"/>
              <a:t>Security should not rely on secrecy of design or implementation.</a:t>
            </a:r>
            <a:endParaRPr lang="en-US" sz="2400" b="1" dirty="0" smtClean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dirty="0" smtClean="0"/>
              <a:t>Separation </a:t>
            </a:r>
            <a:r>
              <a:rPr lang="en-US" sz="2400" b="1" dirty="0"/>
              <a:t>of </a:t>
            </a:r>
            <a:r>
              <a:rPr lang="en-US" sz="2400" b="1" dirty="0" smtClean="0"/>
              <a:t>privilege: </a:t>
            </a:r>
            <a:r>
              <a:rPr lang="en-US" sz="2400" dirty="0"/>
              <a:t>Require multiple independent conditions for access</a:t>
            </a:r>
            <a:r>
              <a:rPr lang="en-US" sz="2400" dirty="0" smtClean="0"/>
              <a:t>.</a:t>
            </a:r>
            <a:endParaRPr lang="en-US" sz="2400" b="1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1391479" y="565463"/>
            <a:ext cx="934278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Fundamental Security Design Principles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670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13" name="object 2"/>
          <p:cNvSpPr/>
          <p:nvPr/>
        </p:nvSpPr>
        <p:spPr>
          <a:xfrm>
            <a:off x="841955" y="1550348"/>
            <a:ext cx="11171582" cy="479816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Least privilege: </a:t>
            </a:r>
            <a:r>
              <a:rPr lang="en-US" sz="2400" dirty="0"/>
              <a:t>Grant only the minimum access rights necessary to perform a task</a:t>
            </a:r>
            <a:r>
              <a:rPr lang="en-US" sz="2400" dirty="0" smtClean="0"/>
              <a:t>.</a:t>
            </a:r>
            <a:endParaRPr lang="en-US" sz="2400" b="1" dirty="0" smtClean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dirty="0" smtClean="0"/>
              <a:t>Least </a:t>
            </a:r>
            <a:r>
              <a:rPr lang="en-US" sz="2400" b="1" dirty="0"/>
              <a:t>common mechanism: </a:t>
            </a:r>
            <a:r>
              <a:rPr lang="en-US" sz="2400" dirty="0"/>
              <a:t>Limit sharing of resources to reduce interference and information leaks</a:t>
            </a:r>
            <a:r>
              <a:rPr lang="en-US" sz="2400" dirty="0" smtClean="0"/>
              <a:t>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dirty="0" smtClean="0"/>
              <a:t>Psychological acceptability: </a:t>
            </a:r>
            <a:r>
              <a:rPr lang="en-US" sz="2400" dirty="0"/>
              <a:t>Design security controls that are easy for users to understand and use.</a:t>
            </a:r>
            <a:r>
              <a:rPr lang="en-US" sz="2400" b="1" dirty="0" smtClean="0"/>
              <a:t> 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dirty="0" smtClean="0"/>
              <a:t>Isolation: </a:t>
            </a:r>
            <a:r>
              <a:rPr lang="en-US" sz="2400" dirty="0"/>
              <a:t>Separate system components to contain faults and limit damage.</a:t>
            </a:r>
            <a:endParaRPr lang="en-US" sz="2400" b="1" dirty="0" smtClean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dirty="0" smtClean="0"/>
              <a:t>Encapsulation: </a:t>
            </a:r>
            <a:r>
              <a:rPr lang="en-US" sz="2400" dirty="0"/>
              <a:t>Hide internal system details behind well-defined </a:t>
            </a:r>
            <a:r>
              <a:rPr lang="en-US" sz="2400" dirty="0" smtClean="0"/>
              <a:t>interfaces. </a:t>
            </a:r>
            <a:endParaRPr lang="en-US" sz="2400" b="1" dirty="0" smtClean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dirty="0" smtClean="0"/>
              <a:t>Modularity: </a:t>
            </a:r>
            <a:r>
              <a:rPr lang="en-US" sz="2400" dirty="0"/>
              <a:t>Build systems with interchangeable and independent modules.</a:t>
            </a:r>
            <a:endParaRPr lang="en-US" sz="2400" b="1" dirty="0" smtClean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dirty="0" smtClean="0"/>
              <a:t>Layering: </a:t>
            </a:r>
            <a:r>
              <a:rPr lang="en-US" sz="2400" dirty="0"/>
              <a:t>Use multiple defensive layers to protect against failures.</a:t>
            </a:r>
            <a:endParaRPr lang="en-US" sz="2400" b="1" dirty="0" smtClean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dirty="0" smtClean="0"/>
              <a:t>Least astonishment: </a:t>
            </a:r>
            <a:r>
              <a:rPr lang="en-US" sz="2400" dirty="0"/>
              <a:t>Ensure system behavior matches user expectations to avoid errors.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91479" y="565463"/>
            <a:ext cx="934278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Fundamental Security Design Principles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085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13" name="object 2"/>
          <p:cNvSpPr/>
          <p:nvPr/>
        </p:nvSpPr>
        <p:spPr>
          <a:xfrm>
            <a:off x="1144153" y="2363979"/>
            <a:ext cx="9893962" cy="10732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Frameworks and Standards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90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7280" y="1861305"/>
            <a:ext cx="10115203" cy="4493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286603"/>
            <a:ext cx="8908869" cy="12925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Frameworks and Standards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097280" y="2246175"/>
            <a:ext cx="1011520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Cybersecurity standards are published methods to protect users and organizations online.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They cover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users, networks, devices, software, processes, data (stored or moving), applications, services, and connected systems.</a:t>
            </a:r>
          </a:p>
        </p:txBody>
      </p:sp>
    </p:spTree>
    <p:extLst>
      <p:ext uri="{BB962C8B-B14F-4D97-AF65-F5344CB8AC3E}">
        <p14:creationId xmlns:p14="http://schemas.microsoft.com/office/powerpoint/2010/main" val="3025691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7280" y="1861305"/>
            <a:ext cx="10115203" cy="4493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3200" dirty="0">
                <a:cs typeface="Arial" panose="020B0604020202020204" pitchFamily="34" charset="0"/>
              </a:rPr>
              <a:t>Principal objective</a:t>
            </a:r>
            <a:r>
              <a:rPr lang="en-US" altLang="en-US" sz="3200" dirty="0" smtClean="0">
                <a:cs typeface="Arial" panose="020B0604020202020204" pitchFamily="34" charset="0"/>
              </a:rPr>
              <a:t>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 smtClean="0">
                <a:cs typeface="Arial" panose="020B0604020202020204" pitchFamily="34" charset="0"/>
              </a:rPr>
              <a:t> </a:t>
            </a:r>
            <a:r>
              <a:rPr lang="en-US" altLang="en-US" sz="2800" dirty="0">
                <a:cs typeface="Arial" panose="020B0604020202020204" pitchFamily="34" charset="0"/>
              </a:rPr>
              <a:t>reduce risks, including preventing or mitigating cyber-attacks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3200" dirty="0">
                <a:cs typeface="Arial" panose="020B0604020202020204" pitchFamily="34" charset="0"/>
              </a:rPr>
              <a:t>Published materials include collections of: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cs typeface="Arial" panose="020B0604020202020204" pitchFamily="34" charset="0"/>
              </a:rPr>
              <a:t>Tools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cs typeface="Arial" panose="020B0604020202020204" pitchFamily="34" charset="0"/>
              </a:rPr>
              <a:t>Policies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cs typeface="Arial" panose="020B0604020202020204" pitchFamily="34" charset="0"/>
              </a:rPr>
              <a:t>Security concepts and safeguards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cs typeface="Arial" panose="020B0604020202020204" pitchFamily="34" charset="0"/>
              </a:rPr>
              <a:t>Guidelines and risk management approaches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cs typeface="Arial" panose="020B0604020202020204" pitchFamily="34" charset="0"/>
              </a:rPr>
              <a:t>Actions and training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cs typeface="Arial" panose="020B0604020202020204" pitchFamily="34" charset="0"/>
              </a:rPr>
              <a:t>Best practices, assurance, and technologies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286603"/>
            <a:ext cx="8908869" cy="12925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Frameworks and Standards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359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1360" y="1778932"/>
            <a:ext cx="11166733" cy="43762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 smtClean="0">
                <a:cs typeface="Arial" panose="020B0604020202020204" pitchFamily="34" charset="0"/>
              </a:rPr>
              <a:t>Understanding Cyber-Security Frameworks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cs typeface="Arial" panose="020B0604020202020204" pitchFamily="34" charset="0"/>
              </a:rPr>
              <a:t>Cybersecurity </a:t>
            </a:r>
            <a:r>
              <a:rPr lang="en-US" altLang="en-US" sz="2400" dirty="0">
                <a:cs typeface="Arial" panose="020B0604020202020204" pitchFamily="34" charset="0"/>
              </a:rPr>
              <a:t>frameworks consist of comprehensive sets of </a:t>
            </a:r>
            <a:r>
              <a:rPr lang="en-US" altLang="en-US" sz="2400" dirty="0">
                <a:solidFill>
                  <a:srgbClr val="FF0000"/>
                </a:solidFill>
                <a:cs typeface="Arial" panose="020B0604020202020204" pitchFamily="34" charset="0"/>
              </a:rPr>
              <a:t>guidelines</a:t>
            </a:r>
            <a:r>
              <a:rPr lang="en-US" altLang="en-US" sz="2400" dirty="0">
                <a:cs typeface="Arial" panose="020B0604020202020204" pitchFamily="34" charset="0"/>
              </a:rPr>
              <a:t>, </a:t>
            </a:r>
            <a:r>
              <a:rPr lang="en-US" altLang="en-US" sz="2400" dirty="0">
                <a:solidFill>
                  <a:srgbClr val="0070C0"/>
                </a:solidFill>
                <a:cs typeface="Arial" panose="020B0604020202020204" pitchFamily="34" charset="0"/>
              </a:rPr>
              <a:t>standards</a:t>
            </a:r>
            <a:r>
              <a:rPr lang="en-US" altLang="en-US" sz="2400" dirty="0">
                <a:cs typeface="Arial" panose="020B0604020202020204" pitchFamily="34" charset="0"/>
              </a:rPr>
              <a:t>, and </a:t>
            </a:r>
            <a:r>
              <a:rPr lang="en-US" altLang="en-US" sz="2400" dirty="0">
                <a:solidFill>
                  <a:srgbClr val="C00000"/>
                </a:solidFill>
                <a:cs typeface="Arial" panose="020B0604020202020204" pitchFamily="34" charset="0"/>
              </a:rPr>
              <a:t>best practices </a:t>
            </a:r>
            <a:r>
              <a:rPr lang="en-US" altLang="en-US" sz="2400" dirty="0">
                <a:cs typeface="Arial" panose="020B0604020202020204" pitchFamily="34" charset="0"/>
              </a:rPr>
              <a:t>aimed at managing cyber risks effectively. </a:t>
            </a:r>
            <a:endParaRPr lang="en-US" altLang="en-US" sz="2400" dirty="0" smtClean="0">
              <a:cs typeface="Arial" panose="020B0604020202020204" pitchFamily="34" charset="0"/>
            </a:endParaRP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cs typeface="Arial" panose="020B0604020202020204" pitchFamily="34" charset="0"/>
              </a:rPr>
              <a:t>These frameworks serve as strategic </a:t>
            </a:r>
            <a:r>
              <a:rPr lang="en-US" altLang="en-US" sz="2800" u="sng" dirty="0">
                <a:solidFill>
                  <a:srgbClr val="C00000"/>
                </a:solidFill>
                <a:cs typeface="Arial" panose="020B0604020202020204" pitchFamily="34" charset="0"/>
              </a:rPr>
              <a:t>tools to minimize </a:t>
            </a:r>
            <a:r>
              <a:rPr lang="en-US" altLang="en-US" sz="2800" dirty="0">
                <a:cs typeface="Arial" panose="020B0604020202020204" pitchFamily="34" charset="0"/>
              </a:rPr>
              <a:t>an organization's vulnerabilities and reduce the chances of exploitation by hackers and cybercriminals</a:t>
            </a:r>
            <a:r>
              <a:rPr lang="en-US" altLang="en-US" sz="2800" dirty="0" smtClean="0">
                <a:cs typeface="Arial" panose="020B0604020202020204" pitchFamily="34" charset="0"/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286603"/>
            <a:ext cx="8908869" cy="12925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Frameworks and Standards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13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4990" y="1736668"/>
            <a:ext cx="8314118" cy="46189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NIST CSF offers detailed cybersecurity guidance for </a:t>
            </a:r>
            <a:r>
              <a:rPr lang="en-US" sz="2000" b="1" dirty="0">
                <a:solidFill>
                  <a:srgbClr val="FF0000"/>
                </a:solidFill>
              </a:rPr>
              <a:t>private sector organizations in the US</a:t>
            </a:r>
            <a:r>
              <a:rPr lang="en-US" sz="2000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It p</a:t>
            </a:r>
            <a:r>
              <a:rPr lang="en-US" sz="2000" dirty="0" smtClean="0"/>
              <a:t>rovides </a:t>
            </a:r>
            <a:r>
              <a:rPr lang="en-US" sz="2000" dirty="0"/>
              <a:t>a high-level </a:t>
            </a:r>
            <a:r>
              <a:rPr lang="en-US" sz="2000" b="1" dirty="0"/>
              <a:t>classification</a:t>
            </a:r>
            <a:r>
              <a:rPr lang="en-US" sz="2000" dirty="0"/>
              <a:t> of cybersecurity outcomes and a method to assess and manage them.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Adaptable</a:t>
            </a:r>
            <a:r>
              <a:rPr lang="en-US" sz="2000" dirty="0"/>
              <a:t> to organizations of various sizes and cybersecurity maturity </a:t>
            </a:r>
            <a:r>
              <a:rPr lang="en-US" sz="2000" dirty="0" smtClean="0"/>
              <a:t>levels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/>
              <a:t>The </a:t>
            </a:r>
            <a:r>
              <a:rPr lang="en-US" sz="2000" dirty="0"/>
              <a:t>Functions should be addressed concurrently.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b="1" dirty="0" smtClean="0"/>
              <a:t>Actions</a:t>
            </a:r>
            <a:r>
              <a:rPr lang="en-US" sz="2000" dirty="0" smtClean="0"/>
              <a:t> </a:t>
            </a:r>
            <a:r>
              <a:rPr lang="en-US" sz="2000" dirty="0"/>
              <a:t>that support </a:t>
            </a:r>
            <a:r>
              <a:rPr lang="en-US" sz="2000" dirty="0">
                <a:solidFill>
                  <a:srgbClr val="FF0000"/>
                </a:solidFill>
              </a:rPr>
              <a:t>GOVERN, IDENTIFY, PROTECT, </a:t>
            </a:r>
            <a:r>
              <a:rPr lang="en-US" sz="2000" dirty="0" smtClean="0">
                <a:solidFill>
                  <a:srgbClr val="FF0000"/>
                </a:solidFill>
              </a:rPr>
              <a:t>and DETECT </a:t>
            </a:r>
            <a:r>
              <a:rPr lang="en-US" sz="2000" dirty="0"/>
              <a:t>should all happen continuously, and actions that support </a:t>
            </a:r>
            <a:r>
              <a:rPr lang="en-US" sz="2000" dirty="0">
                <a:solidFill>
                  <a:srgbClr val="FF0000"/>
                </a:solidFill>
              </a:rPr>
              <a:t>RESPOND and RECOVER </a:t>
            </a:r>
            <a:r>
              <a:rPr lang="en-US" sz="2000" dirty="0"/>
              <a:t>should be ready at all times and happen when cybersecurity incidents </a:t>
            </a:r>
            <a:r>
              <a:rPr lang="en-US" sz="2000" dirty="0" smtClean="0"/>
              <a:t>occur.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/>
              <a:t>All </a:t>
            </a:r>
            <a:r>
              <a:rPr lang="en-US" sz="2000" dirty="0"/>
              <a:t>Functions have vital roles related to cybersecurity incidents. </a:t>
            </a:r>
            <a:endParaRPr lang="en-US" sz="2000" dirty="0" smtClean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b="1" i="1" dirty="0" smtClean="0"/>
              <a:t>GOVERN</a:t>
            </a:r>
            <a:r>
              <a:rPr lang="en-US" sz="2000" b="1" i="1" dirty="0"/>
              <a:t>, IDENTIFY, and PROTECT </a:t>
            </a:r>
            <a:r>
              <a:rPr lang="en-US" sz="2000" dirty="0"/>
              <a:t>outcomes help </a:t>
            </a:r>
            <a:r>
              <a:rPr lang="en-US" sz="2000" b="1" dirty="0">
                <a:solidFill>
                  <a:srgbClr val="FF0000"/>
                </a:solidFill>
              </a:rPr>
              <a:t>prevent and prepare </a:t>
            </a:r>
            <a:r>
              <a:rPr lang="en-US" sz="2000" dirty="0"/>
              <a:t>for incidents, while </a:t>
            </a:r>
            <a:r>
              <a:rPr lang="en-US" sz="2000" b="1" i="1" dirty="0"/>
              <a:t>GOVERN, DETECT, RESPOND, and RECOVER </a:t>
            </a:r>
            <a:r>
              <a:rPr lang="en-US" sz="2000" dirty="0"/>
              <a:t>outcomes help </a:t>
            </a:r>
            <a:r>
              <a:rPr lang="en-US" sz="2000" b="1" dirty="0">
                <a:solidFill>
                  <a:srgbClr val="FF0000"/>
                </a:solidFill>
              </a:rPr>
              <a:t>discover and manage incidents.</a:t>
            </a:r>
            <a:endParaRPr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286603"/>
            <a:ext cx="8908869" cy="12925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Frameworks and Standards: NIST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82665" y="6026596"/>
            <a:ext cx="774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https://www.nist.gov/cyberframework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4118" y="1736668"/>
            <a:ext cx="3797495" cy="400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255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7280" y="1862016"/>
            <a:ext cx="10115203" cy="4493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286603"/>
            <a:ext cx="8908869" cy="12925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Frameworks and Standards: NIST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792" y="1861305"/>
            <a:ext cx="7362141" cy="42114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82665" y="6026596"/>
            <a:ext cx="774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https://www.nist.gov/cyberframework</a:t>
            </a:r>
          </a:p>
        </p:txBody>
      </p:sp>
    </p:spTree>
    <p:extLst>
      <p:ext uri="{BB962C8B-B14F-4D97-AF65-F5344CB8AC3E}">
        <p14:creationId xmlns:p14="http://schemas.microsoft.com/office/powerpoint/2010/main" val="472065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7280" y="1862016"/>
            <a:ext cx="10115203" cy="4493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cs typeface="Arial" panose="020B0604020202020204" pitchFamily="34" charset="0"/>
              </a:rPr>
              <a:t>ISO/IEC 27001, part of the ISO/IEC 27000 </a:t>
            </a:r>
            <a:r>
              <a:rPr lang="en-US" altLang="en-US" sz="2400" dirty="0" smtClean="0">
                <a:cs typeface="Arial" panose="020B0604020202020204" pitchFamily="34" charset="0"/>
              </a:rPr>
              <a:t>series/family, which is </a:t>
            </a:r>
            <a:r>
              <a:rPr lang="en-US" altLang="en-US" sz="2400" dirty="0">
                <a:cs typeface="Arial" panose="020B0604020202020204" pitchFamily="34" charset="0"/>
              </a:rPr>
              <a:t>an </a:t>
            </a:r>
            <a:r>
              <a:rPr lang="en-US" altLang="en-US" sz="2400" b="1" i="1" dirty="0" smtClean="0">
                <a:cs typeface="Arial" panose="020B0604020202020204" pitchFamily="34" charset="0"/>
              </a:rPr>
              <a:t>Information </a:t>
            </a:r>
            <a:r>
              <a:rPr lang="en-US" altLang="en-US" sz="2400" b="1" i="1" dirty="0">
                <a:cs typeface="Arial" panose="020B0604020202020204" pitchFamily="34" charset="0"/>
              </a:rPr>
              <a:t>security management system (ISMS)</a:t>
            </a:r>
            <a:r>
              <a:rPr lang="en-US" altLang="en-US" sz="2400" dirty="0">
                <a:cs typeface="Arial" panose="020B0604020202020204" pitchFamily="34" charset="0"/>
              </a:rPr>
              <a:t> standard. </a:t>
            </a:r>
            <a:endParaRPr lang="en-US" altLang="en-US" sz="2400" dirty="0" smtClean="0">
              <a:cs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cs typeface="Arial" panose="020B0604020202020204" pitchFamily="34" charset="0"/>
              </a:rPr>
              <a:t>The </a:t>
            </a:r>
            <a:r>
              <a:rPr lang="en-US" altLang="en-US" sz="2400" dirty="0">
                <a:cs typeface="Arial" panose="020B0604020202020204" pitchFamily="34" charset="0"/>
              </a:rPr>
              <a:t>latest version was published in October 2013 by ISO and IEC. </a:t>
            </a:r>
            <a:endParaRPr lang="en-US" altLang="en-US" sz="2400" dirty="0" smtClean="0">
              <a:cs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cs typeface="Arial" panose="020B0604020202020204" pitchFamily="34" charset="0"/>
              </a:rPr>
              <a:t>Its </a:t>
            </a:r>
            <a:r>
              <a:rPr lang="en-US" altLang="en-US" sz="2400" dirty="0">
                <a:cs typeface="Arial" panose="020B0604020202020204" pitchFamily="34" charset="0"/>
              </a:rPr>
              <a:t>full title </a:t>
            </a:r>
            <a:r>
              <a:rPr lang="en-US" altLang="en-US" sz="2400" dirty="0" smtClean="0">
                <a:cs typeface="Arial" panose="020B0604020202020204" pitchFamily="34" charset="0"/>
              </a:rPr>
              <a:t>is=&gt; </a:t>
            </a:r>
            <a:r>
              <a:rPr lang="en-US" altLang="en-US" sz="2400" i="1" dirty="0" smtClean="0">
                <a:solidFill>
                  <a:srgbClr val="00B050"/>
                </a:solidFill>
                <a:cs typeface="Arial" panose="020B0604020202020204" pitchFamily="34" charset="0"/>
              </a:rPr>
              <a:t>ISO/IEC </a:t>
            </a:r>
            <a:r>
              <a:rPr lang="en-US" altLang="en-US" sz="2400" i="1" dirty="0">
                <a:solidFill>
                  <a:srgbClr val="00B050"/>
                </a:solidFill>
                <a:cs typeface="Arial" panose="020B0604020202020204" pitchFamily="34" charset="0"/>
              </a:rPr>
              <a:t>27001:2013 – Information technology – Security techniques – Information security management systems – Requirements</a:t>
            </a:r>
            <a:r>
              <a:rPr lang="en-US" altLang="en-US" sz="2400" dirty="0" smtClean="0">
                <a:solidFill>
                  <a:srgbClr val="00B050"/>
                </a:solidFill>
                <a:cs typeface="Arial" panose="020B0604020202020204" pitchFamily="34" charset="0"/>
              </a:rPr>
              <a:t>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cs typeface="Arial" panose="020B0604020202020204" pitchFamily="34" charset="0"/>
              </a:rPr>
              <a:t> ISO/IEC formally specifies </a:t>
            </a:r>
            <a:r>
              <a:rPr lang="en-US" altLang="en-US" sz="2400" dirty="0">
                <a:cs typeface="Arial" panose="020B0604020202020204" pitchFamily="34" charset="0"/>
              </a:rPr>
              <a:t>a management system to control information security explicitly.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286603"/>
            <a:ext cx="8908869" cy="12925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ISO/IEC 27001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82665" y="6026596"/>
            <a:ext cx="774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082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348133" y="26226"/>
            <a:ext cx="8908869" cy="7599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ISO 27001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-198305" y="6616031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2165" y="62544"/>
            <a:ext cx="4502961" cy="67503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" y="1898729"/>
            <a:ext cx="3987585" cy="2233573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>
            <a:off x="4164376" y="2610998"/>
            <a:ext cx="1079653" cy="6720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-88136" y="4395531"/>
            <a:ext cx="5087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Reference book: Principles of Information Security 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617085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4261" y="1717639"/>
            <a:ext cx="10115203" cy="4493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cs typeface="Arial" panose="020B0604020202020204" pitchFamily="34" charset="0"/>
              </a:rPr>
              <a:t>The </a:t>
            </a:r>
            <a:r>
              <a:rPr lang="en-US" altLang="en-US" sz="2400" dirty="0">
                <a:cs typeface="Arial" panose="020B0604020202020204" pitchFamily="34" charset="0"/>
              </a:rPr>
              <a:t>General Data Protection Regulation (GDPR) is a comprehensive </a:t>
            </a:r>
            <a:r>
              <a:rPr lang="en-US" altLang="en-US" sz="2400" b="1" dirty="0">
                <a:cs typeface="Arial" panose="020B0604020202020204" pitchFamily="34" charset="0"/>
              </a:rPr>
              <a:t>legal framework</a:t>
            </a:r>
            <a:r>
              <a:rPr lang="en-US" altLang="en-US" sz="2400" dirty="0">
                <a:cs typeface="Arial" panose="020B0604020202020204" pitchFamily="34" charset="0"/>
              </a:rPr>
              <a:t> established by the </a:t>
            </a:r>
            <a:r>
              <a:rPr lang="en-US" altLang="en-US" sz="2400" u="sng" dirty="0">
                <a:cs typeface="Arial" panose="020B0604020202020204" pitchFamily="34" charset="0"/>
              </a:rPr>
              <a:t>European Union </a:t>
            </a:r>
            <a:r>
              <a:rPr lang="en-US" altLang="en-US" sz="2400" dirty="0">
                <a:cs typeface="Arial" panose="020B0604020202020204" pitchFamily="34" charset="0"/>
              </a:rPr>
              <a:t>to safeguard the privacy and </a:t>
            </a:r>
            <a:r>
              <a:rPr lang="en-US" altLang="en-US" sz="2400" dirty="0">
                <a:solidFill>
                  <a:srgbClr val="FF0000"/>
                </a:solidFill>
                <a:cs typeface="Arial" panose="020B0604020202020204" pitchFamily="34" charset="0"/>
              </a:rPr>
              <a:t>security of personal data</a:t>
            </a:r>
            <a:r>
              <a:rPr lang="en-US" altLang="en-US" sz="2400" dirty="0">
                <a:cs typeface="Arial" panose="020B0604020202020204" pitchFamily="34" charset="0"/>
              </a:rPr>
              <a:t> belonging to its </a:t>
            </a:r>
            <a:r>
              <a:rPr lang="en-US" altLang="en-US" sz="2400" dirty="0">
                <a:solidFill>
                  <a:srgbClr val="FF0000"/>
                </a:solidFill>
                <a:cs typeface="Arial" panose="020B0604020202020204" pitchFamily="34" charset="0"/>
              </a:rPr>
              <a:t>residents</a:t>
            </a:r>
            <a:r>
              <a:rPr lang="en-US" altLang="en-US" sz="2400" dirty="0" smtClean="0">
                <a:cs typeface="Arial" panose="020B0604020202020204" pitchFamily="34" charset="0"/>
              </a:rPr>
              <a:t>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>
                <a:cs typeface="Arial" panose="020B0604020202020204" pitchFamily="34" charset="0"/>
              </a:rPr>
              <a:t>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cs typeface="Arial" panose="020B0604020202020204" pitchFamily="34" charset="0"/>
              </a:rPr>
              <a:t>Introduced </a:t>
            </a:r>
            <a:r>
              <a:rPr lang="en-US" altLang="en-US" sz="2400" dirty="0">
                <a:cs typeface="Arial" panose="020B0604020202020204" pitchFamily="34" charset="0"/>
              </a:rPr>
              <a:t>in 2016, this regulation applies to any organization that handles the personal information of EU citizens, no matter where the organization is based globally.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cs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 smtClean="0"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286603"/>
            <a:ext cx="8908869" cy="12925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b="1" dirty="0">
                <a:latin typeface="Arial" panose="020B0604020202020204" pitchFamily="34" charset="0"/>
              </a:rPr>
              <a:t>GDPR </a:t>
            </a:r>
            <a:r>
              <a:rPr lang="en-US" altLang="en-US" sz="4000" b="1" dirty="0" smtClean="0">
                <a:latin typeface="Arial" panose="020B0604020202020204" pitchFamily="34" charset="0"/>
              </a:rPr>
              <a:t>Overview</a:t>
            </a:r>
            <a:endParaRPr lang="en-US" altLang="en-US" sz="4000" b="1" dirty="0">
              <a:latin typeface="Arial" panose="020B0604020202020204" pitchFamily="34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82665" y="6026596"/>
            <a:ext cx="774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875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6835" y="1139689"/>
            <a:ext cx="10552629" cy="50715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 smtClean="0"/>
              <a:t>Data </a:t>
            </a:r>
            <a:r>
              <a:rPr lang="en-US" altLang="en-US" sz="2400" b="1" dirty="0"/>
              <a:t>Mapping:</a:t>
            </a:r>
            <a:r>
              <a:rPr lang="en-US" altLang="en-US" sz="2400" dirty="0"/>
              <a:t> Document what personal data is collected, why, </a:t>
            </a:r>
            <a:r>
              <a:rPr lang="en-US" altLang="en-US" sz="2400" dirty="0" smtClean="0"/>
              <a:t>and </a:t>
            </a:r>
            <a:r>
              <a:rPr lang="en-US" altLang="en-US" sz="2400" dirty="0"/>
              <a:t>how it’s processed/stored</a:t>
            </a:r>
            <a:r>
              <a:rPr lang="en-US" altLang="en-US" sz="2400" dirty="0" smtClean="0"/>
              <a:t>.</a:t>
            </a:r>
            <a:endParaRPr lang="en-US" altLang="en-US" sz="2400" dirty="0"/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/>
              <a:t>Legal Basis:</a:t>
            </a:r>
            <a:r>
              <a:rPr lang="en-US" altLang="en-US" sz="2400" dirty="0"/>
              <a:t> Identify the lawful reason for each data processing activity.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/>
              <a:t>Policies:</a:t>
            </a:r>
            <a:r>
              <a:rPr lang="en-US" altLang="en-US" sz="2400" dirty="0"/>
              <a:t> Create clear, plain-language privacy policies and consent forms.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/>
              <a:t>Training:</a:t>
            </a:r>
            <a:r>
              <a:rPr lang="en-US" altLang="en-US" sz="2400" dirty="0"/>
              <a:t> Educate staff on GDPR and data protection basics.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/>
              <a:t>Third-Party Management:</a:t>
            </a:r>
            <a:r>
              <a:rPr lang="en-US" altLang="en-US" sz="2400" dirty="0"/>
              <a:t> Ensure vendors follow GDPR and have proper contracts.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/>
              <a:t>Audits:</a:t>
            </a:r>
            <a:r>
              <a:rPr lang="en-US" altLang="en-US" sz="2400" dirty="0"/>
              <a:t> Regularly review compliance and fix gaps</a:t>
            </a:r>
            <a:r>
              <a:rPr lang="en-US" altLang="en-US" sz="2400" dirty="0" smtClean="0"/>
              <a:t>.</a:t>
            </a:r>
            <a:endParaRPr lang="en-US" alt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286604"/>
            <a:ext cx="8908869" cy="8530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b="1" dirty="0">
                <a:latin typeface="Arial" panose="020B0604020202020204" pitchFamily="34" charset="0"/>
              </a:rPr>
              <a:t>GDPR </a:t>
            </a:r>
            <a:r>
              <a:rPr lang="en-US" altLang="en-US" sz="4000" b="1" dirty="0" smtClean="0">
                <a:latin typeface="Arial" panose="020B0604020202020204" pitchFamily="34" charset="0"/>
              </a:rPr>
              <a:t>Compliance checklist</a:t>
            </a:r>
            <a:endParaRPr lang="en-US" altLang="en-US" sz="4000" b="1" dirty="0">
              <a:latin typeface="Arial" panose="020B0604020202020204" pitchFamily="34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82665" y="6026596"/>
            <a:ext cx="774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36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6835" y="1139689"/>
            <a:ext cx="10552629" cy="50715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 smtClean="0"/>
              <a:t>DPO</a:t>
            </a:r>
            <a:r>
              <a:rPr lang="en-US" altLang="en-US" sz="2400" b="1" dirty="0"/>
              <a:t>:</a:t>
            </a:r>
            <a:r>
              <a:rPr lang="en-US" altLang="en-US" sz="2400" dirty="0"/>
              <a:t> Appoint a Data Protection Officer if required.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/>
              <a:t>DPIAs:</a:t>
            </a:r>
            <a:r>
              <a:rPr lang="en-US" altLang="en-US" sz="2400" dirty="0"/>
              <a:t> Assess risks for high-impact data projects.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/>
              <a:t>Security Measures:</a:t>
            </a:r>
            <a:r>
              <a:rPr lang="en-US" altLang="en-US" sz="2400" dirty="0"/>
              <a:t> Use encryption, MFA, and regular security checks.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/>
              <a:t>Data Rights:</a:t>
            </a:r>
            <a:r>
              <a:rPr lang="en-US" altLang="en-US" sz="2400" dirty="0"/>
              <a:t> Enable access, correction, deletion, and objection.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/>
              <a:t>Breach Response:</a:t>
            </a:r>
            <a:r>
              <a:rPr lang="en-US" altLang="en-US" sz="2400" dirty="0"/>
              <a:t> Have a plan to detect and report data breaches fast.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286604"/>
            <a:ext cx="8908869" cy="8530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b="1" dirty="0">
                <a:latin typeface="Arial" panose="020B0604020202020204" pitchFamily="34" charset="0"/>
              </a:rPr>
              <a:t>GDPR </a:t>
            </a:r>
            <a:r>
              <a:rPr lang="en-US" altLang="en-US" sz="4000" b="1" dirty="0" smtClean="0">
                <a:latin typeface="Arial" panose="020B0604020202020204" pitchFamily="34" charset="0"/>
              </a:rPr>
              <a:t>Compliance checklist</a:t>
            </a:r>
            <a:endParaRPr lang="en-US" altLang="en-US" sz="4000" b="1" dirty="0">
              <a:latin typeface="Arial" panose="020B0604020202020204" pitchFamily="34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82665" y="6026596"/>
            <a:ext cx="774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41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4731" y="1717639"/>
            <a:ext cx="10884733" cy="4493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 smtClean="0"/>
              <a:t>A </a:t>
            </a:r>
            <a:r>
              <a:rPr lang="en-US" sz="2800" dirty="0"/>
              <a:t>prioritized set of cybersecurity best practices</a:t>
            </a:r>
            <a:r>
              <a:rPr lang="en-US" sz="28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FF0000"/>
                </a:solidFill>
              </a:rPr>
              <a:t>Originally known as SANS Top 20</a:t>
            </a:r>
            <a:r>
              <a:rPr lang="en-US" sz="2800" dirty="0"/>
              <a:t>; now managed by CIS</a:t>
            </a:r>
            <a:r>
              <a:rPr lang="en-US" sz="28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Globally recognized for reducing risk from common threats</a:t>
            </a:r>
            <a:r>
              <a:rPr lang="en-US" sz="28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8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 smtClean="0"/>
              <a:t>Suitable </a:t>
            </a:r>
            <a:r>
              <a:rPr lang="en-US" sz="2800" dirty="0"/>
              <a:t>for organizations of all sizes and sectors.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286603"/>
            <a:ext cx="8908869" cy="12925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>
                <a:latin typeface="Arial" panose="020B0604020202020204" pitchFamily="34" charset="0"/>
              </a:rPr>
              <a:t>Center </a:t>
            </a:r>
            <a:r>
              <a:rPr lang="en-US" sz="4000" b="1" dirty="0">
                <a:latin typeface="Arial" panose="020B0604020202020204" pitchFamily="34" charset="0"/>
              </a:rPr>
              <a:t>for Internet Security (CIS)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82665" y="6026596"/>
            <a:ext cx="774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749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4731" y="1158697"/>
            <a:ext cx="5765495" cy="50658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/>
              <a:t>1. Basic Controls (CIS 1–5)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Establish core cybersecurity hygiene.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/>
              <a:t>CIS 1: </a:t>
            </a:r>
            <a:r>
              <a:rPr lang="en-US" sz="2300" dirty="0"/>
              <a:t>Inventory of hardware assets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/>
              <a:t>CIS 2:</a:t>
            </a:r>
            <a:r>
              <a:rPr lang="en-US" sz="2300" dirty="0"/>
              <a:t> Inventory of software assets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/>
              <a:t>CIS 3:</a:t>
            </a:r>
            <a:r>
              <a:rPr lang="en-US" sz="2300" dirty="0"/>
              <a:t> Data protection (encryption, DLP)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/>
              <a:t>CIS 4:</a:t>
            </a:r>
            <a:r>
              <a:rPr lang="en-US" sz="2300" dirty="0"/>
              <a:t> Secure configuration of systems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/>
              <a:t>CIS 5:</a:t>
            </a:r>
            <a:r>
              <a:rPr lang="en-US" sz="2300" dirty="0"/>
              <a:t> Account lifecycle </a:t>
            </a:r>
            <a:r>
              <a:rPr lang="en-US" sz="2300" dirty="0" smtClean="0"/>
              <a:t>management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286603"/>
            <a:ext cx="8908869" cy="87209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>
                <a:latin typeface="Arial" panose="020B0604020202020204" pitchFamily="34" charset="0"/>
              </a:rPr>
              <a:t>Structure </a:t>
            </a:r>
            <a:r>
              <a:rPr lang="en-US" sz="4000" b="1" dirty="0">
                <a:latin typeface="Arial" panose="020B0604020202020204" pitchFamily="34" charset="0"/>
              </a:rPr>
              <a:t>of CIS Controls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82665" y="6026596"/>
            <a:ext cx="774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object 2"/>
          <p:cNvSpPr/>
          <p:nvPr/>
        </p:nvSpPr>
        <p:spPr>
          <a:xfrm>
            <a:off x="6109252" y="1151640"/>
            <a:ext cx="5870713" cy="50658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 smtClean="0"/>
              <a:t>2. Foundational Controls (CIS 6–10)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Strengthen defenses and monitoring.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 smtClean="0"/>
              <a:t>CIS 6:</a:t>
            </a:r>
            <a:r>
              <a:rPr lang="en-US" sz="2300" dirty="0" smtClean="0"/>
              <a:t> Access control (least privilege)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 smtClean="0"/>
              <a:t>CIS 7:</a:t>
            </a:r>
            <a:r>
              <a:rPr lang="en-US" sz="2300" dirty="0" smtClean="0"/>
              <a:t> Continuous vulnerability management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 smtClean="0"/>
              <a:t>CIS 8:</a:t>
            </a:r>
            <a:r>
              <a:rPr lang="en-US" sz="2300" dirty="0" smtClean="0"/>
              <a:t> Audit log collection and analysis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 smtClean="0"/>
              <a:t>CIS 9:</a:t>
            </a:r>
            <a:r>
              <a:rPr lang="en-US" sz="2300" dirty="0" smtClean="0"/>
              <a:t> Email &amp; browser protections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 smtClean="0"/>
              <a:t>CIS 10:</a:t>
            </a:r>
            <a:r>
              <a:rPr lang="en-US" sz="2300" dirty="0" smtClean="0"/>
              <a:t> Malware defenses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20924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715" y="1518858"/>
            <a:ext cx="5924521" cy="48360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/>
              <a:t>3. </a:t>
            </a:r>
            <a:r>
              <a:rPr lang="en-US" sz="2800" b="1" dirty="0" smtClean="0"/>
              <a:t>Organizational </a:t>
            </a:r>
            <a:r>
              <a:rPr lang="en-US" sz="2800" b="1" dirty="0"/>
              <a:t>Controls (CIS </a:t>
            </a:r>
            <a:r>
              <a:rPr lang="en-US" sz="2800" b="1" dirty="0" smtClean="0"/>
              <a:t>11–15)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Embed </a:t>
            </a:r>
            <a:r>
              <a:rPr lang="en-US" sz="2400" dirty="0"/>
              <a:t>security into governance and culture.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/>
              <a:t>CIS 11:</a:t>
            </a:r>
            <a:r>
              <a:rPr lang="en-US" sz="2300" dirty="0"/>
              <a:t> Data recovery capabilities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/>
              <a:t>CIS 12:</a:t>
            </a:r>
            <a:r>
              <a:rPr lang="en-US" sz="2300" dirty="0"/>
              <a:t> Secure network infrastructure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/>
              <a:t>CIS 13:</a:t>
            </a:r>
            <a:r>
              <a:rPr lang="en-US" sz="2300" dirty="0"/>
              <a:t> Security awareness training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/>
              <a:t>CIS 14:</a:t>
            </a:r>
            <a:r>
              <a:rPr lang="en-US" sz="2300" dirty="0"/>
              <a:t> Secure software development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/>
              <a:t>CIS 15:</a:t>
            </a:r>
            <a:r>
              <a:rPr lang="en-US" sz="2300" dirty="0"/>
              <a:t> Third-party/service provider </a:t>
            </a:r>
            <a:r>
              <a:rPr lang="en-US" sz="2300" dirty="0" smtClean="0"/>
              <a:t>management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286603"/>
            <a:ext cx="8908869" cy="81332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" panose="020B0604020202020204" pitchFamily="34" charset="0"/>
              </a:rPr>
              <a:t>Structure of CIS Controls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82665" y="6026596"/>
            <a:ext cx="774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object 2"/>
          <p:cNvSpPr/>
          <p:nvPr/>
        </p:nvSpPr>
        <p:spPr>
          <a:xfrm>
            <a:off x="6277855" y="1518858"/>
            <a:ext cx="5807254" cy="47137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 smtClean="0"/>
              <a:t>Why </a:t>
            </a:r>
            <a:r>
              <a:rPr lang="en-US" sz="2800" b="1" dirty="0"/>
              <a:t>Use CIS Controls?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dirty="0"/>
              <a:t>Actionable, prioritized, and cost-effective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dirty="0"/>
              <a:t>Protects against real-world threats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dirty="0"/>
              <a:t>Useful for both new and mature security programs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dirty="0"/>
              <a:t>Supports compliance and risk management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05079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CEC40E-F84B-4564-B167-FE2471BFD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9C6814B-B8BF-5D6E-79FF-B560A8B3BB94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9E71027-534D-A8A6-3B13-6426647C65EF}"/>
              </a:ext>
            </a:extLst>
          </p:cNvPr>
          <p:cNvSpPr txBox="1"/>
          <p:nvPr/>
        </p:nvSpPr>
        <p:spPr>
          <a:xfrm>
            <a:off x="1187380" y="1667462"/>
            <a:ext cx="8794820" cy="118942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and ex-employees are a major source of computer crimes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perpetrators had legitimate or recent access to systems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personnel with access is a critical security priority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8EF5B9-3DC7-CBD9-FB49-706643E470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714DBD04-F379-9530-12C2-D21A9B066AF6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and Ex-Employee Threats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C985A28-2BE7-DD72-FDA6-EE4EC585E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497A5E4D-75DC-7EE0-3D7B-5EAEAFB53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1044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EAC715-DE95-A964-6A60-DA2FEBA5F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9636AC1-46F3-4256-2EF0-B099A309C25F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66D2D20-8865-EE09-67CC-95BE7B230B7F}"/>
              </a:ext>
            </a:extLst>
          </p:cNvPr>
          <p:cNvSpPr txBox="1"/>
          <p:nvPr/>
        </p:nvSpPr>
        <p:spPr>
          <a:xfrm>
            <a:off x="1187380" y="1667462"/>
            <a:ext cx="8794820" cy="2779607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Unintentional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Forgetting security rules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Failing to follow procedures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vulnerabilities unknowingly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Intentional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Knowingly violating controls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Assisting in security breaches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C16EE7-A27E-70DD-986A-E6A36EB5B0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088C4373-3FC7-DA08-9489-4067FC79C839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Employee Threats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897B2C5-5418-C37C-E67E-831B656C2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1D33700D-51B0-44E7-7DFF-2FB1E2EE1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0030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92E5AC-2FA8-443E-ECCC-4E9EA282C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75C6CC0-F6C0-F17C-9383-A68231AD2875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4ED9911-41C1-5839-D180-4EEAA937D974}"/>
              </a:ext>
            </a:extLst>
          </p:cNvPr>
          <p:cNvSpPr txBox="1"/>
          <p:nvPr/>
        </p:nvSpPr>
        <p:spPr>
          <a:xfrm>
            <a:off x="1187380" y="1667462"/>
            <a:ext cx="8794820" cy="238206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access or enabling others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Altering or deleting data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Crashing or destroying systems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Misusing systems for personal gain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Holding data hostage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Stealing customer/strategic data (espionage, fraud)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46C7ED-92CF-31A0-BCA0-FA853402F5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03BB5251-E507-601D-12E4-C29B962C2282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Internal Threats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F61A6E9-BD4C-61D2-139E-09A13A1E2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29C75F0D-5AD4-7F88-2753-A86EC32F8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0062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B17E9-80F8-B2E1-5C9D-B34B7B66D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92AE38D-291E-33DA-9113-6571B5D6B6DB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F992C20-9E7C-344F-ED99-AC7D60D6BCFD}"/>
              </a:ext>
            </a:extLst>
          </p:cNvPr>
          <p:cNvSpPr txBox="1"/>
          <p:nvPr/>
        </p:nvSpPr>
        <p:spPr>
          <a:xfrm>
            <a:off x="1187380" y="1667462"/>
            <a:ext cx="8794820" cy="317715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verification (employment &amp; education history)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discrepancies with experienced staff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Intensive checks for sensitive roles: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investigation agency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Criminal record check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record check (financial stress risks)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Polygraph (where legal)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Bonding for sensitive positions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379CC1-8CFD-EFBF-7C60-B549CCBEC0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2354F215-4D96-3324-5063-8EFAB15AEE64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Checks &amp; Screening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6517397-504A-3ABA-F697-22098D1DC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EE906C9-7F59-C67A-85E2-0144E9415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179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E15AC-0CF5-4DC4-583C-6026FE41E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C74CC8A-4805-CD28-A036-F251301DDBE8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4BE596B-0D97-9061-8B8A-5B123AC8331A}"/>
              </a:ext>
            </a:extLst>
          </p:cNvPr>
          <p:cNvSpPr txBox="1"/>
          <p:nvPr/>
        </p:nvSpPr>
        <p:spPr>
          <a:xfrm>
            <a:off x="1187380" y="1667462"/>
            <a:ext cx="8794820" cy="198451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Contracts should include: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 &amp;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non-disclosure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agreements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obligations to protect information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to organization’s security policy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must review and agree to abide by policy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EBCEC8-8488-E6B3-29A2-CBA2D7C08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0195CE4A-5BEB-7E77-D4A0-CB4A24024EDC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Employment Agreements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1D7C195-4CCD-0734-B638-F35F4D42B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66A57A6-5E39-705A-5DF3-841D9E0E0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3384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91932B-52E2-34D9-B1A3-5ACB658CE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43C2020-5CED-CCD9-812A-78B6180D8360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A8BF778-E406-77E3-C0CE-EAFAC9507995}"/>
              </a:ext>
            </a:extLst>
          </p:cNvPr>
          <p:cNvSpPr txBox="1"/>
          <p:nvPr/>
        </p:nvSpPr>
        <p:spPr>
          <a:xfrm>
            <a:off x="1187379" y="1667462"/>
            <a:ext cx="9920599" cy="238206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Ongoing awareness and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programs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Policies for email &amp; Internet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(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NUCES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principles: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privilege – minimal access required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Separation of duties – avoid conflicts of interest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over-reliance on key employees → build redundancy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80BDBE-0927-4D18-388C-15DA0A9646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FE94468C-12EC-9ABD-4659-739C517FCFE2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During Employment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600DB8D-6519-4366-EF4A-D88D9C6FB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40E3AAE8-F6B5-973C-C723-0D62C6815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7643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5B626A-1FA9-A2A5-B18A-B6A38ADFC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00318F2-FF01-D435-ABBF-FE9ADEA46FAD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078A5BD-54B0-02C4-5D95-99CDC08C8768}"/>
              </a:ext>
            </a:extLst>
          </p:cNvPr>
          <p:cNvSpPr txBox="1"/>
          <p:nvPr/>
        </p:nvSpPr>
        <p:spPr>
          <a:xfrm>
            <a:off x="1187379" y="1667462"/>
            <a:ext cx="9920599" cy="317715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27002 Objective: Orderly exit &amp; removal of access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actions: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from access lists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 guards/security teams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Revoke personal access codes/cards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locks/reprogram systems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 company assets (IDs, devices, documents)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Notify relevant departments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C7C8A6-1F41-CB59-E5BA-CE5D25C6E8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EF781D3E-FFB7-CED2-BBC9-F4D737C92EB2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Termination of Employment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AB53A93-F299-4B7C-1653-2DD3FAC47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08B05BE4-3D12-7147-4668-63657A799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4934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2930AB-0A79-5C75-4A33-91DF15743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FCA7CBC-AC6B-FA08-DFDD-2C290A715C95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3493193-FE6D-203E-445D-E705CB118AF2}"/>
              </a:ext>
            </a:extLst>
          </p:cNvPr>
          <p:cNvSpPr txBox="1"/>
          <p:nvPr/>
        </p:nvSpPr>
        <p:spPr>
          <a:xfrm>
            <a:off x="1187379" y="1667462"/>
            <a:ext cx="9920599" cy="2779607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and ex-employees can be significant threats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measures must cover:</a:t>
            </a:r>
          </a:p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Hiring → Employment → Termination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personnel security reduces risks of: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Insider misuse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Espionage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and sabotage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484BE-EF7B-F9D0-E94B-2ECEA8050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FCBFE1B7-B157-FB15-BFD7-EA98D19010DF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95C9B9-C1D6-6B7B-1C44-E30249CA6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88827BD-DACB-0027-A60B-9BB02C191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1772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4D7B7F-D107-72D7-9C7B-6B3307D6B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00939EB-A05B-E125-70B6-3CFBA8077433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CD2CDCE-B6AC-CD80-F828-7501AAD6C232}"/>
              </a:ext>
            </a:extLst>
          </p:cNvPr>
          <p:cNvSpPr txBox="1"/>
          <p:nvPr/>
        </p:nvSpPr>
        <p:spPr>
          <a:xfrm>
            <a:off x="1187379" y="1667462"/>
            <a:ext cx="9920599" cy="158697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Espionage &amp; Cybersecurity Risks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face threats not only from hackers but also from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competitors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Competitors may use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unethical or illegal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tactics to gain advantage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as corporate espionage or industrial spying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9B5BE8-A2F6-1314-F43C-F90552E7A0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DE43169A-4AFC-65C5-ECE1-4F95C5E43BA9}"/>
              </a:ext>
            </a:extLst>
          </p:cNvPr>
          <p:cNvSpPr txBox="1">
            <a:spLocks/>
          </p:cNvSpPr>
          <p:nvPr/>
        </p:nvSpPr>
        <p:spPr>
          <a:xfrm>
            <a:off x="921657" y="400427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Criminal Era Competitor Threats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6F2470-9DF0-B6F4-4E38-55BB7E1BF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0BE0AC26-AE44-A1D7-30EB-DE7220452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7742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20DAA6-F8F7-AB75-CA5F-4D4DB8112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33282A1-B828-9016-53D5-D0002BAC4439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F7BC565-780F-398B-A655-B4DC58CF7A38}"/>
              </a:ext>
            </a:extLst>
          </p:cNvPr>
          <p:cNvSpPr txBox="1"/>
          <p:nvPr/>
        </p:nvSpPr>
        <p:spPr>
          <a:xfrm>
            <a:off x="1187379" y="1667462"/>
            <a:ext cx="9920599" cy="158697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Theft of trade secrets and intellectual property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access to confidential business data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of systems to cause financial or reputational harm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Targeting strategic assets (customers, designs, formulas)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D0A813-4365-19A4-9975-A7E0067E3D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32C43C4E-3DBB-DEFD-606A-C12939E9ABCE}"/>
              </a:ext>
            </a:extLst>
          </p:cNvPr>
          <p:cNvSpPr txBox="1">
            <a:spLocks/>
          </p:cNvSpPr>
          <p:nvPr/>
        </p:nvSpPr>
        <p:spPr>
          <a:xfrm>
            <a:off x="921657" y="400427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of Competitor Threats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56912F3-52DB-0730-C159-7B9D857AC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554655E2-36C7-B13D-4AED-13421660B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6239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414927-D028-748A-C9E2-CD00BCE14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81B92E0-502E-B5E9-915A-1EAE3DCBA19C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28B954D-CC1F-A541-E722-F742599B9F8A}"/>
              </a:ext>
            </a:extLst>
          </p:cNvPr>
          <p:cNvSpPr txBox="1"/>
          <p:nvPr/>
        </p:nvSpPr>
        <p:spPr>
          <a:xfrm>
            <a:off x="1187379" y="1667462"/>
            <a:ext cx="9920599" cy="16254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Hacking into rival networks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Planting insiders or bribing employees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Stealing customer or supplier databases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Reverse engineering of products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Spreading misinformation or fake news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AA8766-08AD-0408-7008-792D615968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166DEDAC-A639-5FA7-9548-2BE0CBFDB2C9}"/>
              </a:ext>
            </a:extLst>
          </p:cNvPr>
          <p:cNvSpPr txBox="1">
            <a:spLocks/>
          </p:cNvSpPr>
          <p:nvPr/>
        </p:nvSpPr>
        <p:spPr>
          <a:xfrm>
            <a:off x="921657" y="400427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/>
              <a:t>Common Techniques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27AAC70-8087-86A3-F183-B2F03ABDC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7C87FC13-11FD-5CAB-0480-1AC8C15AB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7305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94A43A-9153-C4C7-B803-E98866A8C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B465045-AA85-876B-9990-89E10336C884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1DCC2CE-B19E-D23E-1405-528891D919B2}"/>
              </a:ext>
            </a:extLst>
          </p:cNvPr>
          <p:cNvSpPr txBox="1"/>
          <p:nvPr/>
        </p:nvSpPr>
        <p:spPr>
          <a:xfrm>
            <a:off x="1187379" y="1667462"/>
            <a:ext cx="9920599" cy="131766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Gaining market advantage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Disrupting rival operations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Copying innovations without R&amp;D costs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Winning contracts through stolen insights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3C0F6D-56E8-C7F5-5563-1F175B95B4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2946C629-65D1-EFD9-C4C9-72AF340007D0}"/>
              </a:ext>
            </a:extLst>
          </p:cNvPr>
          <p:cNvSpPr txBox="1">
            <a:spLocks/>
          </p:cNvSpPr>
          <p:nvPr/>
        </p:nvSpPr>
        <p:spPr>
          <a:xfrm>
            <a:off x="921657" y="400427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/>
              <a:t>Motivations of Competitor Threats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35CEE03-5933-4519-ADBA-4DE1619D7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CC10EC01-3480-C03E-1281-6CC25DB53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2534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D668C2-5C06-9F29-798F-C444348AE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8C79B3C-E357-6ADE-8AEA-75BAA59693B9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E1C5BE7-BCD1-83F5-C667-EC953761327E}"/>
              </a:ext>
            </a:extLst>
          </p:cNvPr>
          <p:cNvSpPr txBox="1"/>
          <p:nvPr/>
        </p:nvSpPr>
        <p:spPr>
          <a:xfrm>
            <a:off x="1187379" y="1667462"/>
            <a:ext cx="9920599" cy="25487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Cases of corporate espionage lawsuits across industries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Technology, pharmaceutical, and defense industries are prime targets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State-sponsored competitors may also engage in cyber-theft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Examples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dirty="0"/>
              <a:t>Coca-Cola vs. Pepsi (2006): Pepsi employees caught attempting to steal Coke’s trade secrets.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dirty="0"/>
              <a:t>Google vs. Uber (2017): Lawsuit over stolen self-driving car technology.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dirty="0"/>
              <a:t>DuPont (2011): Chinese company convicted of stealing chemical formula for Kevlar.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9B40D2-7CFE-0DBF-CA30-1D800800D3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556C047C-FD31-DB7A-D812-5B20A8FA4CF7}"/>
              </a:ext>
            </a:extLst>
          </p:cNvPr>
          <p:cNvSpPr txBox="1">
            <a:spLocks/>
          </p:cNvSpPr>
          <p:nvPr/>
        </p:nvSpPr>
        <p:spPr>
          <a:xfrm>
            <a:off x="921657" y="400427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/>
              <a:t>Real-World Examples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3768E8-EA1A-13F0-5EE2-DD224D963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469173B-945B-798A-2D90-5E30E91EA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1478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099F97-48C9-20B7-A2C5-AE956F359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9117D8A-2E53-4461-4A4B-984ADB24D4F4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D7DF1D3-26FA-8587-94C9-3E36C0F6588B}"/>
              </a:ext>
            </a:extLst>
          </p:cNvPr>
          <p:cNvSpPr txBox="1"/>
          <p:nvPr/>
        </p:nvSpPr>
        <p:spPr>
          <a:xfrm>
            <a:off x="1187379" y="1667462"/>
            <a:ext cx="9920599" cy="16254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Financial losses (millions to billions)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Loss of customer trust and loyalty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Competitive disadvantage in the market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Legal and regulatory consequences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A9CDA6-E72C-1630-2F74-C642CA8AB3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95E5DA6A-B3AB-F9D3-586C-8BA23439A8D8}"/>
              </a:ext>
            </a:extLst>
          </p:cNvPr>
          <p:cNvSpPr txBox="1">
            <a:spLocks/>
          </p:cNvSpPr>
          <p:nvPr/>
        </p:nvSpPr>
        <p:spPr>
          <a:xfrm>
            <a:off x="921657" y="400427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/>
              <a:t>Consequences for Victims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3645680-9F73-2FCA-B793-1B51B2468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E654E44B-065F-EFDA-C254-7C86E7178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8157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5B6360-B1FD-1199-8543-B9B9996CA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FEA4121-F930-79B0-9B88-5E5919394F00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FB36D25-3341-AD4A-B00C-61D4B1778740}"/>
              </a:ext>
            </a:extLst>
          </p:cNvPr>
          <p:cNvSpPr txBox="1"/>
          <p:nvPr/>
        </p:nvSpPr>
        <p:spPr>
          <a:xfrm>
            <a:off x="1187379" y="1667462"/>
            <a:ext cx="9920599" cy="16254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Strong </a:t>
            </a:r>
            <a:r>
              <a:rPr lang="en-US" sz="2000" b="1" dirty="0"/>
              <a:t>cybersecurity policies &amp; monitoring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Employee awareness and training</a:t>
            </a:r>
            <a:r>
              <a:rPr lang="en-US" sz="2000" dirty="0"/>
              <a:t> (reduce insider risk)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Use of </a:t>
            </a:r>
            <a:r>
              <a:rPr lang="en-US" sz="2000" b="1" dirty="0"/>
              <a:t>encryption &amp; secure communication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Regular </a:t>
            </a:r>
            <a:r>
              <a:rPr lang="en-US" sz="2000" b="1" dirty="0"/>
              <a:t>audits and access control reviews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Legal action &amp; collaboration with authorities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94FEE9-BF94-0DA4-1F03-EB5336EBF6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2046C0BA-2212-4D3B-0463-D515293AF1BE}"/>
              </a:ext>
            </a:extLst>
          </p:cNvPr>
          <p:cNvSpPr txBox="1">
            <a:spLocks/>
          </p:cNvSpPr>
          <p:nvPr/>
        </p:nvSpPr>
        <p:spPr>
          <a:xfrm>
            <a:off x="921657" y="400427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/>
              <a:t>Defense Strategies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CB6B59A-656F-5F2E-C0CF-672B8BC67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B5ED8D36-2918-45FC-A4B1-85325C010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1126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84C2EA-88B1-DDBD-CA03-E6DE485F0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A293B34-3013-6ADD-3FE3-BF6C067B96D7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955C943-C22A-82D1-BF28-D9B1D5BE4FFF}"/>
              </a:ext>
            </a:extLst>
          </p:cNvPr>
          <p:cNvSpPr txBox="1"/>
          <p:nvPr/>
        </p:nvSpPr>
        <p:spPr>
          <a:xfrm>
            <a:off x="1187379" y="1667462"/>
            <a:ext cx="9920599" cy="131766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Security objectives: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Protect intellectual property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Prevent misuse of sensitive information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Ensure </a:t>
            </a:r>
            <a:r>
              <a:rPr lang="en-US" sz="2000" b="1" dirty="0"/>
              <a:t>confidentiality, integrity, availability</a:t>
            </a:r>
            <a:r>
              <a:rPr lang="en-US" sz="2000" dirty="0"/>
              <a:t> of corporate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A793FB-3DF3-9729-64DC-BB13796771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456308EA-7F54-CE22-C362-75CC12C03C1E}"/>
              </a:ext>
            </a:extLst>
          </p:cNvPr>
          <p:cNvSpPr txBox="1">
            <a:spLocks/>
          </p:cNvSpPr>
          <p:nvPr/>
        </p:nvSpPr>
        <p:spPr>
          <a:xfrm>
            <a:off x="921657" y="400427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/>
              <a:t>ISO 27002 Perspective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E23821C-6FC6-A9E5-E39A-ED84BD2C9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11E23F86-8D05-6706-97DF-BD9FE66B3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950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81798C-891D-6739-D40E-3D2765D5B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ED889C5-9B1A-AB3D-BFC0-C6CE0F726004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E3B5AF9-9383-B7B2-A293-27BE40843DA7}"/>
              </a:ext>
            </a:extLst>
          </p:cNvPr>
          <p:cNvSpPr txBox="1"/>
          <p:nvPr/>
        </p:nvSpPr>
        <p:spPr>
          <a:xfrm>
            <a:off x="992777" y="1667462"/>
            <a:ext cx="10115202" cy="101477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Competitor threats are part of the </a:t>
            </a:r>
            <a:r>
              <a:rPr lang="en-US" sz="2000" b="1" dirty="0"/>
              <a:t>“criminal era” of cyber risks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Organizations must defend against both </a:t>
            </a:r>
            <a:r>
              <a:rPr lang="en-US" sz="2000" b="1" dirty="0"/>
              <a:t>external attackers</a:t>
            </a:r>
            <a:r>
              <a:rPr lang="en-US" sz="2000" dirty="0"/>
              <a:t> and </a:t>
            </a:r>
            <a:r>
              <a:rPr lang="en-US" sz="2000" b="1" dirty="0"/>
              <a:t>corporate spies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A proactive security culture is essential to </a:t>
            </a:r>
            <a:r>
              <a:rPr lang="en-US" sz="2000" b="1" dirty="0"/>
              <a:t>safeguard competitive edge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B146CC-6830-BA0E-2F18-A5F3DE5588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D5A0B035-5139-D85F-C3AC-83A828BFE936}"/>
              </a:ext>
            </a:extLst>
          </p:cNvPr>
          <p:cNvSpPr txBox="1">
            <a:spLocks/>
          </p:cNvSpPr>
          <p:nvPr/>
        </p:nvSpPr>
        <p:spPr>
          <a:xfrm>
            <a:off x="921657" y="400427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/>
              <a:t>Conclusion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CE77A8D-075E-38EE-361E-952FDB7A4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8E938165-D4A4-9FC4-9371-AB14CEE6C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4512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738EA7-BA66-E867-25B6-572B68020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E14AD35-6A00-9B8E-92E4-0A81150BB823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62650B0-663C-929C-6593-880ED4BF6B5D}"/>
              </a:ext>
            </a:extLst>
          </p:cNvPr>
          <p:cNvSpPr txBox="1"/>
          <p:nvPr/>
        </p:nvSpPr>
        <p:spPr>
          <a:xfrm>
            <a:off x="1084021" y="1696294"/>
            <a:ext cx="9708543" cy="38593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Cyberwar the use of computer technology to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disrupt the activities of a state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organization, especially the deliberate attacking of information systems for strategic or military purposes.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Cyberterrorism involves hacking to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conduct terrorist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 via networks or the Internet.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Governments worldwide are working to secure: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§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computing systems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§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networks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§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and power infrastructures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67C4DC-83DC-0DB8-26EA-0048B8C8A6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0DD62230-7C3B-7222-2985-33E021F194F9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Cyberwar and Cyberterrorism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7C6C835-E57C-DE2E-3740-34554E11C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75F83035-7028-5184-6736-075B8A204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8587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7B1F58-01E2-5EEE-7A93-882CC536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8E54C76-3174-0643-1C79-618203E8E475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EF27D20-697F-C502-2EFD-BFEC0ACDFF37}"/>
              </a:ext>
            </a:extLst>
          </p:cNvPr>
          <p:cNvSpPr txBox="1"/>
          <p:nvPr/>
        </p:nvSpPr>
        <p:spPr>
          <a:xfrm>
            <a:off x="1325217" y="2022712"/>
            <a:ext cx="8794820" cy="174342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/>
              <a:t>Origin of the Term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§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Coined in the 1980s by Barry Collin (Institute for Security and Intelligence, California).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§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as the convergence of cyberspace + terrorism.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829E83-F252-E958-78C5-C657125365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5EDAC07D-5C02-4CD7-64DE-6F627089FC1F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Cyberwar and Cyberterrorism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0186184-AF3D-75F4-0352-C580569F0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7EEA5C9B-0CB8-163F-20BE-4541A5377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3073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5CF014-416C-1468-45B4-45D60DB1B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DEDE93F-504A-3DCD-4ACB-ADA0CA1ED1AA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795642E-FF10-66A3-091E-4139F2187535}"/>
              </a:ext>
            </a:extLst>
          </p:cNvPr>
          <p:cNvSpPr txBox="1"/>
          <p:nvPr/>
        </p:nvSpPr>
        <p:spPr>
          <a:xfrm>
            <a:off x="1325217" y="2022712"/>
            <a:ext cx="8794820" cy="229229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 Pollitt (FBI) defines cyberterrorism as: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Premeditated, politically motivated attacks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information, computer systems, programs, and data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in violence against noncombatant targets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Carried out by subnational groups or clandestine agents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F0B1B1-BADB-57FA-EA01-A9B277662F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90C0D5EB-E89A-B2F7-B427-2E4DCAE951CF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FBI Definition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5979050-96CF-EF78-2660-6B78DD816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4B5EBDA-2A84-7FFA-27FE-944328371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8909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3B8F46-01CF-2B12-FDFB-4CF342AF0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7437EBD-0A6C-D9A0-9E96-865ADAD3E67F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C8E63BF-0719-99BD-2B14-46474C968830}"/>
              </a:ext>
            </a:extLst>
          </p:cNvPr>
          <p:cNvSpPr txBox="1"/>
          <p:nvPr/>
        </p:nvSpPr>
        <p:spPr>
          <a:xfrm>
            <a:off x="1325217" y="2022712"/>
            <a:ext cx="8794820" cy="165365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Defacement of NATO websites during the Kosovo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War (1998-1999).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experts considered cyberterrorism as hype that distracts from pressing cybersecurity issues.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417183-1752-A784-AD49-F2A537DE38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4960959A-59F5-2468-67EB-274A25EF434C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Instances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F06D1A7-E938-EDAF-FF38-E1204AA7A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EAD8A29-3E65-A885-91DC-EEE9A6194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9901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506E21-4882-F51E-49E7-A22D2ABAC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BB4DCFF-A58D-BC8B-87CD-62706C79A8B8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B9B487D-6BCA-E16B-F924-58C2B7BBE04F}"/>
              </a:ext>
            </a:extLst>
          </p:cNvPr>
          <p:cNvSpPr txBox="1"/>
          <p:nvPr/>
        </p:nvSpPr>
        <p:spPr>
          <a:xfrm>
            <a:off x="1325217" y="2022712"/>
            <a:ext cx="8794820" cy="220252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 21, 2002: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Distributed Denial-of-Service (DDoS) attack targeted the 13 root DNS servers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out of 13 servers jammed.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mitigated quickly; most Internet users unaffected.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63D0B9-B3FA-0136-D37B-9BA5F972BE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7BFCCB30-4A57-997D-0C11-7F21CE4496F5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Notable Attack (2002)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EE12BD7-BBA9-C970-CDC4-8ACF0440A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79788A54-0B70-289C-EC83-97812B981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9378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3CC93A-C7AF-966B-C6ED-94CC5D90C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5369F45-3C8F-5BC8-0E1B-58FF1932802F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06B250D-6E28-40D7-2A7E-956EF3D25E78}"/>
              </a:ext>
            </a:extLst>
          </p:cNvPr>
          <p:cNvSpPr txBox="1"/>
          <p:nvPr/>
        </p:nvSpPr>
        <p:spPr>
          <a:xfrm>
            <a:off x="1187380" y="1667462"/>
            <a:ext cx="8794820" cy="33951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peak, only 6% of DNS requests went unanswered.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Normally, DNS responds almost 100% of the time.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limited, the attack showed the potential scale of cyberterrorism threats.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Cyberterrorism poses risks to national security and critical infrastructure.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small disruptions highlight vulnerabilities in global systems.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improvement in cyber defense strategies is essential.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E3023E-F313-7C0E-227F-57CA65693F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BDC4CCA2-EC41-52C4-42F2-AE434968C61B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the Attack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30A104-E7EA-E19B-DD02-198E2F3CB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93311DB6-F26B-1BB6-EA58-DC8DEC96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775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923E75-986C-927B-B06C-937AA87F4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0BE1DE4-A53E-061B-81D1-72AD21C2EEEB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E9FDA53-CE6F-5A19-D87C-F3D5DF42E1C4}"/>
              </a:ext>
            </a:extLst>
          </p:cNvPr>
          <p:cNvSpPr txBox="1"/>
          <p:nvPr/>
        </p:nvSpPr>
        <p:spPr>
          <a:xfrm>
            <a:off x="957816" y="1636470"/>
            <a:ext cx="10241407" cy="436978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/>
              <a:t>Principles of Information Security Fourth Edition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/>
              <a:t>COMPUTER SECURITY PRINCIPLES AND PRACTICE Second Edition William Stallings Lawrie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/>
              <a:t>COMPUTER SECURITY PRINCIPLES AND PRACTICE Fourth Edition William Stallings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/>
              <a:t>ISO/IEC 27002:2022 – Information Security Controls.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 err="1"/>
              <a:t>Kshetri</a:t>
            </a:r>
            <a:r>
              <a:rPr lang="en-US" sz="2000" dirty="0"/>
              <a:t>, N. (2019). 1. Cybersecurity and International Relations. 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/>
              <a:t>MIT </a:t>
            </a:r>
            <a:r>
              <a:rPr lang="en-US" sz="2000" dirty="0" err="1"/>
              <a:t>Press.U.S</a:t>
            </a:r>
            <a:r>
              <a:rPr lang="en-US" sz="2000" dirty="0"/>
              <a:t>. Department of Justice – Economic Espionage Act (1996).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/>
              <a:t>BBC News (2006). “Pepsi employee offered Coke secrets.”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/>
              <a:t>Reuters (2017). “Google’s Waymo settles with Uber in trade secrets lawsuit.”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/>
              <a:t>FBI (2020). Corporate Espionage Threats and Prevention.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9B15CF-4F91-6EEC-D945-F136680AD9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B676C8EA-1DA9-5A72-2F3A-5C3A5D38A365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C1BED8F-5954-ED44-9DB8-5019D1222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124AC3CA-3A2A-79C0-C46C-679421A77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9614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689F9-F859-4C71-BAB1-E2C180571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8" y="368602"/>
            <a:ext cx="3498669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P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12" name="object 2"/>
          <p:cNvSpPr/>
          <p:nvPr/>
        </p:nvSpPr>
        <p:spPr>
          <a:xfrm>
            <a:off x="535261" y="1765588"/>
            <a:ext cx="11220931" cy="40865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nvlpubs.nist.gov/nistpubs/CSWP/NIST.CSWP.29.pdf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464544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</a:t>
            </a:r>
            <a:r>
              <a:rPr lang="en-US" sz="2400" dirty="0" smtClean="0">
                <a:solidFill>
                  <a:srgbClr val="464544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www.scribd.com/document/900236879/Cybersecurity-Frameworks-and-Standards-1720047371</a:t>
            </a:r>
            <a:endParaRPr lang="en-US" sz="2400" dirty="0" smtClean="0">
              <a:solidFill>
                <a:srgbClr val="46454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464544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</a:t>
            </a:r>
            <a:r>
              <a:rPr lang="en-US" sz="2400" dirty="0" smtClean="0">
                <a:solidFill>
                  <a:srgbClr val="464544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www.nist.gov/cyberframework</a:t>
            </a:r>
            <a:endParaRPr lang="en-US" sz="2400" dirty="0" smtClean="0">
              <a:solidFill>
                <a:srgbClr val="46454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464544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</a:t>
            </a:r>
            <a:r>
              <a:rPr lang="en-US" sz="2400" dirty="0" smtClean="0">
                <a:solidFill>
                  <a:srgbClr val="464544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www.attackiq.com/wp-content/uploads/2021/02/cisos-guide-to-the-top-cybersecurity-frameworks.pdf</a:t>
            </a:r>
            <a:endParaRPr lang="en-US" sz="2400" dirty="0" smtClean="0">
              <a:solidFill>
                <a:srgbClr val="46454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464544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https://sprinto.com/blog/iso-27001-risk-management-policy</a:t>
            </a:r>
            <a:r>
              <a:rPr lang="en-US" sz="2400" dirty="0" smtClean="0">
                <a:solidFill>
                  <a:srgbClr val="464544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/</a:t>
            </a:r>
            <a:endParaRPr lang="en-US" sz="2400" dirty="0" smtClean="0">
              <a:solidFill>
                <a:srgbClr val="46454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sz="2400" dirty="0" smtClean="0"/>
              <a:t>Principles of Information Security (Fourth Edition)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sz="2400" dirty="0"/>
              <a:t>COMPUTER SECURITY PRINCIPLES AND PRACTICE Second Edition</a:t>
            </a:r>
            <a:endParaRPr lang="en-US" sz="2400" dirty="0" smtClean="0">
              <a:solidFill>
                <a:srgbClr val="46454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87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7281" y="1799971"/>
            <a:ext cx="10115202" cy="45093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99" y="2286000"/>
            <a:ext cx="9718766" cy="3148149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227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4630</TotalTime>
  <Words>2544</Words>
  <Application>Microsoft Office PowerPoint</Application>
  <PresentationFormat>Widescreen</PresentationFormat>
  <Paragraphs>403</Paragraphs>
  <Slides>45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Enhancing the image steganography  using LSB substitution</dc:title>
  <dc:creator>Muhammad Umar Aftab</dc:creator>
  <cp:lastModifiedBy>Umar</cp:lastModifiedBy>
  <cp:revision>326</cp:revision>
  <dcterms:created xsi:type="dcterms:W3CDTF">2020-05-17T12:17:03Z</dcterms:created>
  <dcterms:modified xsi:type="dcterms:W3CDTF">2025-08-27T07:01:32Z</dcterms:modified>
</cp:coreProperties>
</file>