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47"/>
  </p:notesMasterIdLst>
  <p:sldIdLst>
    <p:sldId id="280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81" r:id="rId15"/>
    <p:sldId id="282" r:id="rId16"/>
    <p:sldId id="270" r:id="rId17"/>
    <p:sldId id="271" r:id="rId18"/>
    <p:sldId id="272" r:id="rId19"/>
    <p:sldId id="283" r:id="rId20"/>
    <p:sldId id="284" r:id="rId21"/>
    <p:sldId id="285" r:id="rId22"/>
    <p:sldId id="286" r:id="rId23"/>
    <p:sldId id="287" r:id="rId24"/>
    <p:sldId id="288" r:id="rId25"/>
    <p:sldId id="289" r:id="rId26"/>
    <p:sldId id="290" r:id="rId27"/>
    <p:sldId id="291" r:id="rId28"/>
    <p:sldId id="292" r:id="rId29"/>
    <p:sldId id="293" r:id="rId30"/>
    <p:sldId id="294" r:id="rId31"/>
    <p:sldId id="295" r:id="rId32"/>
    <p:sldId id="296" r:id="rId33"/>
    <p:sldId id="297" r:id="rId34"/>
    <p:sldId id="298" r:id="rId35"/>
    <p:sldId id="299" r:id="rId36"/>
    <p:sldId id="300" r:id="rId37"/>
    <p:sldId id="301" r:id="rId38"/>
    <p:sldId id="302" r:id="rId39"/>
    <p:sldId id="303" r:id="rId40"/>
    <p:sldId id="273" r:id="rId41"/>
    <p:sldId id="274" r:id="rId42"/>
    <p:sldId id="275" r:id="rId43"/>
    <p:sldId id="276" r:id="rId44"/>
    <p:sldId id="278" r:id="rId45"/>
    <p:sldId id="279" r:id="rId46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913" autoAdjust="0"/>
  </p:normalViewPr>
  <p:slideViewPr>
    <p:cSldViewPr>
      <p:cViewPr varScale="1">
        <p:scale>
          <a:sx n="81" d="100"/>
          <a:sy n="81" d="100"/>
        </p:scale>
        <p:origin x="170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notesMaster" Target="notesMasters/notesMaster1.xml"/><Relationship Id="rId50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A8721A-492C-44B0-8F99-00F39D502BFE}" type="datetimeFigureOut">
              <a:rPr lang="en-GB" smtClean="0"/>
              <a:t>22/12/2021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C7F266-DE7E-4FC1-A88F-7642405DA67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07734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NIST announced for a successor of DES because DEC become vulnerable to </a:t>
            </a:r>
            <a:r>
              <a:rPr lang="en-US" dirty="0" err="1"/>
              <a:t>bruteforce</a:t>
            </a:r>
            <a:r>
              <a:rPr lang="en-US" dirty="0"/>
              <a:t> attack.</a:t>
            </a:r>
          </a:p>
          <a:p>
            <a:r>
              <a:rPr lang="en-US" dirty="0"/>
              <a:t>DEC cracked by super computer at that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59092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Key size= 10 </a:t>
            </a:r>
            <a:r>
              <a:rPr lang="en-US" dirty="0">
                <a:sym typeface="Wingdings" panose="05000000000000000000" pitchFamily="2" charset="2"/>
              </a:rPr>
              <a:t> Round = 11 (10 + 1[zero round])</a:t>
            </a:r>
            <a:endParaRPr lang="en-US" dirty="0"/>
          </a:p>
          <a:p>
            <a:r>
              <a:rPr lang="en-US" dirty="0"/>
              <a:t>Starting Key = K0 </a:t>
            </a:r>
            <a:r>
              <a:rPr lang="en-US" dirty="0">
                <a:sym typeface="Wingdings" panose="05000000000000000000" pitchFamily="2" charset="2"/>
              </a:rPr>
              <a:t> generate other keys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16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38991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A=41 &amp; Z=5A</a:t>
            </a:r>
          </a:p>
          <a:p>
            <a:r>
              <a:rPr lang="en-US"/>
              <a:t>0= 30 &amp; 9=39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478063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create a cube from the data.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get our key sate and generate other keys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77112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we get our key sate and generate other keys</a:t>
            </a:r>
            <a:endParaRPr lang="en-US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0753754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Now Take XOR with every column &amp; first computed column.</a:t>
            </a:r>
          </a:p>
          <a:p>
            <a:r>
              <a:rPr lang="en-US" dirty="0"/>
              <a:t>Key state became key 0, &amp; Key 1 we get in this slide. </a:t>
            </a:r>
            <a:r>
              <a:rPr lang="en-US" dirty="0">
                <a:sym typeface="Wingdings" panose="05000000000000000000" pitchFamily="2" charset="2"/>
              </a:rPr>
              <a:t> key 1 create key 2 &amp; so on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270704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3777352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this round, simply Key 0 </a:t>
            </a:r>
            <a:r>
              <a:rPr lang="en-US" b="1" dirty="0"/>
              <a:t>XOR</a:t>
            </a:r>
            <a:r>
              <a:rPr lang="en-US" dirty="0"/>
              <a:t> with message state.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5130952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5326685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29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430546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Interesting One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35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605632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36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75080485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37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04110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3X will considered as 1 but even number of X will be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38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1179195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3X will considered as 1 but even number of X will be 0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39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034835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https://formaestudio.com/rijndaelinspector/archivos/Rijndael_Animation_v4_eng-html5.html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40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56125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Tweaked (twisted)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C7F266-DE7E-4FC1-A88F-7642405DA679}" type="slidenum">
              <a:rPr lang="en-GB" smtClean="0"/>
              <a:t>42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485046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22960" y="758952"/>
            <a:ext cx="75438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6000" spc="-38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25038" y="4455621"/>
            <a:ext cx="75438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 algn="ctr">
              <a:buNone/>
              <a:defRPr sz="1800"/>
            </a:lvl2pPr>
            <a:lvl3pPr marL="685800" indent="0" algn="ctr">
              <a:buNone/>
              <a:defRPr sz="1800"/>
            </a:lvl3pPr>
            <a:lvl4pPr marL="1028700" indent="0" algn="ctr">
              <a:buNone/>
              <a:defRPr sz="1500"/>
            </a:lvl4pPr>
            <a:lvl5pPr marL="1371600" indent="0" algn="ctr">
              <a:buNone/>
              <a:defRPr sz="1500"/>
            </a:lvl5pPr>
            <a:lvl6pPr marL="1714500" indent="0" algn="ctr">
              <a:buNone/>
              <a:defRPr sz="1500"/>
            </a:lvl6pPr>
            <a:lvl7pPr marL="2057400" indent="0" algn="ctr">
              <a:buNone/>
              <a:defRPr sz="1500"/>
            </a:lvl7pPr>
            <a:lvl8pPr marL="2400300" indent="0" algn="ctr">
              <a:buNone/>
              <a:defRPr sz="1500"/>
            </a:lvl8pPr>
            <a:lvl9pPr marL="2743200" indent="0" algn="ctr">
              <a:buNone/>
              <a:defRPr sz="15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3FB4D14-7E1C-48D0-81DD-6AA58F7EF328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387707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ED6A31-8FB7-4AAA-9650-FD165028B88C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7863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758952"/>
            <a:ext cx="75438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6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4453128"/>
            <a:ext cx="75438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1800" cap="all" spc="150" baseline="0">
                <a:solidFill>
                  <a:schemeClr val="tx2"/>
                </a:solidFill>
                <a:latin typeface="+mj-lt"/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85302-45E8-4A32-AAAB-34EBE7154C6D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9" name="Straight Connector 8"/>
          <p:cNvCxnSpPr/>
          <p:nvPr/>
        </p:nvCxnSpPr>
        <p:spPr>
          <a:xfrm>
            <a:off x="905744" y="4343400"/>
            <a:ext cx="740664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22879369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2959" y="1845734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63440" y="1845735"/>
            <a:ext cx="3703320" cy="402336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6F6921-7D60-468A-B541-4FC3B4A3DBE6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658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440" y="1846052"/>
            <a:ext cx="370332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1500" b="0" cap="all" baseline="0">
                <a:solidFill>
                  <a:schemeClr val="tx2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3440" y="2582334"/>
            <a:ext cx="3703320" cy="33782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9EDC5-DF3B-4C90-BC23-B66740810C64}" type="datetime1">
              <a:rPr lang="en-US" smtClean="0"/>
              <a:t>12/22/2021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00292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D05BE3-D155-4CDE-851D-B845CD10239F}" type="datetime1">
              <a:rPr lang="en-US" smtClean="0"/>
              <a:t>12/22/2021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51601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85B4E3-E4AD-477D-8393-181F066FE2FB}" type="datetime1">
              <a:rPr lang="en-US" smtClean="0"/>
              <a:t>12/22/2021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74850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3" y="0"/>
            <a:ext cx="3038093" cy="6858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3030053" y="0"/>
            <a:ext cx="48006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2900" y="594359"/>
            <a:ext cx="2400300" cy="2286000"/>
          </a:xfrm>
        </p:spPr>
        <p:txBody>
          <a:bodyPr anchor="b">
            <a:norm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00450" y="731520"/>
            <a:ext cx="4869180" cy="525780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2900" y="2926080"/>
            <a:ext cx="24003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349134" y="6459786"/>
            <a:ext cx="1963883" cy="365125"/>
          </a:xfrm>
        </p:spPr>
        <p:txBody>
          <a:bodyPr/>
          <a:lstStyle>
            <a:lvl1pPr algn="l">
              <a:defRPr/>
            </a:lvl1pPr>
          </a:lstStyle>
          <a:p>
            <a:fld id="{A49EFD99-BA02-4C6D-8749-3C1D70EA5C92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600450" y="6459786"/>
            <a:ext cx="348615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782214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9141619" cy="19050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491507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2960" y="5074920"/>
            <a:ext cx="7585234" cy="822960"/>
          </a:xfrm>
        </p:spPr>
        <p:txBody>
          <a:bodyPr lIns="91440" tIns="0" rIns="91440" bIns="0" anchor="b">
            <a:noAutofit/>
          </a:bodyPr>
          <a:lstStyle>
            <a:lvl1pPr>
              <a:defRPr sz="27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2" y="0"/>
            <a:ext cx="9143989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22960" y="5907024"/>
            <a:ext cx="7584948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450"/>
              </a:spcAft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7CE6615-4AA6-4B85-BDBB-7ACA040E20FD}" type="datetime1">
              <a:rPr lang="en-US" smtClean="0"/>
              <a:t>12/22/2021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52129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6CC95F-8E16-4C6E-A43F-F60DEA8202E4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07876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82" y="6400800"/>
            <a:ext cx="9141619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2" y="6334316"/>
            <a:ext cx="9141619" cy="64008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412302"/>
            <a:ext cx="1971675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412302"/>
            <a:ext cx="5800725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66D88C-1BFA-45F1-9D3F-3CDFB5E16DDF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795156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9144000" cy="457200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2" y="6334316"/>
            <a:ext cx="9143989" cy="66484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22960" y="286604"/>
            <a:ext cx="75438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2960" y="1845734"/>
            <a:ext cx="75438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2961" y="6459786"/>
            <a:ext cx="18542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>
                <a:solidFill>
                  <a:srgbClr val="FFFFFF"/>
                </a:solidFill>
              </a:defRPr>
            </a:lvl1pPr>
          </a:lstStyle>
          <a:p>
            <a:fld id="{71E1CB88-ECC6-427D-98E0-837FC4F04CE8}" type="datetime1">
              <a:rPr lang="en-US" smtClean="0"/>
              <a:t>12/22/2021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764639" y="6459786"/>
            <a:ext cx="36171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75" cap="all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425344" y="6459786"/>
            <a:ext cx="9840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rgbClr val="FFFFFF"/>
                </a:solidFill>
              </a:defRPr>
            </a:lvl1pPr>
          </a:lstStyle>
          <a:p>
            <a:fld id="{B6F15528-21DE-4FAA-801E-634DDDAF4B2B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895149" y="1737845"/>
            <a:ext cx="74752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156684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hf hdr="0" dt="0"/>
  <p:txStyles>
    <p:titleStyle>
      <a:lvl1pPr algn="l" defTabSz="685800" rtl="0" eaLnBrk="1" latinLnBrk="0" hangingPunct="1">
        <a:lnSpc>
          <a:spcPct val="85000"/>
        </a:lnSpc>
        <a:spcBef>
          <a:spcPct val="0"/>
        </a:spcBef>
        <a:buNone/>
        <a:defRPr sz="3600" kern="1200" spc="-38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68580" indent="-68580" algn="l" defTabSz="685800" rtl="0" eaLnBrk="1" latinLnBrk="0" hangingPunct="1">
        <a:lnSpc>
          <a:spcPct val="90000"/>
        </a:lnSpc>
        <a:spcBef>
          <a:spcPts val="900"/>
        </a:spcBef>
        <a:spcAft>
          <a:spcPts val="15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5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28803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3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42519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56235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699516" indent="-13716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8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9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12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275000" indent="-171450" algn="l" defTabSz="685800" rtl="0" eaLnBrk="1" latinLnBrk="0" hangingPunct="1">
        <a:lnSpc>
          <a:spcPct val="90000"/>
        </a:lnSpc>
        <a:spcBef>
          <a:spcPts val="150"/>
        </a:spcBef>
        <a:spcAft>
          <a:spcPts val="300"/>
        </a:spcAft>
        <a:buClr>
          <a:schemeClr val="accent1"/>
        </a:buClr>
        <a:buFont typeface="Calibri" pitchFamily="34" charset="0"/>
        <a:buChar char="◦"/>
        <a:defRPr sz="105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en.wikipedia.org/wiki/Data_Encryption_Standard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.png"/><Relationship Id="rId4" Type="http://schemas.openxmlformats.org/officeDocument/2006/relationships/hyperlink" Target="https://formaestudio.com/rijndaelinspector/archivos/Rijndael_Animation_v4_eng-html5.html" TargetMode="Externa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object 6"/>
          <p:cNvGrpSpPr/>
          <p:nvPr/>
        </p:nvGrpSpPr>
        <p:grpSpPr>
          <a:xfrm>
            <a:off x="6821423" y="2398179"/>
            <a:ext cx="895350" cy="1847374"/>
            <a:chOff x="7571231" y="2942844"/>
            <a:chExt cx="1193800" cy="2463165"/>
          </a:xfrm>
        </p:grpSpPr>
        <p:sp>
          <p:nvSpPr>
            <p:cNvPr id="7" name="object 7"/>
            <p:cNvSpPr/>
            <p:nvPr/>
          </p:nvSpPr>
          <p:spPr>
            <a:xfrm>
              <a:off x="7571231" y="2942844"/>
              <a:ext cx="1193292" cy="246278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8" name="object 8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911225" y="0"/>
                  </a:moveTo>
                  <a:lnTo>
                    <a:pt x="0" y="0"/>
                  </a:lnTo>
                  <a:lnTo>
                    <a:pt x="0" y="2074926"/>
                  </a:lnTo>
                  <a:lnTo>
                    <a:pt x="911225" y="2074926"/>
                  </a:lnTo>
                  <a:lnTo>
                    <a:pt x="911225" y="0"/>
                  </a:lnTo>
                  <a:close/>
                </a:path>
              </a:pathLst>
            </a:custGeom>
            <a:solidFill>
              <a:srgbClr val="B5AD52">
                <a:alpha val="70195"/>
              </a:srgbClr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9" name="object 9"/>
            <p:cNvSpPr/>
            <p:nvPr/>
          </p:nvSpPr>
          <p:spPr>
            <a:xfrm>
              <a:off x="7712074" y="3136773"/>
              <a:ext cx="911225" cy="2075180"/>
            </a:xfrm>
            <a:custGeom>
              <a:avLst/>
              <a:gdLst/>
              <a:ahLst/>
              <a:cxnLst/>
              <a:rect l="l" t="t" r="r" b="b"/>
              <a:pathLst>
                <a:path w="911225" h="2075179">
                  <a:moveTo>
                    <a:pt x="0" y="2074926"/>
                  </a:moveTo>
                  <a:lnTo>
                    <a:pt x="911225" y="2074926"/>
                  </a:lnTo>
                  <a:lnTo>
                    <a:pt x="911225" y="0"/>
                  </a:lnTo>
                  <a:lnTo>
                    <a:pt x="0" y="0"/>
                  </a:lnTo>
                  <a:lnTo>
                    <a:pt x="0" y="2074926"/>
                  </a:lnTo>
                  <a:close/>
                </a:path>
              </a:pathLst>
            </a:custGeom>
            <a:ln w="6350">
              <a:solidFill>
                <a:srgbClr val="6B7C71"/>
              </a:solidFill>
            </a:ln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grpSp>
        <p:nvGrpSpPr>
          <p:cNvPr id="10" name="object 10"/>
          <p:cNvGrpSpPr/>
          <p:nvPr/>
        </p:nvGrpSpPr>
        <p:grpSpPr>
          <a:xfrm>
            <a:off x="1477565" y="2453559"/>
            <a:ext cx="5210175" cy="1683544"/>
            <a:chOff x="446087" y="3055873"/>
            <a:chExt cx="6946900" cy="2244725"/>
          </a:xfrm>
        </p:grpSpPr>
        <p:sp>
          <p:nvSpPr>
            <p:cNvPr id="11" name="object 11"/>
            <p:cNvSpPr/>
            <p:nvPr/>
          </p:nvSpPr>
          <p:spPr>
            <a:xfrm>
              <a:off x="446087" y="3055873"/>
              <a:ext cx="6946900" cy="2244725"/>
            </a:xfrm>
            <a:custGeom>
              <a:avLst/>
              <a:gdLst/>
              <a:ahLst/>
              <a:cxnLst/>
              <a:rect l="l" t="t" r="r" b="b"/>
              <a:pathLst>
                <a:path w="6946900" h="2244725">
                  <a:moveTo>
                    <a:pt x="6946900" y="0"/>
                  </a:moveTo>
                  <a:lnTo>
                    <a:pt x="0" y="0"/>
                  </a:lnTo>
                  <a:lnTo>
                    <a:pt x="0" y="2244725"/>
                  </a:lnTo>
                  <a:lnTo>
                    <a:pt x="6946900" y="2244725"/>
                  </a:lnTo>
                  <a:lnTo>
                    <a:pt x="694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2" name="object 12"/>
            <p:cNvSpPr/>
            <p:nvPr/>
          </p:nvSpPr>
          <p:spPr>
            <a:xfrm>
              <a:off x="536575" y="3136899"/>
              <a:ext cx="6765925" cy="2082800"/>
            </a:xfrm>
            <a:custGeom>
              <a:avLst/>
              <a:gdLst/>
              <a:ahLst/>
              <a:cxnLst/>
              <a:rect l="l" t="t" r="r" b="b"/>
              <a:pathLst>
                <a:path w="6765925" h="2082800">
                  <a:moveTo>
                    <a:pt x="6764528" y="0"/>
                  </a:moveTo>
                  <a:lnTo>
                    <a:pt x="1422" y="0"/>
                  </a:lnTo>
                  <a:lnTo>
                    <a:pt x="0" y="1397"/>
                  </a:lnTo>
                  <a:lnTo>
                    <a:pt x="0" y="2081402"/>
                  </a:lnTo>
                  <a:lnTo>
                    <a:pt x="1422" y="2082800"/>
                  </a:lnTo>
                  <a:lnTo>
                    <a:pt x="6764528" y="2082800"/>
                  </a:lnTo>
                  <a:lnTo>
                    <a:pt x="6765925" y="2081402"/>
                  </a:lnTo>
                  <a:lnTo>
                    <a:pt x="6765925" y="2080641"/>
                  </a:lnTo>
                  <a:lnTo>
                    <a:pt x="2590" y="2080641"/>
                  </a:lnTo>
                  <a:lnTo>
                    <a:pt x="2120" y="2080260"/>
                  </a:lnTo>
                  <a:lnTo>
                    <a:pt x="2120" y="2539"/>
                  </a:lnTo>
                  <a:lnTo>
                    <a:pt x="2590" y="2159"/>
                  </a:lnTo>
                  <a:lnTo>
                    <a:pt x="6765925" y="2159"/>
                  </a:lnTo>
                  <a:lnTo>
                    <a:pt x="6765925" y="1397"/>
                  </a:lnTo>
                  <a:lnTo>
                    <a:pt x="6764528" y="0"/>
                  </a:lnTo>
                  <a:close/>
                </a:path>
                <a:path w="6765925" h="2082800">
                  <a:moveTo>
                    <a:pt x="6765925" y="2159"/>
                  </a:moveTo>
                  <a:lnTo>
                    <a:pt x="6763384" y="2159"/>
                  </a:lnTo>
                  <a:lnTo>
                    <a:pt x="6763766" y="2539"/>
                  </a:lnTo>
                  <a:lnTo>
                    <a:pt x="6763766" y="2080260"/>
                  </a:lnTo>
                  <a:lnTo>
                    <a:pt x="6763384" y="2080641"/>
                  </a:lnTo>
                  <a:lnTo>
                    <a:pt x="6765925" y="2080641"/>
                  </a:lnTo>
                  <a:lnTo>
                    <a:pt x="6765925" y="2159"/>
                  </a:lnTo>
                  <a:close/>
                </a:path>
                <a:path w="6765925" h="2082800">
                  <a:moveTo>
                    <a:pt x="6761733" y="4190"/>
                  </a:moveTo>
                  <a:lnTo>
                    <a:pt x="4229" y="4190"/>
                  </a:lnTo>
                  <a:lnTo>
                    <a:pt x="4229" y="2078608"/>
                  </a:lnTo>
                  <a:lnTo>
                    <a:pt x="6761733" y="2078608"/>
                  </a:lnTo>
                  <a:lnTo>
                    <a:pt x="6761733" y="2076450"/>
                  </a:lnTo>
                  <a:lnTo>
                    <a:pt x="6350" y="2076450"/>
                  </a:lnTo>
                  <a:lnTo>
                    <a:pt x="6350" y="6350"/>
                  </a:lnTo>
                  <a:lnTo>
                    <a:pt x="6761733" y="6350"/>
                  </a:lnTo>
                  <a:lnTo>
                    <a:pt x="6761733" y="4190"/>
                  </a:lnTo>
                  <a:close/>
                </a:path>
                <a:path w="6765925" h="2082800">
                  <a:moveTo>
                    <a:pt x="6761733" y="6350"/>
                  </a:moveTo>
                  <a:lnTo>
                    <a:pt x="6759575" y="6350"/>
                  </a:lnTo>
                  <a:lnTo>
                    <a:pt x="6759575" y="2076450"/>
                  </a:lnTo>
                  <a:lnTo>
                    <a:pt x="6761733" y="2076450"/>
                  </a:lnTo>
                  <a:lnTo>
                    <a:pt x="6761733" y="6350"/>
                  </a:lnTo>
                  <a:close/>
                </a:path>
              </a:pathLst>
            </a:custGeom>
            <a:solidFill>
              <a:srgbClr val="6B7C71"/>
            </a:solidFill>
          </p:spPr>
          <p:txBody>
            <a:bodyPr wrap="square" lIns="0" tIns="0" rIns="0" bIns="0" rtlCol="0"/>
            <a:lstStyle/>
            <a:p>
              <a:endParaRPr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1549003" y="3581130"/>
            <a:ext cx="5067300" cy="492026"/>
          </a:xfrm>
          <a:prstGeom prst="rect">
            <a:avLst/>
          </a:prstGeom>
          <a:solidFill>
            <a:srgbClr val="92A199"/>
          </a:solidFill>
        </p:spPr>
        <p:txBody>
          <a:bodyPr vert="horz" wrap="square" lIns="0" tIns="1429" rIns="0" bIns="0" rtlCol="0">
            <a:spAutoFit/>
          </a:bodyPr>
          <a:lstStyle/>
          <a:p>
            <a:pPr>
              <a:spcBef>
                <a:spcPts val="11"/>
              </a:spcBef>
            </a:pPr>
            <a:endParaRPr sz="1838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">
              <a:tabLst>
                <a:tab pos="530543" algn="l"/>
                <a:tab pos="1401604" algn="l"/>
              </a:tabLst>
            </a:pPr>
            <a:r>
              <a:rPr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sz="1350" b="1" spc="-1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sz="1350" b="1" spc="-153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350" b="1" spc="-4" dirty="0">
                <a:latin typeface="Times New Roman" panose="02020603050405020304" pitchFamily="18" charset="0"/>
                <a:cs typeface="Times New Roman" panose="02020603050405020304" pitchFamily="18" charset="0"/>
              </a:rPr>
              <a:t>.	</a:t>
            </a:r>
            <a:r>
              <a:rPr 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Muhammad Umar Aftab</a:t>
            </a:r>
            <a:endParaRPr sz="135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49004" y="2476038"/>
            <a:ext cx="5067300" cy="761586"/>
          </a:xfrm>
          <a:prstGeom prst="rect">
            <a:avLst/>
          </a:prstGeom>
        </p:spPr>
        <p:txBody>
          <a:bodyPr vert="horz" wrap="square" lIns="0" tIns="10001" rIns="0" bIns="0" rtlCol="0">
            <a:spAutoFit/>
          </a:bodyPr>
          <a:lstStyle/>
          <a:p>
            <a:pPr marL="9525" marR="3810" algn="ctr">
              <a:spcBef>
                <a:spcPts val="79"/>
              </a:spcBef>
            </a:pPr>
            <a:r>
              <a:rPr lang="en-US"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Information Security</a:t>
            </a:r>
          </a:p>
          <a:p>
            <a:pPr marL="9525" marR="3810" algn="ctr">
              <a:spcBef>
                <a:spcPts val="79"/>
              </a:spcBef>
            </a:pPr>
            <a:r>
              <a:rPr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2400" b="1" dirty="0">
                <a:solidFill>
                  <a:srgbClr val="46524B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 3</a:t>
            </a:r>
            <a:endParaRPr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17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764639" y="5702089"/>
            <a:ext cx="3617103" cy="273844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19" name="Slide Number Placeholder 1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3C51ED2-AC48-45BF-9843-B46461D80413}" type="slidenum">
              <a:rPr 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fld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Footer Placeholder 5"/>
          <p:cNvSpPr txBox="1">
            <a:spLocks/>
          </p:cNvSpPr>
          <p:nvPr/>
        </p:nvSpPr>
        <p:spPr>
          <a:xfrm>
            <a:off x="2161788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675" kern="1200" cap="all" baseline="0">
                <a:solidFill>
                  <a:srgbClr val="FFFFFF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</p:spTree>
    <p:extLst>
      <p:ext uri="{BB962C8B-B14F-4D97-AF65-F5344CB8AC3E}">
        <p14:creationId xmlns:p14="http://schemas.microsoft.com/office/powerpoint/2010/main" val="13883911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0462"/>
            <a:ext cx="35026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OTI</a:t>
            </a: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</a:t>
            </a: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ION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11" name="object 2"/>
          <p:cNvSpPr/>
          <p:nvPr/>
        </p:nvSpPr>
        <p:spPr>
          <a:xfrm>
            <a:off x="685801" y="1905000"/>
            <a:ext cx="7723562" cy="42671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Cryptography is an essential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 of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</a:t>
            </a:r>
            <a:r>
              <a:rPr lang="en-GB" sz="24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29209" indent="-342900">
              <a:lnSpc>
                <a:spcPct val="1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need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protect sensitive information and ensure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integrity  of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industrial control processes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premium on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skills in today’s information technology</a:t>
            </a:r>
            <a:r>
              <a:rPr lang="en-GB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market.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674370" indent="-342900">
              <a:lnSpc>
                <a:spcPct val="100000"/>
              </a:lnSpc>
              <a:spcBef>
                <a:spcPts val="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Demand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cyber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jobs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expected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rise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million  globally by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2019,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projected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shortfall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1.5 million,  according to Symantec,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world’s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largest security software 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vendor.</a:t>
            </a:r>
          </a:p>
          <a:p>
            <a:pPr marL="354965" indent="-342900">
              <a:lnSpc>
                <a:spcPct val="100000"/>
              </a:lnSpc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According to Forbes,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cyber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market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expected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</a:t>
            </a:r>
            <a:r>
              <a:rPr lang="en-GB" sz="24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grow from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$75 billion in 2015 to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$170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billion by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2020.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1694" y="775554"/>
            <a:ext cx="515810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TODAY’S</a:t>
            </a:r>
            <a:r>
              <a:rPr sz="4000" b="1" spc="9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LECTURE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861694" y="1950659"/>
            <a:ext cx="7547668" cy="396239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indent="-342900">
              <a:lnSpc>
                <a:spcPct val="100000"/>
              </a:lnSpc>
              <a:spcBef>
                <a:spcPts val="67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</a:t>
            </a:r>
            <a:r>
              <a:rPr lang="en-US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Encryption Standard</a:t>
            </a:r>
            <a:r>
              <a:rPr lang="en-US" sz="22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9335" lvl="2" indent="-285750">
              <a:lnSpc>
                <a:spcPct val="100000"/>
              </a:lnSpc>
              <a:spcBef>
                <a:spcPts val="445"/>
              </a:spcBef>
              <a:buClr>
                <a:srgbClr val="C00000"/>
              </a:buClr>
              <a:buSzPct val="58333"/>
              <a:buFont typeface="Wingdings" panose="05000000000000000000" pitchFamily="2" charset="2"/>
              <a:buChar char="ü"/>
              <a:tabLst>
                <a:tab pos="927735" algn="l"/>
              </a:tabLs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/</a:t>
            </a:r>
            <a:r>
              <a:rPr lang="en-US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9335" lvl="2" indent="-28575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58333"/>
              <a:buFont typeface="Wingdings" panose="05000000000000000000" pitchFamily="2" charset="2"/>
              <a:buChar char="ü"/>
              <a:tabLst>
                <a:tab pos="927735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Strength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29335" lvl="2" indent="-28575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58333"/>
              <a:buFont typeface="Wingdings" panose="05000000000000000000" pitchFamily="2" charset="2"/>
              <a:buChar char="ü"/>
              <a:tabLst>
                <a:tab pos="927735" algn="l"/>
              </a:tabLst>
            </a:pP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Weakness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US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</a:p>
          <a:p>
            <a:pPr marL="721995" lvl="1" indent="-342900">
              <a:lnSpc>
                <a:spcPct val="100000"/>
              </a:lnSpc>
              <a:spcBef>
                <a:spcPts val="490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lang="en-US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9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DES</a:t>
            </a:r>
          </a:p>
          <a:p>
            <a:pPr marL="721995" lvl="1" indent="-342900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Meet-in-the Middle</a:t>
            </a:r>
            <a:r>
              <a:rPr lang="en-US" sz="2200" spc="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5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509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 Encryption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</a:t>
            </a:r>
            <a:r>
              <a:rPr lang="en-US" sz="2200" spc="-1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(AES)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84555" y="725062"/>
            <a:ext cx="41122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sz="4000" b="1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WEAKNESS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762000" y="1600200"/>
            <a:ext cx="7524808" cy="449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67665" marR="452755" indent="-342900">
              <a:lnSpc>
                <a:spcPct val="100000"/>
              </a:lnSpc>
              <a:spcBef>
                <a:spcPts val="100"/>
              </a:spcBef>
              <a:buClr>
                <a:srgbClr val="C00000"/>
              </a:buClr>
              <a:buSzPct val="68750"/>
              <a:buFont typeface="Wingdings" panose="05000000000000000000" pitchFamily="2" charset="2"/>
              <a:buChar char="Ø"/>
              <a:tabLst>
                <a:tab pos="299085" algn="l"/>
              </a:tabLs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vulnerable to brute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force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</a:t>
            </a:r>
            <a:r>
              <a:rPr lang="en-GB" sz="2400" spc="-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key</a:t>
            </a:r>
            <a:r>
              <a:rPr lang="en-GB" sz="2400" spc="-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</a:t>
            </a:r>
          </a:p>
          <a:p>
            <a:pPr marL="367665" indent="-3429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68750"/>
              <a:buFont typeface="Wingdings" panose="05000000000000000000" pitchFamily="2" charset="2"/>
              <a:buChar char="Ø"/>
              <a:tabLst>
                <a:tab pos="299085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400" spc="-7" baseline="2430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72,057,594,037,927,936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number</a:t>
            </a:r>
            <a:r>
              <a:rPr lang="en-GB" sz="2400" spc="-2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possible keys in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obsolete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 bit </a:t>
            </a:r>
            <a:r>
              <a:rPr lang="en-GB" sz="2400" u="heavy" dirty="0">
                <a:uFill>
                  <a:solidFill>
                    <a:srgbClr val="D2601C"/>
                  </a:solidFill>
                </a:uFill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DES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  <a:hlinkClick r:id="rId4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</a:t>
            </a:r>
            <a:r>
              <a:rPr lang="en-GB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17780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8750"/>
              <a:buFont typeface="Wingdings" panose="05000000000000000000" pitchFamily="2" charset="2"/>
              <a:buChar char="Ø"/>
              <a:tabLst>
                <a:tab pos="299085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Alternative block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cipher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makes use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DES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software/equipment/knowledge: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 times with different</a:t>
            </a:r>
            <a:r>
              <a:rPr lang="en-GB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options:</a:t>
            </a:r>
          </a:p>
          <a:p>
            <a:pPr marL="740410" lvl="1" indent="-348615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739775" algn="l"/>
                <a:tab pos="741045" algn="l"/>
              </a:tabLst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</a:p>
          <a:p>
            <a:pPr marL="740410" lvl="1" indent="-348615">
              <a:lnSpc>
                <a:spcPct val="100000"/>
              </a:lnSpc>
              <a:spcBef>
                <a:spcPts val="500"/>
              </a:spcBef>
              <a:buClr>
                <a:srgbClr val="C00000"/>
              </a:buClr>
              <a:buSzPct val="78571"/>
              <a:buFont typeface="Wingdings" panose="05000000000000000000" pitchFamily="2" charset="2"/>
              <a:buChar char="v"/>
              <a:tabLst>
                <a:tab pos="739775" algn="l"/>
                <a:tab pos="741045" algn="l"/>
              </a:tabLst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Triple</a:t>
            </a:r>
            <a:r>
              <a:rPr lang="en-GB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53532" y="793033"/>
            <a:ext cx="35026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</a:t>
            </a:r>
            <a:r>
              <a:rPr sz="4000" b="1" spc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</a:p>
        </p:txBody>
      </p:sp>
      <p:sp>
        <p:nvSpPr>
          <p:cNvPr id="4" name="object 4"/>
          <p:cNvSpPr/>
          <p:nvPr/>
        </p:nvSpPr>
        <p:spPr>
          <a:xfrm>
            <a:off x="1748864" y="3581400"/>
            <a:ext cx="5704298" cy="2409825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48593" y="6454775"/>
            <a:ext cx="3617103" cy="365125"/>
          </a:xfrm>
        </p:spPr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09298" y="6454775"/>
            <a:ext cx="984019" cy="365125"/>
          </a:xfrm>
        </p:spPr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5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3317" y="147389"/>
            <a:ext cx="550683" cy="380582"/>
          </a:xfrm>
          <a:prstGeom prst="rect">
            <a:avLst/>
          </a:prstGeom>
        </p:spPr>
      </p:pic>
      <p:sp>
        <p:nvSpPr>
          <p:cNvPr id="8" name="object 2"/>
          <p:cNvSpPr/>
          <p:nvPr/>
        </p:nvSpPr>
        <p:spPr>
          <a:xfrm>
            <a:off x="853532" y="1967373"/>
            <a:ext cx="7494963" cy="1150477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marR="5080" indent="-342900">
              <a:lnSpc>
                <a:spcPct val="100499"/>
              </a:lnSpc>
              <a:spcBef>
                <a:spcPts val="8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DES,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</a:t>
            </a:r>
            <a:r>
              <a:rPr lang="en-GB" sz="24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×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56-bit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keys,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meaning 112-bit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length</a:t>
            </a:r>
          </a:p>
          <a:p>
            <a:pPr marL="354965" indent="-3429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Meet-in-the-middle attack makes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2400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easier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1" y="866702"/>
            <a:ext cx="8028362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MEET-IN-THE-MIDDLE</a:t>
            </a:r>
            <a:r>
              <a:rPr sz="4000" b="1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260154" y="1752600"/>
            <a:ext cx="8699892" cy="44958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67665" indent="-342900">
              <a:lnSpc>
                <a:spcPct val="100000"/>
              </a:lnSpc>
              <a:spcBef>
                <a:spcPts val="54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97815" algn="l"/>
                <a:tab pos="298450" algn="l"/>
              </a:tabLst>
            </a:pP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Encryption: </a:t>
            </a:r>
            <a:r>
              <a:rPr lang="en-GB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E(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E(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sz="2100" i="1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))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indent="-342900">
              <a:lnSpc>
                <a:spcPct val="100000"/>
              </a:lnSpc>
              <a:spcBef>
                <a:spcPts val="59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98450" algn="l"/>
              </a:tabLst>
            </a:pP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Say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E(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</a:t>
            </a:r>
            <a:r>
              <a:rPr lang="en-GB" sz="2100" i="1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</a:t>
            </a:r>
            <a:r>
              <a:rPr lang="en-GB" sz="21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</a:t>
            </a:r>
            <a:r>
              <a:rPr lang="en-GB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 D(</a:t>
            </a:r>
            <a:r>
              <a:rPr lang="en-GB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1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sz="2100" i="1" spc="-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2670" marR="17780" lvl="1" indent="-285750">
              <a:spcBef>
                <a:spcPts val="44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tabLst>
                <a:tab pos="940435" algn="l"/>
              </a:tabLst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Attacker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knows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two plaintext, </a:t>
            </a:r>
            <a:r>
              <a:rPr lang="en-GB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Pa;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and  (</a:t>
            </a:r>
            <a:r>
              <a:rPr lang="en-GB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all 256 values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 to get multiple  values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2670" marR="17780" lvl="1" indent="-285750">
              <a:spcBef>
                <a:spcPts val="44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tabLst>
                <a:tab pos="940435" algn="l"/>
              </a:tabLst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Store results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and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by</a:t>
            </a:r>
            <a:r>
              <a:rPr lang="en-GB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X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2670" marR="17780" lvl="1" indent="-285750">
              <a:spcBef>
                <a:spcPts val="44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tabLst>
                <a:tab pos="940435" algn="l"/>
              </a:tabLst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all 2</a:t>
            </a:r>
            <a:r>
              <a:rPr lang="en-GB" spc="-7" baseline="324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values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lang="en-GB" spc="-19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2670" marR="17780" lvl="1" indent="-285750">
              <a:spcBef>
                <a:spcPts val="44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tabLst>
                <a:tab pos="940435" algn="l"/>
              </a:tabLst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decryption result produced,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</a:t>
            </a:r>
            <a:r>
              <a:rPr lang="en-GB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042670" marR="17780" lvl="1" indent="-285750">
              <a:spcBef>
                <a:spcPts val="44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v"/>
              <a:tabLst>
                <a:tab pos="940435" algn="l"/>
              </a:tabLst>
            </a:pP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match, </a:t>
            </a: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 current 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GB" i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K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on </a:t>
            </a:r>
            <a:r>
              <a:rPr lang="en-GB" i="1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Cb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</a:t>
            </a:r>
            <a:r>
              <a:rPr lang="en-GB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Pb</a:t>
            </a:r>
            <a:r>
              <a:rPr lang="en-GB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obtained,  then accept the</a:t>
            </a:r>
            <a:r>
              <a:rPr lang="en-GB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keys</a:t>
            </a:r>
            <a:endParaRPr lang="en-GB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876300" indent="-34290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97815" algn="l"/>
                <a:tab pos="298450" algn="l"/>
              </a:tabLst>
            </a:pPr>
            <a:endParaRPr lang="en-GB" sz="21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67665" marR="876300" indent="-342900">
              <a:lnSpc>
                <a:spcPct val="100000"/>
              </a:lnSpc>
              <a:spcBef>
                <a:spcPts val="53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97815" algn="l"/>
                <a:tab pos="298450" algn="l"/>
              </a:tabLst>
            </a:pP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two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known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plaintext, </a:t>
            </a:r>
            <a:r>
              <a:rPr lang="en-GB" sz="21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ciphertext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pairs, probability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successful attack is almost</a:t>
            </a:r>
            <a:r>
              <a:rPr lang="en-GB" sz="2100" spc="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  <a:p>
            <a:pPr marL="367665" marR="69850" indent="-342900">
              <a:lnSpc>
                <a:spcPct val="100000"/>
              </a:lnSpc>
              <a:spcBef>
                <a:spcPts val="59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97815" algn="l"/>
                <a:tab pos="298450" algn="l"/>
              </a:tabLst>
            </a:pP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Encrypt/decrypt operations required: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100" baseline="32407" dirty="0">
                <a:latin typeface="Times New Roman" panose="02020603050405020304" pitchFamily="18" charset="0"/>
                <a:cs typeface="Times New Roman" panose="02020603050405020304" pitchFamily="18" charset="0"/>
              </a:rPr>
              <a:t>56 </a:t>
            </a:r>
            <a:r>
              <a:rPr lang="en-GB" sz="2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(twice </a:t>
            </a:r>
            <a:r>
              <a:rPr lang="en-GB" sz="21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many as single  DES)</a:t>
            </a:r>
            <a:endParaRPr lang="en-GB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229" y="152400"/>
            <a:ext cx="8127134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EXAMPLE: MEET-IN-THE-MIDDLE</a:t>
            </a:r>
            <a:r>
              <a:rPr sz="4000" b="1" spc="18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ATTACK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152400" y="1396330"/>
            <a:ext cx="8686800" cy="485207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7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4844" y="905728"/>
            <a:ext cx="77698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TRIPLE 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</a:t>
            </a:r>
            <a:r>
              <a:rPr sz="4000" b="1" spc="14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(3DES)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8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10" name="object 2"/>
          <p:cNvSpPr/>
          <p:nvPr/>
        </p:nvSpPr>
        <p:spPr>
          <a:xfrm>
            <a:off x="838200" y="1981200"/>
            <a:ext cx="7571163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5600" marR="5080" indent="-34290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saw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Double-DES has a key length of  112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bits,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 meet-in-the-middle attack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against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Double-DES reduces its work factor to about 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as DES.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Thus,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no more secure 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DES.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move on to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3DES.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16447" y="838200"/>
            <a:ext cx="6480231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3DES</a:t>
            </a:r>
            <a:r>
              <a:rPr sz="4000" b="1" spc="-6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9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10" name="object 2"/>
          <p:cNvSpPr/>
          <p:nvPr/>
        </p:nvSpPr>
        <p:spPr>
          <a:xfrm>
            <a:off x="816447" y="1981981"/>
            <a:ext cx="7513485" cy="39624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3DES uses 48 rounds in its computation,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 makes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highly resistant to differential  cryptanalysis. However, because of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extra  work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3DES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performs, there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heavy  performance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hit.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take up to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times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longer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 to perform encryption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 decryption.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0462"/>
            <a:ext cx="3655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3DES</a:t>
            </a:r>
            <a:r>
              <a:rPr sz="4000" b="1" spc="-7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535940" y="1905000"/>
            <a:ext cx="7873423" cy="41910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marR="1068070" indent="-342900">
              <a:lnSpc>
                <a:spcPct val="100299"/>
              </a:lnSpc>
              <a:spcBef>
                <a:spcPts val="9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DES-EEE3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three different keys for encryption, and the data are encrypted, 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encrypted,</a:t>
            </a:r>
            <a:r>
              <a:rPr lang="en-GB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</a:t>
            </a:r>
          </a:p>
          <a:p>
            <a:pPr marL="354965" marR="1046480" indent="-342900">
              <a:lnSpc>
                <a:spcPct val="100200"/>
              </a:lnSpc>
              <a:spcBef>
                <a:spcPts val="58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DES-EDE3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three different keys for encryption, and the data are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encrypted,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decrypted, and</a:t>
            </a:r>
            <a:r>
              <a:rPr lang="en-GB" sz="2400" spc="-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marR="5080" indent="-342900">
              <a:lnSpc>
                <a:spcPct val="100200"/>
              </a:lnSpc>
              <a:spcBef>
                <a:spcPts val="58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DES-EEE2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same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DES-EEE3 but uses  only two keys, and the first and third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GB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  <a:p>
            <a:pPr marL="354965" marR="5080" indent="-342900">
              <a:lnSpc>
                <a:spcPct val="100200"/>
              </a:lnSpc>
              <a:spcBef>
                <a:spcPts val="58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DES-EDE2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DES-EDE3 but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only two keys, and the first and third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encryption 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processes use 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same</a:t>
            </a:r>
            <a:r>
              <a:rPr lang="en-GB" sz="24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327526"/>
            <a:ext cx="7873423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</a:t>
            </a:r>
            <a:r>
              <a:rPr sz="4000" b="1" spc="5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(AES)</a:t>
            </a: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11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10" name="object 2"/>
          <p:cNvSpPr/>
          <p:nvPr/>
        </p:nvSpPr>
        <p:spPr>
          <a:xfrm>
            <a:off x="535940" y="1905000"/>
            <a:ext cx="7873423" cy="4030742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marR="5080" indent="-342900">
              <a:lnSpc>
                <a:spcPct val="100000"/>
              </a:lnSpc>
              <a:spcBef>
                <a:spcPts val="95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After DES was used as an encryption standard  for over 20 years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was cracked in a  relatively short time once the necessary  technology was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available,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NIST decided a new  standard, the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 (AES), needed to be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put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into</a:t>
            </a:r>
            <a:r>
              <a:rPr lang="en-GB" sz="2400" spc="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place.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063" y="1962086"/>
            <a:ext cx="7472254" cy="3925991"/>
          </a:xfrm>
          <a:prstGeom prst="rect">
            <a:avLst/>
          </a:prstGeom>
          <a:blipFill>
            <a:blip r:embed="rId3" cstate="print"/>
            <a:srcRect/>
            <a:stretch>
              <a:fillRect t="-25059"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837063" y="914400"/>
            <a:ext cx="5444633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Selection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2893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13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745274" y="1874497"/>
            <a:ext cx="7655831" cy="41593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indent="-342900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Rijndael chosen, standard called AES created in</a:t>
            </a:r>
            <a:r>
              <a:rPr lang="en-GB" sz="2400" spc="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2001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AES: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key symmetric block cipher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Block size: 128 bits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(others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possible)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2630" indent="-34290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Font typeface="Wingdings" panose="05000000000000000000" pitchFamily="2" charset="2"/>
              <a:buChar char="v"/>
              <a:tabLst>
                <a:tab pos="652780" algn="l"/>
              </a:tabLst>
            </a:pP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size: 128, 192, 256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bits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Rounds: 10, 12, 14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(depending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</a:t>
            </a:r>
            <a:r>
              <a:rPr lang="en-GB" sz="2000" spc="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key)</a:t>
            </a:r>
          </a:p>
          <a:p>
            <a:pPr marL="721995" lvl="1" indent="-34290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Operations: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with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key, substitutions using</a:t>
            </a:r>
            <a:r>
              <a:rPr lang="en-GB" sz="2000" spc="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S-Boxes, mixing using Galois Field</a:t>
            </a:r>
            <a:r>
              <a:rPr lang="en-GB" sz="2000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arithmetic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file encryption,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</a:t>
            </a:r>
            <a:r>
              <a:rPr lang="en-GB" sz="2000" spc="-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communications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21995" lvl="1" indent="-342900">
              <a:lnSpc>
                <a:spcPct val="100000"/>
              </a:lnSpc>
              <a:spcBef>
                <a:spcPts val="434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Generally considered</a:t>
            </a:r>
            <a:r>
              <a:rPr lang="en-GB" sz="2000" spc="-2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2893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14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745274" y="1874497"/>
            <a:ext cx="7655831" cy="41593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AES: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Stronger and faster than Triple-DES and six time faster.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Widely adopted symmetric encryption algorithm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based Rijndael cipher developed by two Belgian cryptographers; Vincent </a:t>
            </a:r>
            <a:r>
              <a:rPr lang="en-GB" sz="2000" spc="-5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Rijmen</a:t>
            </a: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Joan Daemen.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04497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400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Working Mechanism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15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02A00D4E-C45E-432E-8094-2544797BCF4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513" y="1884530"/>
            <a:ext cx="7943850" cy="4162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6547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79643" y="1639730"/>
            <a:ext cx="7387093" cy="4343400"/>
          </a:xfrm>
          <a:prstGeom prst="rect">
            <a:avLst/>
          </a:prstGeom>
          <a:blipFill>
            <a:blip r:embed="rId3" cstate="print"/>
            <a:srcRect/>
            <a:stretch>
              <a:fillRect t="-12223" r="1664"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879643" y="773025"/>
            <a:ext cx="6663344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Encryption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572690" y="1828800"/>
            <a:ext cx="8001000" cy="3962400"/>
          </a:xfrm>
          <a:prstGeom prst="rect">
            <a:avLst/>
          </a:prstGeom>
          <a:blipFill>
            <a:blip r:embed="rId2" cstate="print"/>
            <a:srcRect/>
            <a:stretch>
              <a:fillRect t="-32236" r="943" b="1"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17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685800" y="838200"/>
            <a:ext cx="4572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AES Cipher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11387" y="1715072"/>
            <a:ext cx="7697976" cy="4191000"/>
          </a:xfrm>
          <a:prstGeom prst="rect">
            <a:avLst/>
          </a:prstGeom>
          <a:blipFill>
            <a:blip r:embed="rId2" cstate="print"/>
            <a:srcRect/>
            <a:stretch>
              <a:fillRect t="-20166" r="-411"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18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707239" y="809838"/>
            <a:ext cx="41148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The AES Cipher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324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 In AES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745274" y="1874497"/>
            <a:ext cx="7655831" cy="41593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12065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two steps in AES: Key Generation &amp; Rounds</a:t>
            </a:r>
          </a:p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Generation: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ROT word of last Column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Byte of ROT word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XOR with RCON and First Column of key and Sub-byte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become first column of round key one</a:t>
            </a:r>
          </a:p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Round:</a:t>
            </a:r>
          </a:p>
          <a:p>
            <a:pPr marL="379095" lvl="1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tabLst>
                <a:tab pos="652780" algn="l"/>
                <a:tab pos="653415" algn="l"/>
              </a:tabLst>
            </a:pPr>
            <a:endParaRPr lang="en-GB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3" name="Table 7">
            <a:extLst>
              <a:ext uri="{FF2B5EF4-FFF2-40B4-BE49-F238E27FC236}">
                <a16:creationId xmlns:a16="http://schemas.microsoft.com/office/drawing/2014/main" id="{FFB9C30A-2DB7-466E-A5B5-EF15B610E6D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0602660"/>
              </p:ext>
            </p:extLst>
          </p:nvPr>
        </p:nvGraphicFramePr>
        <p:xfrm>
          <a:off x="1219200" y="4648200"/>
          <a:ext cx="7010400" cy="1285240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2133600">
                  <a:extLst>
                    <a:ext uri="{9D8B030D-6E8A-4147-A177-3AD203B41FA5}">
                      <a16:colId xmlns:a16="http://schemas.microsoft.com/office/drawing/2014/main" val="459125762"/>
                    </a:ext>
                  </a:extLst>
                </a:gridCol>
                <a:gridCol w="2540000">
                  <a:extLst>
                    <a:ext uri="{9D8B030D-6E8A-4147-A177-3AD203B41FA5}">
                      <a16:colId xmlns:a16="http://schemas.microsoft.com/office/drawing/2014/main" val="2568887593"/>
                    </a:ext>
                  </a:extLst>
                </a:gridCol>
                <a:gridCol w="2336800">
                  <a:extLst>
                    <a:ext uri="{9D8B030D-6E8A-4147-A177-3AD203B41FA5}">
                      <a16:colId xmlns:a16="http://schemas.microsoft.com/office/drawing/2014/main" val="138414894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Initial 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Main Round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Final Round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78687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XOR with round key 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Sub byte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Shift rows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Mix Columns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round key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Sub byte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Shift rows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dirty="0"/>
                        <a:t>Add round key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496464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05709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3D068-4355-432C-A90F-F6838262D7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128-bit Key: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TEAMSCORPIAN1234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58279B-4564-4D5A-A1CA-C38FFC8E60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85" y="2376487"/>
            <a:ext cx="83629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03939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53D068-4355-432C-A90F-F6838262D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385" y="1845734"/>
            <a:ext cx="7953375" cy="4023360"/>
          </a:xfrm>
        </p:spPr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128-bit Key: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TEAMSCORPIAN1234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single column is a byte as well: 8bits = 1 Byte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21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358279B-4564-4D5A-A1CA-C38FFC8E60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3385" y="2376487"/>
            <a:ext cx="8362950" cy="21050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35692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Generation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22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E82B3F7-C768-4F6E-8316-3D60021B96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828800"/>
            <a:ext cx="9144000" cy="41306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8612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953374" cy="108499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Sub-Key Generation from Key State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23</a:t>
            </a:fld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944B987-4D8E-49D0-BC05-15CD3565209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19"/>
          <a:stretch/>
        </p:blipFill>
        <p:spPr>
          <a:xfrm>
            <a:off x="347472" y="3733404"/>
            <a:ext cx="3143250" cy="223606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C1EBCDE-8373-4E89-B62D-F6F9251F609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288" y="1831433"/>
            <a:ext cx="1838325" cy="173852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719DB4D5-5137-45F6-8E8F-B5CD12945B8F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l="6767"/>
          <a:stretch/>
        </p:blipFill>
        <p:spPr>
          <a:xfrm>
            <a:off x="3886200" y="1752600"/>
            <a:ext cx="5239512" cy="2181225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02CAA21D-C29D-48A9-9380-A6ED005AA1E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200" y="3897562"/>
            <a:ext cx="51911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6931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953374" cy="108499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Sub-Key Generation from Key State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AF660A3-B6C7-463C-94FF-CF037600EE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76400"/>
            <a:ext cx="9144000" cy="35829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68FC0D3E-9A4F-4F42-8D4C-2070AABFB0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05400" y="4495800"/>
            <a:ext cx="1781175" cy="1724025"/>
          </a:xfrm>
          <a:prstGeom prst="rect">
            <a:avLst/>
          </a:prstGeom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F39C0C8E-F750-4F89-9F60-11F97EBE02CB}"/>
              </a:ext>
            </a:extLst>
          </p:cNvPr>
          <p:cNvCxnSpPr>
            <a:endCxn id="12" idx="1"/>
          </p:cNvCxnSpPr>
          <p:nvPr/>
        </p:nvCxnSpPr>
        <p:spPr>
          <a:xfrm>
            <a:off x="3733800" y="4419600"/>
            <a:ext cx="1371600" cy="938213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5275784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2297-5CEF-40A1-915C-EBDC5027A9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5"/>
            <a:ext cx="7953374" cy="1084996"/>
          </a:xfrm>
        </p:spPr>
        <p:txBody>
          <a:bodyPr>
            <a:normAutofit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Sub-Keys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CAC968A-DCB0-4CD5-A2FE-AE05766D9C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F71F81-32EE-4CA6-8BE6-B8D2DC02C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25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6DACB1E-94B8-42EF-8251-0EA489F037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143499"/>
            <a:ext cx="9144000" cy="35443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33828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324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26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745274" y="1874497"/>
            <a:ext cx="7655831" cy="415935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4965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69444"/>
              <a:buFont typeface="Wingdings" panose="05000000000000000000" pitchFamily="2" charset="2"/>
              <a:buChar char="Ø"/>
              <a:tabLst>
                <a:tab pos="285115" algn="l"/>
                <a:tab pos="285750" algn="l"/>
              </a:tabLst>
            </a:pPr>
            <a:r>
              <a:rPr lang="en-GB" sz="2400" spc="-1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Three types of rounds: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 Round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Round</a:t>
            </a:r>
          </a:p>
          <a:p>
            <a:pPr marL="721995" lvl="1" indent="-342900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Final Round</a:t>
            </a:r>
          </a:p>
          <a:p>
            <a:pPr marL="379095" lvl="1">
              <a:lnSpc>
                <a:spcPct val="100000"/>
              </a:lnSpc>
              <a:spcBef>
                <a:spcPts val="430"/>
              </a:spcBef>
              <a:buClr>
                <a:srgbClr val="C00000"/>
              </a:buClr>
              <a:buSzPct val="80555"/>
              <a:tabLst>
                <a:tab pos="652780" algn="l"/>
                <a:tab pos="653415" algn="l"/>
              </a:tabLst>
            </a:pPr>
            <a:endParaRPr lang="en-GB" sz="2000" spc="-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585337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324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27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CC56DB5-DE05-4F52-B326-DB8C3BE7E99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734302"/>
            <a:ext cx="9144000" cy="45677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488831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324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28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2D25380-55CB-4EBA-AD27-F488F97A2A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3048" y="1685586"/>
            <a:ext cx="9144000" cy="4494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75790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820189"/>
            <a:ext cx="63246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Process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29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B1061746-90D2-43BB-BD10-EA1A42857C8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28800"/>
            <a:ext cx="9144000" cy="4491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37033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 Conversion into State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38D6-08FA-4CF5-8D00-2138AF823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128-bit (16 Byte) Message :-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MESSAGEENCRPTION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30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3BBA515-7DB7-4E51-A13F-CDE7049E73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725" y="2223101"/>
            <a:ext cx="6686550" cy="40233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842362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AF38D6-08FA-4CF5-8D00-2138AF8237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four steps in each round-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Add round key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 Bytes</a:t>
            </a:r>
          </a:p>
          <a:p>
            <a:pPr lvl="1"/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Shift Rows</a:t>
            </a:r>
          </a:p>
          <a:p>
            <a:pPr marL="150876" lvl="1" indent="0">
              <a:buClrTx/>
              <a:buNone/>
            </a:pPr>
            <a:r>
              <a:rPr lang="en-US" sz="1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Mix Columns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629331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3666C1E4-EC7B-4026-9605-29E71C28F3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6488" y="2057400"/>
            <a:ext cx="6781800" cy="3752850"/>
          </a:xfrm>
        </p:spPr>
      </p:pic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77731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Add round key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33</a:t>
            </a:fld>
            <a:endParaRPr lang="en-GB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4FFC9B9-A66D-4297-B302-AFE9B92968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412" y="2343150"/>
            <a:ext cx="7877175" cy="2171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652603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 Byte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34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0012626-3E8C-4141-B430-17C2F2A3232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063"/>
          <a:stretch/>
        </p:blipFill>
        <p:spPr>
          <a:xfrm>
            <a:off x="76200" y="2303144"/>
            <a:ext cx="3617103" cy="329184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178BBB9-FED9-4954-85A5-0C9D9BCF48A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6767"/>
          <a:stretch/>
        </p:blipFill>
        <p:spPr>
          <a:xfrm>
            <a:off x="3886200" y="1752600"/>
            <a:ext cx="5239512" cy="218122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73859F1-178E-4513-903D-FBC6DD996CE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3897562"/>
            <a:ext cx="5191125" cy="2362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480190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Shift Rows 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35</a:t>
            </a:fld>
            <a:endParaRPr lang="en-GB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2307B1-9B5E-4DE3-AD98-DE91E94AE1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" y="2433088"/>
            <a:ext cx="9144000" cy="32943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088119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</a:t>
            </a: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Mix Column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36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BEBFAC-3BCF-4D1F-B858-C3CF4F95C4E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" y="1880209"/>
            <a:ext cx="9144000" cy="4461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3563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Mix Column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37</a:t>
            </a:fld>
            <a:endParaRPr lang="en-GB"/>
          </a:p>
        </p:txBody>
      </p:sp>
      <p:sp>
        <p:nvSpPr>
          <p:cNvPr id="7" name="object 2">
            <a:extLst>
              <a:ext uri="{FF2B5EF4-FFF2-40B4-BE49-F238E27FC236}">
                <a16:creationId xmlns:a16="http://schemas.microsoft.com/office/drawing/2014/main" id="{3456113B-52DB-4FB9-B0EC-480EA3CC1961}"/>
              </a:ext>
            </a:extLst>
          </p:cNvPr>
          <p:cNvSpPr/>
          <p:nvPr/>
        </p:nvSpPr>
        <p:spPr>
          <a:xfrm>
            <a:off x="535940" y="1981200"/>
            <a:ext cx="7873423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355600" marR="5080" indent="-342900">
              <a:lnSpc>
                <a:spcPct val="100000"/>
              </a:lnSpc>
              <a:spcBef>
                <a:spcPts val="124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general, dot product (instead of multiplying) of vectors of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Galoi’s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fields. This means multiplying corresponding </a:t>
            </a:r>
            <a:r>
              <a:rPr lang="en-GB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Galoi’s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field from the vectors and summing these products. </a:t>
            </a:r>
          </a:p>
          <a:p>
            <a:pPr marL="355600" marR="5080" indent="-342900">
              <a:lnSpc>
                <a:spcPct val="100000"/>
              </a:lnSpc>
              <a:spcBef>
                <a:spcPts val="124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If product is bigger than a byte than we have to reduce with reduce polynomial.</a:t>
            </a:r>
          </a:p>
        </p:txBody>
      </p:sp>
    </p:spTree>
    <p:extLst>
      <p:ext uri="{BB962C8B-B14F-4D97-AF65-F5344CB8AC3E}">
        <p14:creationId xmlns:p14="http://schemas.microsoft.com/office/powerpoint/2010/main" val="299742540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168640" cy="145075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Mix Column (Reducing Polynomial)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38</a:t>
            </a:fld>
            <a:endParaRPr lang="en-GB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53C297B-0CB2-4748-9842-3F7556CBA8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" y="1828800"/>
            <a:ext cx="9107424" cy="3886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13977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69EB2-F630-47CC-8282-4081E5157C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286604"/>
            <a:ext cx="8168640" cy="1450757"/>
          </a:xfrm>
        </p:spPr>
        <p:txBody>
          <a:bodyPr>
            <a:norm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Round Steps: Mix Column (Reducing Polynomial)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4290318-752D-4647-9008-9F147EE94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NATIONAL UNIVERSITY OF COMPUTER &amp; EMERGING SCIENCES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0D5670-514F-4966-94AE-9EA9F572A5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mtClean="0"/>
              <a:t>39</a:t>
            </a:fld>
            <a:endParaRPr lang="en-GB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AD0D23D-61F1-4B0F-8D37-8556F0CA68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" y="1981200"/>
            <a:ext cx="9010650" cy="3676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847771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46083" y="342691"/>
            <a:ext cx="677926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ADVANCED ENCRYPTION STANDARD</a:t>
            </a:r>
            <a:r>
              <a:rPr sz="4000" b="1" spc="49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(AES)</a:t>
            </a:r>
          </a:p>
        </p:txBody>
      </p:sp>
      <p:sp>
        <p:nvSpPr>
          <p:cNvPr id="3" name="object 3"/>
          <p:cNvSpPr/>
          <p:nvPr/>
        </p:nvSpPr>
        <p:spPr>
          <a:xfrm>
            <a:off x="1524000" y="2570879"/>
            <a:ext cx="5695942" cy="663097"/>
          </a:xfrm>
          <a:prstGeom prst="rect">
            <a:avLst/>
          </a:prstGeom>
          <a:blipFill>
            <a:blip r:embed="rId3" cstate="print"/>
            <a:stretch>
              <a:fillRect b="-49390"/>
            </a:stretch>
          </a:blipFill>
        </p:spPr>
        <p:txBody>
          <a:bodyPr wrap="square" lIns="0" tIns="0" rIns="0" bIns="0" rtlCol="0"/>
          <a:lstStyle/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  <a:hlinkClick r:id="rId4">
                <a:extLst>
                  <a:ext uri="{A12FA001-AC4F-418D-AE19-62706E023703}">
                    <ahyp:hlinkClr xmlns:ahyp="http://schemas.microsoft.com/office/drawing/2018/hyperlinkcolor" val="tx"/>
                  </a:ext>
                </a:extLst>
              </a:hlinkClick>
            </a:endParaRPr>
          </a:p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 of AES working</a:t>
            </a:r>
            <a:endParaRPr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40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09600" y="342691"/>
            <a:ext cx="6703061" cy="12439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ENCRYPTION VS.</a:t>
            </a:r>
            <a:r>
              <a:rPr sz="4000" b="1" spc="13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DECRYPTION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609600" y="1905000"/>
            <a:ext cx="7873422" cy="396239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41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09600" y="1905000"/>
            <a:ext cx="7620000" cy="3923245"/>
          </a:xfrm>
          <a:prstGeom prst="rect">
            <a:avLst/>
          </a:prstGeom>
          <a:blipFill>
            <a:blip r:embed="rId3" cstate="print"/>
            <a:srcRect/>
            <a:stretch>
              <a:fillRect t="-18566" r="1202" b="1"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42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762000" y="990600"/>
            <a:ext cx="419100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 Decryption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944165" y="1828800"/>
            <a:ext cx="7258050" cy="3886200"/>
          </a:xfrm>
          <a:prstGeom prst="rect">
            <a:avLst/>
          </a:prstGeom>
          <a:blipFill>
            <a:blip r:embed="rId2" cstate="print"/>
            <a:srcRect/>
            <a:stretch>
              <a:fillRect t="-13480" r="-1182"/>
            </a:stretch>
          </a:blipFill>
        </p:spPr>
        <p:txBody>
          <a:bodyPr wrap="square" lIns="0" tIns="0" rIns="0" bIns="0" rtlCol="0"/>
          <a:lstStyle/>
          <a:p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43</a:t>
            </a:fld>
            <a:endParaRPr lang="en-GB" sz="120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6" name="object 2"/>
          <p:cNvSpPr txBox="1">
            <a:spLocks/>
          </p:cNvSpPr>
          <p:nvPr/>
        </p:nvSpPr>
        <p:spPr>
          <a:xfrm>
            <a:off x="851709" y="856742"/>
            <a:ext cx="6573635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algn="l" defTabSz="6858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3600" kern="1200" spc="-38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Equivalent Inverse Cipher</a:t>
            </a:r>
            <a:endParaRPr lang="en-US"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0462"/>
            <a:ext cx="72364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SOME </a:t>
            </a:r>
            <a:r>
              <a:rPr sz="4000" b="1" spc="-1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</a:t>
            </a:r>
            <a:r>
              <a:rPr sz="4000" b="1" spc="30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APPLICATIONS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44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535940" y="1981200"/>
            <a:ext cx="7873423" cy="42672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69265" indent="-457200">
              <a:lnSpc>
                <a:spcPct val="100000"/>
              </a:lnSpc>
              <a:spcBef>
                <a:spcPts val="7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RAR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72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Winzip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VPNs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IEEE</a:t>
            </a:r>
            <a:r>
              <a:rPr lang="en-GB" sz="2400" b="1" spc="-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802.11e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69265" indent="-4572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285750" algn="l"/>
              </a:tabLst>
            </a:pP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Signal</a:t>
            </a:r>
            <a:r>
              <a:rPr lang="en-GB" sz="2400" b="1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</a:t>
            </a:r>
            <a:endParaRPr lang="en-GB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6295" lvl="1" indent="-457200">
              <a:lnSpc>
                <a:spcPct val="100000"/>
              </a:lnSpc>
              <a:spcBef>
                <a:spcPts val="405"/>
              </a:spcBef>
              <a:buClr>
                <a:srgbClr val="C00000"/>
              </a:buClr>
              <a:buSzPct val="7941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Facebook</a:t>
            </a:r>
            <a:r>
              <a:rPr lang="en-GB" sz="2000" b="1" spc="-4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Messenger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36295" lvl="1" indent="-457200">
              <a:lnSpc>
                <a:spcPct val="100000"/>
              </a:lnSpc>
              <a:spcBef>
                <a:spcPts val="409"/>
              </a:spcBef>
              <a:buClr>
                <a:srgbClr val="C00000"/>
              </a:buClr>
              <a:buSzPct val="79411"/>
              <a:buFont typeface="Wingdings" panose="05000000000000000000" pitchFamily="2" charset="2"/>
              <a:buChar char="v"/>
              <a:tabLst>
                <a:tab pos="652780" algn="l"/>
                <a:tab pos="653415" algn="l"/>
              </a:tabLst>
            </a:pPr>
            <a:r>
              <a:rPr lang="en-GB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WhatsApp</a:t>
            </a:r>
            <a:endParaRPr lang="en-GB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55600" marR="5080" indent="-342900">
              <a:lnSpc>
                <a:spcPct val="100000"/>
              </a:lnSpc>
              <a:spcBef>
                <a:spcPts val="1240"/>
              </a:spcBef>
              <a:buClr>
                <a:srgbClr val="C00000"/>
              </a:buClr>
              <a:buFont typeface="Wingdings" panose="05000000000000000000" pitchFamily="2" charset="2"/>
              <a:buChar char="Ø"/>
            </a:pP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Hopefully, you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now beginning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realize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just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</a:t>
            </a:r>
            <a:r>
              <a:rPr lang="en-GB" sz="24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integral 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in running </a:t>
            </a:r>
            <a:r>
              <a:rPr lang="en-GB" sz="24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entire framework of modern</a:t>
            </a:r>
            <a:r>
              <a:rPr lang="en-GB" sz="2400" spc="-18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society.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750462"/>
            <a:ext cx="5560060" cy="62837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4000" b="1" spc="-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STRENGTHS </a:t>
            </a:r>
            <a:r>
              <a:rPr sz="4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OF</a:t>
            </a:r>
            <a:r>
              <a:rPr sz="4000" b="1" spc="254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4000" b="1" spc="5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AES</a:t>
            </a:r>
            <a:endParaRPr sz="40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NATIONAL UNIVERSITY OF COMPUTER &amp; EMERGING SCIENCES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GB" sz="12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45</a:t>
            </a:fld>
            <a:endParaRPr lang="en-GB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09363" y="152400"/>
            <a:ext cx="550683" cy="380582"/>
          </a:xfrm>
          <a:prstGeom prst="rect">
            <a:avLst/>
          </a:prstGeom>
        </p:spPr>
      </p:pic>
      <p:sp>
        <p:nvSpPr>
          <p:cNvPr id="7" name="object 2"/>
          <p:cNvSpPr/>
          <p:nvPr/>
        </p:nvSpPr>
        <p:spPr>
          <a:xfrm>
            <a:off x="535940" y="1752600"/>
            <a:ext cx="8424106" cy="44196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pPr marL="431165" marR="406400" indent="-342900" algn="just">
              <a:lnSpc>
                <a:spcPct val="100000"/>
              </a:lnSpc>
              <a:spcBef>
                <a:spcPts val="10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implemented in both hardware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software,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</a:t>
            </a:r>
            <a:r>
              <a:rPr lang="en-GB" sz="2200" spc="-22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security</a:t>
            </a:r>
            <a:r>
              <a:rPr lang="en-GB" sz="2200" spc="-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31165" marR="513080" indent="-342900" algn="just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higher length key sizes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as 128, 192 and 256  bits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encryption. Hence it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AES algorithm</a:t>
            </a:r>
            <a:r>
              <a:rPr lang="en-GB" sz="2200" spc="-2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more 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robust against</a:t>
            </a:r>
            <a:r>
              <a:rPr lang="en-GB" sz="2200" spc="-6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hacking.</a:t>
            </a:r>
          </a:p>
          <a:p>
            <a:pPr marL="431165" marR="93980" indent="-342900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most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common security protocol used for wide various</a:t>
            </a:r>
            <a:r>
              <a:rPr lang="en-GB" sz="2200" spc="-27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 applications such as wireless communication, financial 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transactions, e-business,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encrypted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storage</a:t>
            </a:r>
            <a:r>
              <a:rPr lang="en-GB" sz="2200" spc="-16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etc.</a:t>
            </a:r>
          </a:p>
          <a:p>
            <a:pPr marL="431165" marR="549910" indent="-342900">
              <a:lnSpc>
                <a:spcPct val="100000"/>
              </a:lnSpc>
              <a:spcBef>
                <a:spcPts val="605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one of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most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spread commercial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open</a:t>
            </a:r>
            <a:r>
              <a:rPr lang="en-GB" sz="2200" spc="-18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source  solutions used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</a:t>
            </a:r>
            <a:r>
              <a:rPr lang="en-GB" sz="2200" spc="-135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world.</a:t>
            </a:r>
          </a:p>
          <a:p>
            <a:pPr marL="431165" marR="341630" indent="-342900" algn="just">
              <a:lnSpc>
                <a:spcPct val="100000"/>
              </a:lnSpc>
              <a:spcBef>
                <a:spcPts val="600"/>
              </a:spcBef>
              <a:buClr>
                <a:srgbClr val="C00000"/>
              </a:buClr>
              <a:buSzPct val="100000"/>
              <a:buFont typeface="Wingdings" panose="05000000000000000000" pitchFamily="2" charset="2"/>
              <a:buChar char="Ø"/>
              <a:tabLst>
                <a:tab pos="361950" algn="l"/>
              </a:tabLst>
            </a:pP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bit,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about </a:t>
            </a:r>
            <a:r>
              <a:rPr lang="en-GB" sz="2200" spc="15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GB" sz="2200" spc="22" baseline="2564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128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attempts are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needed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break. This 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makes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very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difficult to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hack it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</a:t>
            </a:r>
            <a:r>
              <a:rPr lang="en-GB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result it is very safe  </a:t>
            </a:r>
            <a:r>
              <a:rPr lang="en-GB" sz="2200" spc="-5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protocol.</a:t>
            </a:r>
            <a:endParaRPr lang="en-GB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Retrospect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243AF7DC-D15B-41C0-AE81-23980D1B9FC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Week01</Template>
  <TotalTime>1173</TotalTime>
  <Words>1725</Words>
  <Application>Microsoft Office PowerPoint</Application>
  <PresentationFormat>On-screen Show (4:3)</PresentationFormat>
  <Paragraphs>280</Paragraphs>
  <Slides>45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45</vt:i4>
      </vt:variant>
    </vt:vector>
  </HeadingPairs>
  <TitlesOfParts>
    <vt:vector size="51" baseType="lpstr">
      <vt:lpstr>Arial</vt:lpstr>
      <vt:lpstr>Calibri</vt:lpstr>
      <vt:lpstr>Calibri Light</vt:lpstr>
      <vt:lpstr>Times New Roman</vt:lpstr>
      <vt:lpstr>Wingdings</vt:lpstr>
      <vt:lpstr>Retrospect</vt:lpstr>
      <vt:lpstr>PowerPoint Presentation</vt:lpstr>
      <vt:lpstr>MOTIVATION</vt:lpstr>
      <vt:lpstr>TODAY’S LECTURE</vt:lpstr>
      <vt:lpstr>DES WEAKNESS</vt:lpstr>
      <vt:lpstr>DOUBLE DES</vt:lpstr>
      <vt:lpstr>MEET-IN-THE-MIDDLE ATTACK</vt:lpstr>
      <vt:lpstr>EXAMPLE: MEET-IN-THE-MIDDLE ATTACK</vt:lpstr>
      <vt:lpstr>TRIPLE DES (3DES)</vt:lpstr>
      <vt:lpstr>3DES PERFORMANCE</vt:lpstr>
      <vt:lpstr>3DES MODES</vt:lpstr>
      <vt:lpstr>ADVANCED ENCRYPTION STANDARD (AES)</vt:lpstr>
      <vt:lpstr>PowerPoint Presentation</vt:lpstr>
      <vt:lpstr>AES</vt:lpstr>
      <vt:lpstr>AES</vt:lpstr>
      <vt:lpstr>AES Working Mechanism</vt:lpstr>
      <vt:lpstr>PowerPoint Presentation</vt:lpstr>
      <vt:lpstr>PowerPoint Presentation</vt:lpstr>
      <vt:lpstr>PowerPoint Presentation</vt:lpstr>
      <vt:lpstr>Process In AES</vt:lpstr>
      <vt:lpstr>Key Generation</vt:lpstr>
      <vt:lpstr>Key Generation</vt:lpstr>
      <vt:lpstr>Key Generation</vt:lpstr>
      <vt:lpstr>Sub-Key Generation from Key State</vt:lpstr>
      <vt:lpstr>Sub-Key Generation from Key State</vt:lpstr>
      <vt:lpstr>Sub-Keys</vt:lpstr>
      <vt:lpstr>Encryption Process</vt:lpstr>
      <vt:lpstr>Encryption Process</vt:lpstr>
      <vt:lpstr>Encryption Process</vt:lpstr>
      <vt:lpstr>Encryption Process</vt:lpstr>
      <vt:lpstr>Message Conversion into State</vt:lpstr>
      <vt:lpstr>Round Steps</vt:lpstr>
      <vt:lpstr>Round Steps</vt:lpstr>
      <vt:lpstr>Round Steps: Add round key</vt:lpstr>
      <vt:lpstr>Round Steps: Sub Byte </vt:lpstr>
      <vt:lpstr>Round Steps: Shift Rows </vt:lpstr>
      <vt:lpstr>Round Steps: Mix Column</vt:lpstr>
      <vt:lpstr>Round Steps: Mix Column</vt:lpstr>
      <vt:lpstr>Round Steps: Mix Column (Reducing Polynomial)</vt:lpstr>
      <vt:lpstr>Round Steps: Mix Column (Reducing Polynomial)</vt:lpstr>
      <vt:lpstr>ADVANCED ENCRYPTION STANDARD (AES)</vt:lpstr>
      <vt:lpstr>AES ENCRYPTION VS. DECRYPTION</vt:lpstr>
      <vt:lpstr>PowerPoint Presentation</vt:lpstr>
      <vt:lpstr>PowerPoint Presentation</vt:lpstr>
      <vt:lpstr>SOME KEY APPLICATIONS</vt:lpstr>
      <vt:lpstr>STRENGTHS OF AES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f201018</dc:creator>
  <cp:lastModifiedBy>Dr. Umar Aftab</cp:lastModifiedBy>
  <cp:revision>84</cp:revision>
  <dcterms:created xsi:type="dcterms:W3CDTF">2021-09-09T16:37:04Z</dcterms:created>
  <dcterms:modified xsi:type="dcterms:W3CDTF">2021-12-22T05:09:21Z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2019-09-23T00:00:00Z</vt:filetime>
  </property>
  <property fmtid="{D5CDD505-2E9C-101B-9397-08002B2CF9AE}" pid="3" name="LastSaved">
    <vt:filetime>2021-09-09T00:00:00Z</vt:filetime>
  </property>
</Properties>
</file>